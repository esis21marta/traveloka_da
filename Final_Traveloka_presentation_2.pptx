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73" r:id="rId3"/>
    <p:sldMasterId id="2147483693" r:id="rId4"/>
  </p:sldMasterIdLst>
  <p:notesMasterIdLst>
    <p:notesMasterId r:id="rId42"/>
  </p:notesMasterIdLst>
  <p:sldIdLst>
    <p:sldId id="256" r:id="rId5"/>
    <p:sldId id="257" r:id="rId6"/>
    <p:sldId id="258" r:id="rId7"/>
    <p:sldId id="259" r:id="rId8"/>
    <p:sldId id="260" r:id="rId9"/>
    <p:sldId id="261" r:id="rId10"/>
    <p:sldId id="262" r:id="rId11"/>
    <p:sldId id="2146845472" r:id="rId12"/>
    <p:sldId id="264" r:id="rId13"/>
    <p:sldId id="2146845471" r:id="rId14"/>
    <p:sldId id="2146845473" r:id="rId15"/>
    <p:sldId id="266" r:id="rId16"/>
    <p:sldId id="265" r:id="rId17"/>
    <p:sldId id="267" r:id="rId18"/>
    <p:sldId id="268" r:id="rId19"/>
    <p:sldId id="269" r:id="rId20"/>
    <p:sldId id="270" r:id="rId21"/>
    <p:sldId id="2146845477" r:id="rId22"/>
    <p:sldId id="2146845480" r:id="rId23"/>
    <p:sldId id="2146845481" r:id="rId24"/>
    <p:sldId id="271" r:id="rId25"/>
    <p:sldId id="280" r:id="rId26"/>
    <p:sldId id="281" r:id="rId27"/>
    <p:sldId id="2146845483" r:id="rId28"/>
    <p:sldId id="284" r:id="rId29"/>
    <p:sldId id="285" r:id="rId30"/>
    <p:sldId id="289" r:id="rId31"/>
    <p:sldId id="2146845484" r:id="rId32"/>
    <p:sldId id="287" r:id="rId33"/>
    <p:sldId id="288" r:id="rId34"/>
    <p:sldId id="318" r:id="rId35"/>
    <p:sldId id="290" r:id="rId36"/>
    <p:sldId id="291" r:id="rId37"/>
    <p:sldId id="292" r:id="rId38"/>
    <p:sldId id="293" r:id="rId39"/>
    <p:sldId id="294" r:id="rId40"/>
    <p:sldId id="295" r:id="rId41"/>
  </p:sldIdLst>
  <p:sldSz cx="12192000" cy="6858000"/>
  <p:notesSz cx="6858000" cy="9144000"/>
  <p:embeddedFontLst>
    <p:embeddedFont>
      <p:font typeface="Calibri" panose="020F0502020204030204" pitchFamily="34" charset="0"/>
      <p:regular r:id="rId43"/>
      <p:bold r:id="rId44"/>
      <p:italic r:id="rId45"/>
      <p:boldItalic r:id="rId46"/>
    </p:embeddedFont>
    <p:embeddedFont>
      <p:font typeface="Century Gothic" panose="020B0502020202020204" pitchFamily="34" charset="0"/>
      <p:regular r:id="rId47"/>
      <p:bold r:id="rId48"/>
      <p:italic r:id="rId49"/>
      <p:boldItalic r:id="rId50"/>
    </p:embeddedFont>
    <p:embeddedFont>
      <p:font typeface="Maven Pro" panose="020B0604020202020204" charset="0"/>
      <p:regular r:id="rId51"/>
      <p:bold r:id="rId52"/>
    </p:embeddedFont>
    <p:embeddedFont>
      <p:font typeface="Montserrat Light" panose="00000400000000000000" pitchFamily="2" charset="0"/>
      <p:regular r:id="rId53"/>
      <p:bold r:id="rId54"/>
      <p:italic r:id="rId55"/>
      <p:boldItalic r:id="rId56"/>
    </p:embeddedFont>
    <p:embeddedFont>
      <p:font typeface="Quattrocento Sans" panose="020B0502050000020003" pitchFamily="34" charset="0"/>
      <p:regular r:id="rId57"/>
      <p:bold r:id="rId58"/>
      <p:italic r:id="rId59"/>
      <p:boldItalic r:id="rId60"/>
    </p:embeddedFont>
    <p:embeddedFont>
      <p:font typeface="Verdana" panose="020B0604030504040204" pitchFamily="3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gax2qW+IWBgZ1bGPWYfsImnxbmg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0" d="100"/>
          <a:sy n="60" d="100"/>
        </p:scale>
        <p:origin x="884" y="8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notesMaster" Target="notesMasters/notesMaster1.xml"/><Relationship Id="rId47" Type="http://schemas.openxmlformats.org/officeDocument/2006/relationships/font" Target="fonts/font5.fntdata"/><Relationship Id="rId63" Type="http://schemas.openxmlformats.org/officeDocument/2006/relationships/font" Target="fonts/font21.fntdata"/><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66" Type="http://customschemas.google.com/relationships/presentationmetadata" Target="metadata"/><Relationship Id="rId5" Type="http://schemas.openxmlformats.org/officeDocument/2006/relationships/slide" Target="slides/slide1.xml"/><Relationship Id="rId61" Type="http://schemas.openxmlformats.org/officeDocument/2006/relationships/font" Target="fonts/font19.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openxmlformats.org/officeDocument/2006/relationships/font" Target="fonts/font22.fntdata"/><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9.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4.fntdata"/><Relationship Id="rId59" Type="http://schemas.openxmlformats.org/officeDocument/2006/relationships/font" Target="fonts/font17.fntdata"/><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12.fntdata"/><Relationship Id="rId62" Type="http://schemas.openxmlformats.org/officeDocument/2006/relationships/font" Target="fonts/font20.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font" Target="fonts/font18.fntdata"/><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font" Target="fonts/font8.fntdata"/><Relationship Id="rId55"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3" name="Google Shape;42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24" name="Google Shape;42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9" name="Google Shape;4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dirty="0"/>
          </a:p>
        </p:txBody>
      </p:sp>
      <p:sp>
        <p:nvSpPr>
          <p:cNvPr id="440" name="Google Shape;44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3" name="Google Shape;48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484" name="Google Shape;48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8" name="Google Shape;50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7" name="Google Shape;52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528" name="Google Shape;52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6" name="Google Shape;56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7" name="Google Shape;56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5" name="Google Shape;58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r>
              <a:rPr lang="en-US" dirty="0" err="1"/>
              <a:t>Numpang</a:t>
            </a:r>
            <a:r>
              <a:rPr lang="en-US" dirty="0"/>
              <a:t> </a:t>
            </a:r>
            <a:r>
              <a:rPr lang="en-US" dirty="0" err="1"/>
              <a:t>lewat</a:t>
            </a:r>
            <a:endParaRPr dirty="0"/>
          </a:p>
        </p:txBody>
      </p:sp>
      <p:sp>
        <p:nvSpPr>
          <p:cNvPr id="586" name="Google Shape;58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37592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1" name="Google Shape;60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602" name="Google Shape;60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1" name="Google Shape;60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602" name="Google Shape;60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9473610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1" name="Google Shape;60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r>
              <a:rPr lang="en-US" dirty="0" err="1"/>
              <a:t>Numpang</a:t>
            </a:r>
            <a:r>
              <a:rPr lang="en-US" dirty="0"/>
              <a:t> </a:t>
            </a:r>
            <a:r>
              <a:rPr lang="en-US" dirty="0" err="1"/>
              <a:t>lewat</a:t>
            </a:r>
            <a:endParaRPr dirty="0"/>
          </a:p>
        </p:txBody>
      </p:sp>
      <p:sp>
        <p:nvSpPr>
          <p:cNvPr id="602" name="Google Shape;60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7831115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9" name="Google Shape;77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4" name="Google Shape;65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655" name="Google Shape;65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r>
              <a:rPr lang="en-US" dirty="0" err="1"/>
              <a:t>Numpang</a:t>
            </a:r>
            <a:r>
              <a:rPr lang="en-US" dirty="0"/>
              <a:t> </a:t>
            </a:r>
            <a:r>
              <a:rPr lang="en-US" dirty="0" err="1"/>
              <a:t>lewat</a:t>
            </a:r>
            <a:endParaRPr dirty="0"/>
          </a:p>
        </p:txBody>
      </p:sp>
      <p:sp>
        <p:nvSpPr>
          <p:cNvPr id="798" name="Google Shape;79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807" name="Google Shape;80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r>
              <a:rPr lang="en-US" dirty="0" err="1"/>
              <a:t>Numpang</a:t>
            </a:r>
            <a:r>
              <a:rPr lang="en-US" dirty="0"/>
              <a:t> </a:t>
            </a:r>
            <a:r>
              <a:rPr lang="en-US" dirty="0" err="1"/>
              <a:t>lewat</a:t>
            </a:r>
            <a:endParaRPr dirty="0"/>
          </a:p>
        </p:txBody>
      </p:sp>
      <p:sp>
        <p:nvSpPr>
          <p:cNvPr id="964" name="Google Shape;964;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995" name="Google Shape;99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6" name="Google Shape;24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err="1"/>
              <a:t>Numpang</a:t>
            </a:r>
            <a:r>
              <a:rPr lang="en-US" dirty="0"/>
              <a:t> </a:t>
            </a:r>
            <a:r>
              <a:rPr lang="en-US" dirty="0" err="1"/>
              <a:t>lewat</a:t>
            </a:r>
            <a:endParaRPr dirty="0"/>
          </a:p>
        </p:txBody>
      </p:sp>
      <p:sp>
        <p:nvSpPr>
          <p:cNvPr id="246" name="Google Shape;24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extLst>
      <p:ext uri="{BB962C8B-B14F-4D97-AF65-F5344CB8AC3E}">
        <p14:creationId xmlns:p14="http://schemas.microsoft.com/office/powerpoint/2010/main" val="32616607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err="1"/>
              <a:t>Numpang</a:t>
            </a:r>
            <a:r>
              <a:rPr lang="en-US" dirty="0"/>
              <a:t> </a:t>
            </a:r>
            <a:r>
              <a:rPr lang="en-US" dirty="0" err="1"/>
              <a:t>lewat</a:t>
            </a:r>
            <a:endParaRPr lang="en-US" dirty="0"/>
          </a:p>
        </p:txBody>
      </p:sp>
      <p:sp>
        <p:nvSpPr>
          <p:cNvPr id="246" name="Google Shape;24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extLst>
      <p:ext uri="{BB962C8B-B14F-4D97-AF65-F5344CB8AC3E}">
        <p14:creationId xmlns:p14="http://schemas.microsoft.com/office/powerpoint/2010/main" val="16387006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r>
              <a:rPr lang="en-US" dirty="0" err="1"/>
              <a:t>Numpang</a:t>
            </a:r>
            <a:r>
              <a:rPr lang="en-US" dirty="0"/>
              <a:t> </a:t>
            </a:r>
            <a:r>
              <a:rPr lang="en-US" dirty="0" err="1"/>
              <a:t>lewat</a:t>
            </a:r>
            <a:endParaRPr dirty="0"/>
          </a:p>
        </p:txBody>
      </p:sp>
      <p:sp>
        <p:nvSpPr>
          <p:cNvPr id="1080" name="Google Shape;108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p:cNvGrpSpPr/>
        <p:nvPr/>
      </p:nvGrpSpPr>
      <p:grpSpPr>
        <a:xfrm>
          <a:off x="0" y="0"/>
          <a:ext cx="0" cy="0"/>
          <a:chOff x="0" y="0"/>
          <a:chExt cx="0" cy="0"/>
        </a:xfrm>
      </p:grpSpPr>
      <p:sp>
        <p:nvSpPr>
          <p:cNvPr id="1174" name="Google Shape;117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5" name="Google Shape;1175;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1176" name="Google Shape;1176;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5" name="Google Shape;1185;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r>
              <a:rPr lang="en-US" dirty="0" err="1"/>
              <a:t>Numpang</a:t>
            </a:r>
            <a:r>
              <a:rPr lang="en-US" dirty="0"/>
              <a:t> </a:t>
            </a:r>
            <a:r>
              <a:rPr lang="en-US" dirty="0" err="1"/>
              <a:t>lewat</a:t>
            </a:r>
            <a:endParaRPr dirty="0"/>
          </a:p>
        </p:txBody>
      </p:sp>
      <p:sp>
        <p:nvSpPr>
          <p:cNvPr id="1186" name="Google Shape;1186;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5" name="Google Shape;1185;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r>
              <a:rPr lang="en-US" dirty="0" err="1"/>
              <a:t>Numpang</a:t>
            </a:r>
            <a:r>
              <a:rPr lang="en-US" dirty="0"/>
              <a:t> </a:t>
            </a:r>
            <a:r>
              <a:rPr lang="en-US" dirty="0" err="1"/>
              <a:t>lewat</a:t>
            </a:r>
            <a:endParaRPr dirty="0"/>
          </a:p>
        </p:txBody>
      </p:sp>
      <p:sp>
        <p:nvSpPr>
          <p:cNvPr id="1186" name="Google Shape;1186;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667306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p:cNvGrpSpPr/>
        <p:nvPr/>
      </p:nvGrpSpPr>
      <p:grpSpPr>
        <a:xfrm>
          <a:off x="0" y="0"/>
          <a:ext cx="0" cy="0"/>
          <a:chOff x="0" y="0"/>
          <a:chExt cx="0" cy="0"/>
        </a:xfrm>
      </p:grpSpPr>
      <p:sp>
        <p:nvSpPr>
          <p:cNvPr id="1212" name="Google Shape;12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3" name="Google Shape;1213;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4" name="Google Shape;1214;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0"/>
        <p:cNvGrpSpPr/>
        <p:nvPr/>
      </p:nvGrpSpPr>
      <p:grpSpPr>
        <a:xfrm>
          <a:off x="0" y="0"/>
          <a:ext cx="0" cy="0"/>
          <a:chOff x="0" y="0"/>
          <a:chExt cx="0" cy="0"/>
        </a:xfrm>
      </p:grpSpPr>
      <p:sp>
        <p:nvSpPr>
          <p:cNvPr id="1231" name="Google Shape;1231;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2" name="Google Shape;1232;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5"/>
        <p:cNvGrpSpPr/>
        <p:nvPr/>
      </p:nvGrpSpPr>
      <p:grpSpPr>
        <a:xfrm>
          <a:off x="0" y="0"/>
          <a:ext cx="0" cy="0"/>
          <a:chOff x="0" y="0"/>
          <a:chExt cx="0" cy="0"/>
        </a:xfrm>
      </p:grpSpPr>
      <p:sp>
        <p:nvSpPr>
          <p:cNvPr id="1316" name="Google Shape;1316;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7" name="Google Shape;131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r>
              <a:rPr lang="en-US" dirty="0" err="1"/>
              <a:t>Numpang</a:t>
            </a:r>
            <a:r>
              <a:rPr lang="en-US" dirty="0"/>
              <a:t> </a:t>
            </a:r>
            <a:r>
              <a:rPr lang="en-US" dirty="0" err="1"/>
              <a:t>lewat</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9" name="Google Shape;1299;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r>
              <a:rPr lang="en-US" dirty="0" err="1"/>
              <a:t>Numpang</a:t>
            </a:r>
            <a:r>
              <a:rPr lang="en-US" dirty="0"/>
              <a:t> </a:t>
            </a:r>
            <a:r>
              <a:rPr lang="en-US" dirty="0" err="1"/>
              <a:t>lewat</a:t>
            </a:r>
            <a:endParaRPr dirty="0"/>
          </a:p>
        </p:txBody>
      </p:sp>
    </p:spTree>
    <p:extLst>
      <p:ext uri="{BB962C8B-B14F-4D97-AF65-F5344CB8AC3E}">
        <p14:creationId xmlns:p14="http://schemas.microsoft.com/office/powerpoint/2010/main" val="14531667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9" name="Google Shape;1299;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6"/>
        <p:cNvGrpSpPr/>
        <p:nvPr/>
      </p:nvGrpSpPr>
      <p:grpSpPr>
        <a:xfrm>
          <a:off x="0" y="0"/>
          <a:ext cx="0" cy="0"/>
          <a:chOff x="0" y="0"/>
          <a:chExt cx="0" cy="0"/>
        </a:xfrm>
      </p:grpSpPr>
      <p:sp>
        <p:nvSpPr>
          <p:cNvPr id="1307" name="Google Shape;1307;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8" name="Google Shape;1308;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9" name="Google Shape;1099;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1100" name="Google Shape;1100;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953196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4"/>
        <p:cNvGrpSpPr/>
        <p:nvPr/>
      </p:nvGrpSpPr>
      <p:grpSpPr>
        <a:xfrm>
          <a:off x="0" y="0"/>
          <a:ext cx="0" cy="0"/>
          <a:chOff x="0" y="0"/>
          <a:chExt cx="0" cy="0"/>
        </a:xfrm>
      </p:grpSpPr>
      <p:sp>
        <p:nvSpPr>
          <p:cNvPr id="1325" name="Google Shape;132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6" name="Google Shape;1326;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7" name="Google Shape;1327;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3"/>
        <p:cNvGrpSpPr/>
        <p:nvPr/>
      </p:nvGrpSpPr>
      <p:grpSpPr>
        <a:xfrm>
          <a:off x="0" y="0"/>
          <a:ext cx="0" cy="0"/>
          <a:chOff x="0" y="0"/>
          <a:chExt cx="0" cy="0"/>
        </a:xfrm>
      </p:grpSpPr>
      <p:sp>
        <p:nvSpPr>
          <p:cNvPr id="1344" name="Google Shape;134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5" name="Google Shape;1345;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1346" name="Google Shape;1346;p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0"/>
        <p:cNvGrpSpPr/>
        <p:nvPr/>
      </p:nvGrpSpPr>
      <p:grpSpPr>
        <a:xfrm>
          <a:off x="0" y="0"/>
          <a:ext cx="0" cy="0"/>
          <a:chOff x="0" y="0"/>
          <a:chExt cx="0" cy="0"/>
        </a:xfrm>
      </p:grpSpPr>
      <p:sp>
        <p:nvSpPr>
          <p:cNvPr id="1351" name="Google Shape;135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2" name="Google Shape;1352;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endParaRPr/>
          </a:p>
        </p:txBody>
      </p:sp>
      <p:sp>
        <p:nvSpPr>
          <p:cNvPr id="1353" name="Google Shape;1353;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8"/>
        <p:cNvGrpSpPr/>
        <p:nvPr/>
      </p:nvGrpSpPr>
      <p:grpSpPr>
        <a:xfrm>
          <a:off x="0" y="0"/>
          <a:ext cx="0" cy="0"/>
          <a:chOff x="0" y="0"/>
          <a:chExt cx="0" cy="0"/>
        </a:xfrm>
      </p:grpSpPr>
      <p:sp>
        <p:nvSpPr>
          <p:cNvPr id="1359" name="Google Shape;135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0" name="Google Shape;1360;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r>
              <a:rPr lang="en-US" dirty="0" err="1"/>
              <a:t>Numpang</a:t>
            </a:r>
            <a:r>
              <a:rPr lang="en-US" dirty="0"/>
              <a:t> </a:t>
            </a:r>
            <a:r>
              <a:rPr lang="en-US" dirty="0" err="1"/>
              <a:t>lewat</a:t>
            </a:r>
            <a:endParaRPr lang="en-US" dirty="0"/>
          </a:p>
        </p:txBody>
      </p:sp>
      <p:sp>
        <p:nvSpPr>
          <p:cNvPr id="1361" name="Google Shape;1361;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1"/>
        <p:cNvGrpSpPr/>
        <p:nvPr/>
      </p:nvGrpSpPr>
      <p:grpSpPr>
        <a:xfrm>
          <a:off x="0" y="0"/>
          <a:ext cx="0" cy="0"/>
          <a:chOff x="0" y="0"/>
          <a:chExt cx="0" cy="0"/>
        </a:xfrm>
      </p:grpSpPr>
      <p:sp>
        <p:nvSpPr>
          <p:cNvPr id="1372" name="Google Shape;1372;gc9aba26680_2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3" name="Google Shape;1373;gc9aba26680_2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28600" lvl="0" indent="-152400" algn="l" rtl="0">
              <a:spcBef>
                <a:spcPts val="0"/>
              </a:spcBef>
              <a:spcAft>
                <a:spcPts val="0"/>
              </a:spcAft>
              <a:buClr>
                <a:schemeClr val="dk1"/>
              </a:buClr>
              <a:buSzPts val="1200"/>
              <a:buFont typeface="Calibri"/>
              <a:buNone/>
            </a:pPr>
            <a:r>
              <a:rPr lang="en-US" dirty="0" err="1"/>
              <a:t>Numpang</a:t>
            </a:r>
            <a:r>
              <a:rPr lang="en-US" dirty="0"/>
              <a:t> </a:t>
            </a:r>
            <a:r>
              <a:rPr lang="en-US" dirty="0" err="1"/>
              <a:t>lewat</a:t>
            </a:r>
            <a:endParaRPr dirty="0"/>
          </a:p>
        </p:txBody>
      </p:sp>
      <p:sp>
        <p:nvSpPr>
          <p:cNvPr id="1374" name="Google Shape;1374;gc9aba26680_2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0"/>
        <p:cNvGrpSpPr/>
        <p:nvPr/>
      </p:nvGrpSpPr>
      <p:grpSpPr>
        <a:xfrm>
          <a:off x="0" y="0"/>
          <a:ext cx="0" cy="0"/>
          <a:chOff x="0" y="0"/>
          <a:chExt cx="0" cy="0"/>
        </a:xfrm>
      </p:grpSpPr>
      <p:sp>
        <p:nvSpPr>
          <p:cNvPr id="1381" name="Google Shape;1381;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2" name="Google Shape;1382;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3" name="Google Shape;1383;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4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6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6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6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6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6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6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6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6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6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6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6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6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67"/>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9" name="Google Shape;69;p6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6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6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6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1"/>
        <p:cNvGrpSpPr/>
        <p:nvPr/>
      </p:nvGrpSpPr>
      <p:grpSpPr>
        <a:xfrm>
          <a:off x="0" y="0"/>
          <a:ext cx="0" cy="0"/>
          <a:chOff x="0" y="0"/>
          <a:chExt cx="0" cy="0"/>
        </a:xfrm>
      </p:grpSpPr>
      <p:sp>
        <p:nvSpPr>
          <p:cNvPr id="92" name="Google Shape;92;p4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4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4" name="Google Shape;94;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7"/>
        <p:cNvGrpSpPr/>
        <p:nvPr/>
      </p:nvGrpSpPr>
      <p:grpSpPr>
        <a:xfrm>
          <a:off x="0" y="0"/>
          <a:ext cx="0" cy="0"/>
          <a:chOff x="0" y="0"/>
          <a:chExt cx="0" cy="0"/>
        </a:xfrm>
      </p:grpSpPr>
      <p:sp>
        <p:nvSpPr>
          <p:cNvPr id="98" name="Google Shape;98;p49"/>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chemeClr val="dk1"/>
              </a:buClr>
              <a:buSzPts val="2800"/>
              <a:buFont typeface="Calibri"/>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9" name="Google Shape;99;p49"/>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gn="l">
              <a:lnSpc>
                <a:spcPct val="90000"/>
              </a:lnSpc>
              <a:spcBef>
                <a:spcPts val="0"/>
              </a:spcBef>
              <a:spcAft>
                <a:spcPts val="0"/>
              </a:spcAft>
              <a:buClr>
                <a:schemeClr val="dk1"/>
              </a:buClr>
              <a:buSzPts val="1800"/>
              <a:buChar char="●"/>
              <a:defRPr/>
            </a:lvl1pPr>
            <a:lvl2pPr marL="914400" lvl="1" indent="-317500" algn="l">
              <a:lnSpc>
                <a:spcPct val="90000"/>
              </a:lnSpc>
              <a:spcBef>
                <a:spcPts val="2133"/>
              </a:spcBef>
              <a:spcAft>
                <a:spcPts val="0"/>
              </a:spcAft>
              <a:buClr>
                <a:schemeClr val="dk1"/>
              </a:buClr>
              <a:buSzPts val="1400"/>
              <a:buChar char="○"/>
              <a:defRPr/>
            </a:lvl2pPr>
            <a:lvl3pPr marL="1371600" lvl="2" indent="-317500" algn="l">
              <a:lnSpc>
                <a:spcPct val="90000"/>
              </a:lnSpc>
              <a:spcBef>
                <a:spcPts val="2133"/>
              </a:spcBef>
              <a:spcAft>
                <a:spcPts val="0"/>
              </a:spcAft>
              <a:buClr>
                <a:schemeClr val="dk1"/>
              </a:buClr>
              <a:buSzPts val="1400"/>
              <a:buChar char="■"/>
              <a:defRPr/>
            </a:lvl3pPr>
            <a:lvl4pPr marL="1828800" lvl="3" indent="-317500" algn="l">
              <a:lnSpc>
                <a:spcPct val="90000"/>
              </a:lnSpc>
              <a:spcBef>
                <a:spcPts val="2133"/>
              </a:spcBef>
              <a:spcAft>
                <a:spcPts val="0"/>
              </a:spcAft>
              <a:buClr>
                <a:schemeClr val="dk1"/>
              </a:buClr>
              <a:buSzPts val="1400"/>
              <a:buChar char="●"/>
              <a:defRPr/>
            </a:lvl4pPr>
            <a:lvl5pPr marL="2286000" lvl="4" indent="-317500" algn="l">
              <a:lnSpc>
                <a:spcPct val="90000"/>
              </a:lnSpc>
              <a:spcBef>
                <a:spcPts val="2133"/>
              </a:spcBef>
              <a:spcAft>
                <a:spcPts val="0"/>
              </a:spcAft>
              <a:buClr>
                <a:schemeClr val="dk1"/>
              </a:buClr>
              <a:buSzPts val="1400"/>
              <a:buChar char="○"/>
              <a:defRPr/>
            </a:lvl5pPr>
            <a:lvl6pPr marL="2743200" lvl="5" indent="-317500" algn="l">
              <a:lnSpc>
                <a:spcPct val="90000"/>
              </a:lnSpc>
              <a:spcBef>
                <a:spcPts val="2133"/>
              </a:spcBef>
              <a:spcAft>
                <a:spcPts val="0"/>
              </a:spcAft>
              <a:buClr>
                <a:schemeClr val="dk1"/>
              </a:buClr>
              <a:buSzPts val="1400"/>
              <a:buChar char="■"/>
              <a:defRPr/>
            </a:lvl6pPr>
            <a:lvl7pPr marL="3200400" lvl="6" indent="-317500" algn="l">
              <a:lnSpc>
                <a:spcPct val="90000"/>
              </a:lnSpc>
              <a:spcBef>
                <a:spcPts val="2133"/>
              </a:spcBef>
              <a:spcAft>
                <a:spcPts val="0"/>
              </a:spcAft>
              <a:buClr>
                <a:schemeClr val="dk1"/>
              </a:buClr>
              <a:buSzPts val="1400"/>
              <a:buChar char="●"/>
              <a:defRPr/>
            </a:lvl7pPr>
            <a:lvl8pPr marL="3657600" lvl="7" indent="-317500" algn="l">
              <a:lnSpc>
                <a:spcPct val="90000"/>
              </a:lnSpc>
              <a:spcBef>
                <a:spcPts val="2133"/>
              </a:spcBef>
              <a:spcAft>
                <a:spcPts val="0"/>
              </a:spcAft>
              <a:buClr>
                <a:schemeClr val="dk1"/>
              </a:buClr>
              <a:buSzPts val="1400"/>
              <a:buChar char="○"/>
              <a:defRPr/>
            </a:lvl8pPr>
            <a:lvl9pPr marL="4114800" lvl="8" indent="-317500" algn="l">
              <a:lnSpc>
                <a:spcPct val="90000"/>
              </a:lnSpc>
              <a:spcBef>
                <a:spcPts val="2133"/>
              </a:spcBef>
              <a:spcAft>
                <a:spcPts val="2133"/>
              </a:spcAft>
              <a:buClr>
                <a:schemeClr val="dk1"/>
              </a:buClr>
              <a:buSzPts val="1400"/>
              <a:buChar char="■"/>
              <a:defRPr/>
            </a:lvl9pPr>
          </a:lstStyle>
          <a:p>
            <a:endParaRPr/>
          </a:p>
        </p:txBody>
      </p:sp>
      <p:sp>
        <p:nvSpPr>
          <p:cNvPr id="100" name="Google Shape;100;p4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lvl="0" indent="0" algn="r">
              <a:buClr>
                <a:srgbClr val="888888"/>
              </a:buClr>
              <a:buSzPts val="1200"/>
              <a:buFont typeface="Calibri"/>
              <a:buNone/>
              <a:defRPr sz="1200">
                <a:solidFill>
                  <a:srgbClr val="888888"/>
                </a:solidFill>
                <a:latin typeface="Calibri"/>
                <a:ea typeface="Calibri"/>
                <a:cs typeface="Calibri"/>
                <a:sym typeface="Calibri"/>
              </a:defRPr>
            </a:lvl1pPr>
            <a:lvl2pPr marL="0" lvl="1" indent="0" algn="r">
              <a:buClr>
                <a:srgbClr val="888888"/>
              </a:buClr>
              <a:buSzPts val="1200"/>
              <a:buFont typeface="Calibri"/>
              <a:buNone/>
              <a:defRPr sz="1200">
                <a:solidFill>
                  <a:srgbClr val="888888"/>
                </a:solidFill>
                <a:latin typeface="Calibri"/>
                <a:ea typeface="Calibri"/>
                <a:cs typeface="Calibri"/>
                <a:sym typeface="Calibri"/>
              </a:defRPr>
            </a:lvl2pPr>
            <a:lvl3pPr marL="0" lvl="2" indent="0" algn="r">
              <a:buClr>
                <a:srgbClr val="888888"/>
              </a:buClr>
              <a:buSzPts val="1200"/>
              <a:buFont typeface="Calibri"/>
              <a:buNone/>
              <a:defRPr sz="1200">
                <a:solidFill>
                  <a:srgbClr val="888888"/>
                </a:solidFill>
                <a:latin typeface="Calibri"/>
                <a:ea typeface="Calibri"/>
                <a:cs typeface="Calibri"/>
                <a:sym typeface="Calibri"/>
              </a:defRPr>
            </a:lvl3pPr>
            <a:lvl4pPr marL="0" lvl="3" indent="0" algn="r">
              <a:buClr>
                <a:srgbClr val="888888"/>
              </a:buClr>
              <a:buSzPts val="1200"/>
              <a:buFont typeface="Calibri"/>
              <a:buNone/>
              <a:defRPr sz="1200">
                <a:solidFill>
                  <a:srgbClr val="888888"/>
                </a:solidFill>
                <a:latin typeface="Calibri"/>
                <a:ea typeface="Calibri"/>
                <a:cs typeface="Calibri"/>
                <a:sym typeface="Calibri"/>
              </a:defRPr>
            </a:lvl4pPr>
            <a:lvl5pPr marL="0" lvl="4" indent="0" algn="r">
              <a:buClr>
                <a:srgbClr val="888888"/>
              </a:buClr>
              <a:buSzPts val="1200"/>
              <a:buFont typeface="Calibri"/>
              <a:buNone/>
              <a:defRPr sz="1200">
                <a:solidFill>
                  <a:srgbClr val="888888"/>
                </a:solidFill>
                <a:latin typeface="Calibri"/>
                <a:ea typeface="Calibri"/>
                <a:cs typeface="Calibri"/>
                <a:sym typeface="Calibri"/>
              </a:defRPr>
            </a:lvl5pPr>
            <a:lvl6pPr marL="0" lvl="5" indent="0" algn="r">
              <a:buClr>
                <a:srgbClr val="888888"/>
              </a:buClr>
              <a:buSzPts val="1200"/>
              <a:buFont typeface="Calibri"/>
              <a:buNone/>
              <a:defRPr sz="1200">
                <a:solidFill>
                  <a:srgbClr val="888888"/>
                </a:solidFill>
                <a:latin typeface="Calibri"/>
                <a:ea typeface="Calibri"/>
                <a:cs typeface="Calibri"/>
                <a:sym typeface="Calibri"/>
              </a:defRPr>
            </a:lvl6pPr>
            <a:lvl7pPr marL="0" lvl="6" indent="0" algn="r">
              <a:buClr>
                <a:srgbClr val="888888"/>
              </a:buClr>
              <a:buSzPts val="1200"/>
              <a:buFont typeface="Calibri"/>
              <a:buNone/>
              <a:defRPr sz="1200">
                <a:solidFill>
                  <a:srgbClr val="888888"/>
                </a:solidFill>
                <a:latin typeface="Calibri"/>
                <a:ea typeface="Calibri"/>
                <a:cs typeface="Calibri"/>
                <a:sym typeface="Calibri"/>
              </a:defRPr>
            </a:lvl7pPr>
            <a:lvl8pPr marL="0" lvl="7" indent="0" algn="r">
              <a:buClr>
                <a:srgbClr val="888888"/>
              </a:buClr>
              <a:buSzPts val="1200"/>
              <a:buFont typeface="Calibri"/>
              <a:buNone/>
              <a:defRPr sz="1200">
                <a:solidFill>
                  <a:srgbClr val="888888"/>
                </a:solidFill>
                <a:latin typeface="Calibri"/>
                <a:ea typeface="Calibri"/>
                <a:cs typeface="Calibri"/>
                <a:sym typeface="Calibri"/>
              </a:defRPr>
            </a:lvl8pPr>
            <a:lvl9pPr marL="0" lvl="8" indent="0" algn="r">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1"/>
        <p:cNvGrpSpPr/>
        <p:nvPr/>
      </p:nvGrpSpPr>
      <p:grpSpPr>
        <a:xfrm>
          <a:off x="0" y="0"/>
          <a:ext cx="0" cy="0"/>
          <a:chOff x="0" y="0"/>
          <a:chExt cx="0" cy="0"/>
        </a:xfrm>
      </p:grpSpPr>
      <p:sp>
        <p:nvSpPr>
          <p:cNvPr id="102" name="Google Shape;102;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5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7"/>
        <p:cNvGrpSpPr/>
        <p:nvPr/>
      </p:nvGrpSpPr>
      <p:grpSpPr>
        <a:xfrm>
          <a:off x="0" y="0"/>
          <a:ext cx="0" cy="0"/>
          <a:chOff x="0" y="0"/>
          <a:chExt cx="0" cy="0"/>
        </a:xfrm>
      </p:grpSpPr>
      <p:sp>
        <p:nvSpPr>
          <p:cNvPr id="108" name="Google Shape;108;p5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p5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10" name="Google Shape;110;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3"/>
        <p:cNvGrpSpPr/>
        <p:nvPr/>
      </p:nvGrpSpPr>
      <p:grpSpPr>
        <a:xfrm>
          <a:off x="0" y="0"/>
          <a:ext cx="0" cy="0"/>
          <a:chOff x="0" y="0"/>
          <a:chExt cx="0" cy="0"/>
        </a:xfrm>
      </p:grpSpPr>
      <p:sp>
        <p:nvSpPr>
          <p:cNvPr id="114" name="Google Shape;114;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5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5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0"/>
        <p:cNvGrpSpPr/>
        <p:nvPr/>
      </p:nvGrpSpPr>
      <p:grpSpPr>
        <a:xfrm>
          <a:off x="0" y="0"/>
          <a:ext cx="0" cy="0"/>
          <a:chOff x="0" y="0"/>
          <a:chExt cx="0" cy="0"/>
        </a:xfrm>
      </p:grpSpPr>
      <p:sp>
        <p:nvSpPr>
          <p:cNvPr id="121" name="Google Shape;121;p5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5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3" name="Google Shape;123;p5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5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5" name="Google Shape;125;p5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9"/>
        <p:cNvGrpSpPr/>
        <p:nvPr/>
      </p:nvGrpSpPr>
      <p:grpSpPr>
        <a:xfrm>
          <a:off x="0" y="0"/>
          <a:ext cx="0" cy="0"/>
          <a:chOff x="0" y="0"/>
          <a:chExt cx="0" cy="0"/>
        </a:xfrm>
      </p:grpSpPr>
      <p:sp>
        <p:nvSpPr>
          <p:cNvPr id="130" name="Google Shape;130;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4"/>
        <p:cNvGrpSpPr/>
        <p:nvPr/>
      </p:nvGrpSpPr>
      <p:grpSpPr>
        <a:xfrm>
          <a:off x="0" y="0"/>
          <a:ext cx="0" cy="0"/>
          <a:chOff x="0" y="0"/>
          <a:chExt cx="0" cy="0"/>
        </a:xfrm>
      </p:grpSpPr>
      <p:sp>
        <p:nvSpPr>
          <p:cNvPr id="135" name="Google Shape;135;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8"/>
        <p:cNvGrpSpPr/>
        <p:nvPr/>
      </p:nvGrpSpPr>
      <p:grpSpPr>
        <a:xfrm>
          <a:off x="0" y="0"/>
          <a:ext cx="0" cy="0"/>
          <a:chOff x="0" y="0"/>
          <a:chExt cx="0" cy="0"/>
        </a:xfrm>
      </p:grpSpPr>
      <p:sp>
        <p:nvSpPr>
          <p:cNvPr id="139" name="Google Shape;139;p5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0" name="Google Shape;140;p5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41" name="Google Shape;141;p5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5"/>
        <p:cNvGrpSpPr/>
        <p:nvPr/>
      </p:nvGrpSpPr>
      <p:grpSpPr>
        <a:xfrm>
          <a:off x="0" y="0"/>
          <a:ext cx="0" cy="0"/>
          <a:chOff x="0" y="0"/>
          <a:chExt cx="0" cy="0"/>
        </a:xfrm>
      </p:grpSpPr>
      <p:sp>
        <p:nvSpPr>
          <p:cNvPr id="146" name="Google Shape;146;p5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p57"/>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48" name="Google Shape;148;p5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9" name="Google Shape;149;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2"/>
        <p:cNvGrpSpPr/>
        <p:nvPr/>
      </p:nvGrpSpPr>
      <p:grpSpPr>
        <a:xfrm>
          <a:off x="0" y="0"/>
          <a:ext cx="0" cy="0"/>
          <a:chOff x="0" y="0"/>
          <a:chExt cx="0" cy="0"/>
        </a:xfrm>
      </p:grpSpPr>
      <p:sp>
        <p:nvSpPr>
          <p:cNvPr id="153" name="Google Shape;153;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4" name="Google Shape;154;p5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5" name="Google Shape;155;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8"/>
        <p:cNvGrpSpPr/>
        <p:nvPr/>
      </p:nvGrpSpPr>
      <p:grpSpPr>
        <a:xfrm>
          <a:off x="0" y="0"/>
          <a:ext cx="0" cy="0"/>
          <a:chOff x="0" y="0"/>
          <a:chExt cx="0" cy="0"/>
        </a:xfrm>
      </p:grpSpPr>
      <p:sp>
        <p:nvSpPr>
          <p:cNvPr id="159" name="Google Shape;159;p5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5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1"/>
        <p:cNvGrpSpPr/>
        <p:nvPr/>
      </p:nvGrpSpPr>
      <p:grpSpPr>
        <a:xfrm>
          <a:off x="0" y="0"/>
          <a:ext cx="0" cy="0"/>
          <a:chOff x="0" y="0"/>
          <a:chExt cx="0" cy="0"/>
        </a:xfrm>
      </p:grpSpPr>
      <p:sp>
        <p:nvSpPr>
          <p:cNvPr id="172" name="Google Shape;172;p4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4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4" name="Google Shape;174;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Full Blank">
  <p:cSld name="Full Blank">
    <p:spTree>
      <p:nvGrpSpPr>
        <p:cNvPr id="1" name="Shape 177"/>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1">
  <p:cSld name="Title 1">
    <p:spTree>
      <p:nvGrpSpPr>
        <p:cNvPr id="1" name="Shape 178"/>
        <p:cNvGrpSpPr/>
        <p:nvPr/>
      </p:nvGrpSpPr>
      <p:grpSpPr>
        <a:xfrm>
          <a:off x="0" y="0"/>
          <a:ext cx="0" cy="0"/>
          <a:chOff x="0" y="0"/>
          <a:chExt cx="0" cy="0"/>
        </a:xfrm>
      </p:grpSpPr>
      <p:sp>
        <p:nvSpPr>
          <p:cNvPr id="179" name="Google Shape;179;p71"/>
          <p:cNvSpPr>
            <a:spLocks noGrp="1"/>
          </p:cNvSpPr>
          <p:nvPr>
            <p:ph type="pic" idx="2"/>
          </p:nvPr>
        </p:nvSpPr>
        <p:spPr>
          <a:xfrm>
            <a:off x="0" y="0"/>
            <a:ext cx="6850742" cy="68580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180"/>
        <p:cNvGrpSpPr/>
        <p:nvPr/>
      </p:nvGrpSpPr>
      <p:grpSpPr>
        <a:xfrm>
          <a:off x="0" y="0"/>
          <a:ext cx="0" cy="0"/>
          <a:chOff x="0" y="0"/>
          <a:chExt cx="0" cy="0"/>
        </a:xfrm>
      </p:grpSpPr>
      <p:sp>
        <p:nvSpPr>
          <p:cNvPr id="181" name="Google Shape;181;p72"/>
          <p:cNvSpPr>
            <a:spLocks noGrp="1"/>
          </p:cNvSpPr>
          <p:nvPr>
            <p:ph type="pic" idx="2"/>
          </p:nvPr>
        </p:nvSpPr>
        <p:spPr>
          <a:xfrm>
            <a:off x="0" y="-2623"/>
            <a:ext cx="12192000" cy="686062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with Footer &amp; Header">
  <p:cSld name="Blank with Footer &amp; Header">
    <p:spTree>
      <p:nvGrpSpPr>
        <p:cNvPr id="1" name="Shape 182"/>
        <p:cNvGrpSpPr/>
        <p:nvPr/>
      </p:nvGrpSpPr>
      <p:grpSpPr>
        <a:xfrm>
          <a:off x="0" y="0"/>
          <a:ext cx="0" cy="0"/>
          <a:chOff x="0" y="0"/>
          <a:chExt cx="0" cy="0"/>
        </a:xfrm>
      </p:grpSpPr>
      <p:sp>
        <p:nvSpPr>
          <p:cNvPr id="183" name="Google Shape;183;p73"/>
          <p:cNvSpPr>
            <a:spLocks noGrp="1"/>
          </p:cNvSpPr>
          <p:nvPr>
            <p:ph type="pic" idx="2"/>
          </p:nvPr>
        </p:nvSpPr>
        <p:spPr>
          <a:xfrm>
            <a:off x="4873849" y="4668022"/>
            <a:ext cx="3613401" cy="2189978"/>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grpSp>
        <p:nvGrpSpPr>
          <p:cNvPr id="184" name="Google Shape;184;p73"/>
          <p:cNvGrpSpPr/>
          <p:nvPr/>
        </p:nvGrpSpPr>
        <p:grpSpPr>
          <a:xfrm>
            <a:off x="11808932" y="6477097"/>
            <a:ext cx="231532" cy="231532"/>
            <a:chOff x="11275488" y="5797834"/>
            <a:chExt cx="353804" cy="353804"/>
          </a:xfrm>
        </p:grpSpPr>
        <p:sp>
          <p:nvSpPr>
            <p:cNvPr id="185" name="Google Shape;185;p73">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6" name="Google Shape;186;p73">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187" name="Google Shape;187;p73"/>
          <p:cNvGrpSpPr/>
          <p:nvPr/>
        </p:nvGrpSpPr>
        <p:grpSpPr>
          <a:xfrm>
            <a:off x="11543208" y="6477097"/>
            <a:ext cx="231532" cy="231532"/>
            <a:chOff x="11275488" y="5797834"/>
            <a:chExt cx="353804" cy="353804"/>
          </a:xfrm>
        </p:grpSpPr>
        <p:sp>
          <p:nvSpPr>
            <p:cNvPr id="188" name="Google Shape;188;p73">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9" name="Google Shape;189;p73">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190" name="Google Shape;190;p73"/>
          <p:cNvSpPr txBox="1">
            <a:spLocks noGrp="1"/>
          </p:cNvSpPr>
          <p:nvPr>
            <p:ph type="title"/>
          </p:nvPr>
        </p:nvSpPr>
        <p:spPr>
          <a:xfrm>
            <a:off x="838200" y="493274"/>
            <a:ext cx="10515600" cy="49945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500"/>
              <a:buFont typeface="Century Gothic"/>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73"/>
          <p:cNvSpPr>
            <a:spLocks noGrp="1"/>
          </p:cNvSpPr>
          <p:nvPr>
            <p:ph type="pic" idx="3"/>
          </p:nvPr>
        </p:nvSpPr>
        <p:spPr>
          <a:xfrm>
            <a:off x="1" y="4668022"/>
            <a:ext cx="4782496" cy="2189978"/>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92" name="Google Shape;192;p73"/>
          <p:cNvSpPr>
            <a:spLocks noGrp="1"/>
          </p:cNvSpPr>
          <p:nvPr>
            <p:ph type="pic" idx="4"/>
          </p:nvPr>
        </p:nvSpPr>
        <p:spPr>
          <a:xfrm>
            <a:off x="8578600" y="4668022"/>
            <a:ext cx="3613401" cy="2189978"/>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193"/>
        <p:cNvGrpSpPr/>
        <p:nvPr/>
      </p:nvGrpSpPr>
      <p:grpSpPr>
        <a:xfrm>
          <a:off x="0" y="0"/>
          <a:ext cx="0" cy="0"/>
          <a:chOff x="0" y="0"/>
          <a:chExt cx="0" cy="0"/>
        </a:xfrm>
      </p:grpSpPr>
      <p:sp>
        <p:nvSpPr>
          <p:cNvPr id="194" name="Google Shape;194;p74"/>
          <p:cNvSpPr txBox="1"/>
          <p:nvPr/>
        </p:nvSpPr>
        <p:spPr>
          <a:xfrm>
            <a:off x="11631256" y="173194"/>
            <a:ext cx="431790" cy="191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0" i="0">
                <a:solidFill>
                  <a:srgbClr val="FEFEFE"/>
                </a:solidFill>
                <a:latin typeface="Arial"/>
                <a:ea typeface="Arial"/>
                <a:cs typeface="Arial"/>
                <a:sym typeface="Arial"/>
              </a:rPr>
              <a:t>‹#›</a:t>
            </a:fld>
            <a:endParaRPr sz="800" b="0" i="0">
              <a:solidFill>
                <a:srgbClr val="FEFEFE"/>
              </a:solidFill>
              <a:latin typeface="Arial"/>
              <a:ea typeface="Arial"/>
              <a:cs typeface="Arial"/>
              <a:sym typeface="Arial"/>
            </a:endParaRPr>
          </a:p>
        </p:txBody>
      </p:sp>
      <p:grpSp>
        <p:nvGrpSpPr>
          <p:cNvPr id="195" name="Google Shape;195;p74"/>
          <p:cNvGrpSpPr/>
          <p:nvPr/>
        </p:nvGrpSpPr>
        <p:grpSpPr>
          <a:xfrm>
            <a:off x="11808932" y="6477097"/>
            <a:ext cx="231532" cy="231532"/>
            <a:chOff x="11275488" y="5797834"/>
            <a:chExt cx="353804" cy="353804"/>
          </a:xfrm>
        </p:grpSpPr>
        <p:sp>
          <p:nvSpPr>
            <p:cNvPr id="196" name="Google Shape;196;p74">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7" name="Google Shape;197;p74">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198" name="Google Shape;198;p74"/>
          <p:cNvGrpSpPr/>
          <p:nvPr/>
        </p:nvGrpSpPr>
        <p:grpSpPr>
          <a:xfrm>
            <a:off x="11543208" y="6477097"/>
            <a:ext cx="231532" cy="231532"/>
            <a:chOff x="11275488" y="5797834"/>
            <a:chExt cx="353804" cy="353804"/>
          </a:xfrm>
        </p:grpSpPr>
        <p:sp>
          <p:nvSpPr>
            <p:cNvPr id="199" name="Google Shape;199;p74">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0" name="Google Shape;200;p74">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201" name="Google Shape;201;p74"/>
          <p:cNvSpPr txBox="1">
            <a:spLocks noGrp="1"/>
          </p:cNvSpPr>
          <p:nvPr>
            <p:ph type="title"/>
          </p:nvPr>
        </p:nvSpPr>
        <p:spPr>
          <a:xfrm>
            <a:off x="838200" y="493274"/>
            <a:ext cx="10515600" cy="49945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500"/>
              <a:buFont typeface="Century Gothic"/>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74"/>
          <p:cNvSpPr>
            <a:spLocks noGrp="1"/>
          </p:cNvSpPr>
          <p:nvPr>
            <p:ph type="pic" idx="2"/>
          </p:nvPr>
        </p:nvSpPr>
        <p:spPr>
          <a:xfrm>
            <a:off x="6705600" y="1756587"/>
            <a:ext cx="5486400" cy="2930738"/>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ny Profile 1">
  <p:cSld name="Company Profile 1">
    <p:spTree>
      <p:nvGrpSpPr>
        <p:cNvPr id="1" name="Shape 203"/>
        <p:cNvGrpSpPr/>
        <p:nvPr/>
      </p:nvGrpSpPr>
      <p:grpSpPr>
        <a:xfrm>
          <a:off x="0" y="0"/>
          <a:ext cx="0" cy="0"/>
          <a:chOff x="0" y="0"/>
          <a:chExt cx="0" cy="0"/>
        </a:xfrm>
      </p:grpSpPr>
      <p:sp>
        <p:nvSpPr>
          <p:cNvPr id="204" name="Google Shape;204;p75"/>
          <p:cNvSpPr txBox="1"/>
          <p:nvPr/>
        </p:nvSpPr>
        <p:spPr>
          <a:xfrm>
            <a:off x="11631256" y="173194"/>
            <a:ext cx="431790" cy="191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0" i="0">
                <a:solidFill>
                  <a:srgbClr val="FEFEFE"/>
                </a:solidFill>
                <a:latin typeface="Arial"/>
                <a:ea typeface="Arial"/>
                <a:cs typeface="Arial"/>
                <a:sym typeface="Arial"/>
              </a:rPr>
              <a:t>‹#›</a:t>
            </a:fld>
            <a:endParaRPr sz="800" b="0" i="0">
              <a:solidFill>
                <a:srgbClr val="FEFEFE"/>
              </a:solidFill>
              <a:latin typeface="Arial"/>
              <a:ea typeface="Arial"/>
              <a:cs typeface="Arial"/>
              <a:sym typeface="Arial"/>
            </a:endParaRPr>
          </a:p>
        </p:txBody>
      </p:sp>
      <p:grpSp>
        <p:nvGrpSpPr>
          <p:cNvPr id="205" name="Google Shape;205;p75"/>
          <p:cNvGrpSpPr/>
          <p:nvPr/>
        </p:nvGrpSpPr>
        <p:grpSpPr>
          <a:xfrm>
            <a:off x="11808932" y="6477097"/>
            <a:ext cx="231532" cy="231532"/>
            <a:chOff x="11275488" y="5797834"/>
            <a:chExt cx="353804" cy="353804"/>
          </a:xfrm>
        </p:grpSpPr>
        <p:sp>
          <p:nvSpPr>
            <p:cNvPr id="206" name="Google Shape;206;p75">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75">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208" name="Google Shape;208;p75"/>
          <p:cNvGrpSpPr/>
          <p:nvPr/>
        </p:nvGrpSpPr>
        <p:grpSpPr>
          <a:xfrm>
            <a:off x="11543208" y="6477097"/>
            <a:ext cx="231532" cy="231532"/>
            <a:chOff x="11275488" y="5797834"/>
            <a:chExt cx="353804" cy="353804"/>
          </a:xfrm>
        </p:grpSpPr>
        <p:sp>
          <p:nvSpPr>
            <p:cNvPr id="209" name="Google Shape;209;p75">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0" name="Google Shape;210;p75">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211" name="Google Shape;211;p75"/>
          <p:cNvSpPr txBox="1">
            <a:spLocks noGrp="1"/>
          </p:cNvSpPr>
          <p:nvPr>
            <p:ph type="title"/>
          </p:nvPr>
        </p:nvSpPr>
        <p:spPr>
          <a:xfrm>
            <a:off x="838200" y="493274"/>
            <a:ext cx="10515600" cy="49945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500"/>
              <a:buFont typeface="Century Gothic"/>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2" name="Google Shape;212;p75"/>
          <p:cNvSpPr>
            <a:spLocks noGrp="1"/>
          </p:cNvSpPr>
          <p:nvPr>
            <p:ph type="pic" idx="2"/>
          </p:nvPr>
        </p:nvSpPr>
        <p:spPr>
          <a:xfrm>
            <a:off x="1800670" y="1704856"/>
            <a:ext cx="2996406" cy="2727445"/>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13" name="Google Shape;213;p75"/>
          <p:cNvSpPr>
            <a:spLocks noGrp="1"/>
          </p:cNvSpPr>
          <p:nvPr>
            <p:ph type="pic" idx="3"/>
          </p:nvPr>
        </p:nvSpPr>
        <p:spPr>
          <a:xfrm>
            <a:off x="4835176" y="4130555"/>
            <a:ext cx="2996406" cy="2727445"/>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mpany Profile 2">
  <p:cSld name="Company Profile 2">
    <p:spTree>
      <p:nvGrpSpPr>
        <p:cNvPr id="1" name="Shape 214"/>
        <p:cNvGrpSpPr/>
        <p:nvPr/>
      </p:nvGrpSpPr>
      <p:grpSpPr>
        <a:xfrm>
          <a:off x="0" y="0"/>
          <a:ext cx="0" cy="0"/>
          <a:chOff x="0" y="0"/>
          <a:chExt cx="0" cy="0"/>
        </a:xfrm>
      </p:grpSpPr>
      <p:grpSp>
        <p:nvGrpSpPr>
          <p:cNvPr id="215" name="Google Shape;215;p76"/>
          <p:cNvGrpSpPr/>
          <p:nvPr/>
        </p:nvGrpSpPr>
        <p:grpSpPr>
          <a:xfrm>
            <a:off x="11808932" y="6477097"/>
            <a:ext cx="231532" cy="231532"/>
            <a:chOff x="11275488" y="5797834"/>
            <a:chExt cx="353804" cy="353804"/>
          </a:xfrm>
        </p:grpSpPr>
        <p:sp>
          <p:nvSpPr>
            <p:cNvPr id="216" name="Google Shape;216;p76">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7" name="Google Shape;217;p76">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218" name="Google Shape;218;p76"/>
          <p:cNvGrpSpPr/>
          <p:nvPr/>
        </p:nvGrpSpPr>
        <p:grpSpPr>
          <a:xfrm>
            <a:off x="11543208" y="6477097"/>
            <a:ext cx="231532" cy="231532"/>
            <a:chOff x="11275488" y="5797834"/>
            <a:chExt cx="353804" cy="353804"/>
          </a:xfrm>
        </p:grpSpPr>
        <p:sp>
          <p:nvSpPr>
            <p:cNvPr id="219" name="Google Shape;219;p76">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0" name="Google Shape;220;p76">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221" name="Google Shape;221;p76"/>
          <p:cNvSpPr txBox="1">
            <a:spLocks noGrp="1"/>
          </p:cNvSpPr>
          <p:nvPr>
            <p:ph type="title"/>
          </p:nvPr>
        </p:nvSpPr>
        <p:spPr>
          <a:xfrm>
            <a:off x="838200" y="493274"/>
            <a:ext cx="10515600" cy="49945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500"/>
              <a:buFont typeface="Century Gothic"/>
              <a:buNone/>
              <a:defRPr b="1">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2" name="Google Shape;222;p76"/>
          <p:cNvSpPr>
            <a:spLocks noGrp="1"/>
          </p:cNvSpPr>
          <p:nvPr>
            <p:ph type="pic" idx="2"/>
          </p:nvPr>
        </p:nvSpPr>
        <p:spPr>
          <a:xfrm>
            <a:off x="1138991" y="1908971"/>
            <a:ext cx="4697867" cy="198261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23" name="Google Shape;223;p76"/>
          <p:cNvSpPr>
            <a:spLocks noGrp="1"/>
          </p:cNvSpPr>
          <p:nvPr>
            <p:ph type="pic" idx="3"/>
          </p:nvPr>
        </p:nvSpPr>
        <p:spPr>
          <a:xfrm>
            <a:off x="6318366" y="4167964"/>
            <a:ext cx="4697867" cy="198261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mpany Profile 3">
  <p:cSld name="Company Profile 3">
    <p:spTree>
      <p:nvGrpSpPr>
        <p:cNvPr id="1" name="Shape 224"/>
        <p:cNvGrpSpPr/>
        <p:nvPr/>
      </p:nvGrpSpPr>
      <p:grpSpPr>
        <a:xfrm>
          <a:off x="0" y="0"/>
          <a:ext cx="0" cy="0"/>
          <a:chOff x="0" y="0"/>
          <a:chExt cx="0" cy="0"/>
        </a:xfrm>
      </p:grpSpPr>
      <p:sp>
        <p:nvSpPr>
          <p:cNvPr id="225" name="Google Shape;225;p77"/>
          <p:cNvSpPr txBox="1"/>
          <p:nvPr/>
        </p:nvSpPr>
        <p:spPr>
          <a:xfrm>
            <a:off x="11631256" y="173194"/>
            <a:ext cx="431790" cy="191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0" i="0">
                <a:solidFill>
                  <a:srgbClr val="FEFEFE"/>
                </a:solidFill>
                <a:latin typeface="Arial"/>
                <a:ea typeface="Arial"/>
                <a:cs typeface="Arial"/>
                <a:sym typeface="Arial"/>
              </a:rPr>
              <a:t>‹#›</a:t>
            </a:fld>
            <a:endParaRPr sz="800" b="0" i="0">
              <a:solidFill>
                <a:srgbClr val="FEFEFE"/>
              </a:solidFill>
              <a:latin typeface="Arial"/>
              <a:ea typeface="Arial"/>
              <a:cs typeface="Arial"/>
              <a:sym typeface="Arial"/>
            </a:endParaRPr>
          </a:p>
        </p:txBody>
      </p:sp>
      <p:sp>
        <p:nvSpPr>
          <p:cNvPr id="226" name="Google Shape;226;p77"/>
          <p:cNvSpPr>
            <a:spLocks noGrp="1"/>
          </p:cNvSpPr>
          <p:nvPr>
            <p:ph type="pic" idx="2"/>
          </p:nvPr>
        </p:nvSpPr>
        <p:spPr>
          <a:xfrm>
            <a:off x="3875707" y="2089977"/>
            <a:ext cx="1414172" cy="1414172"/>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grpSp>
        <p:nvGrpSpPr>
          <p:cNvPr id="227" name="Google Shape;227;p77"/>
          <p:cNvGrpSpPr/>
          <p:nvPr/>
        </p:nvGrpSpPr>
        <p:grpSpPr>
          <a:xfrm>
            <a:off x="11808932" y="6477097"/>
            <a:ext cx="231532" cy="231532"/>
            <a:chOff x="11275488" y="5797834"/>
            <a:chExt cx="353804" cy="353804"/>
          </a:xfrm>
        </p:grpSpPr>
        <p:sp>
          <p:nvSpPr>
            <p:cNvPr id="228" name="Google Shape;228;p77">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9" name="Google Shape;229;p77">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230" name="Google Shape;230;p77"/>
          <p:cNvGrpSpPr/>
          <p:nvPr/>
        </p:nvGrpSpPr>
        <p:grpSpPr>
          <a:xfrm>
            <a:off x="11543208" y="6477097"/>
            <a:ext cx="231532" cy="231532"/>
            <a:chOff x="11275488" y="5797834"/>
            <a:chExt cx="353804" cy="353804"/>
          </a:xfrm>
        </p:grpSpPr>
        <p:sp>
          <p:nvSpPr>
            <p:cNvPr id="231" name="Google Shape;231;p77">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2" name="Google Shape;232;p77">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233" name="Google Shape;233;p77"/>
          <p:cNvSpPr txBox="1">
            <a:spLocks noGrp="1"/>
          </p:cNvSpPr>
          <p:nvPr>
            <p:ph type="title"/>
          </p:nvPr>
        </p:nvSpPr>
        <p:spPr>
          <a:xfrm>
            <a:off x="838200" y="493274"/>
            <a:ext cx="10515600" cy="49945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500"/>
              <a:buFont typeface="Century Gothic"/>
              <a:buNone/>
              <a:defRPr b="1">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4" name="Google Shape;234;p77"/>
          <p:cNvSpPr>
            <a:spLocks noGrp="1"/>
          </p:cNvSpPr>
          <p:nvPr>
            <p:ph type="pic" idx="3"/>
          </p:nvPr>
        </p:nvSpPr>
        <p:spPr>
          <a:xfrm>
            <a:off x="1132116" y="2089977"/>
            <a:ext cx="1414172" cy="1414172"/>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35" name="Google Shape;235;p77"/>
          <p:cNvSpPr>
            <a:spLocks noGrp="1"/>
          </p:cNvSpPr>
          <p:nvPr>
            <p:ph type="pic" idx="4"/>
          </p:nvPr>
        </p:nvSpPr>
        <p:spPr>
          <a:xfrm>
            <a:off x="6619298" y="2089977"/>
            <a:ext cx="1414172" cy="1414172"/>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36" name="Google Shape;236;p77"/>
          <p:cNvSpPr>
            <a:spLocks noGrp="1"/>
          </p:cNvSpPr>
          <p:nvPr>
            <p:ph type="pic" idx="5"/>
          </p:nvPr>
        </p:nvSpPr>
        <p:spPr>
          <a:xfrm>
            <a:off x="9362889" y="2089977"/>
            <a:ext cx="1414172" cy="1414172"/>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meline 1">
  <p:cSld name="Timeline 1">
    <p:spTree>
      <p:nvGrpSpPr>
        <p:cNvPr id="1" name="Shape 237"/>
        <p:cNvGrpSpPr/>
        <p:nvPr/>
      </p:nvGrpSpPr>
      <p:grpSpPr>
        <a:xfrm>
          <a:off x="0" y="0"/>
          <a:ext cx="0" cy="0"/>
          <a:chOff x="0" y="0"/>
          <a:chExt cx="0" cy="0"/>
        </a:xfrm>
      </p:grpSpPr>
      <p:sp>
        <p:nvSpPr>
          <p:cNvPr id="238" name="Google Shape;238;p78"/>
          <p:cNvSpPr txBox="1"/>
          <p:nvPr/>
        </p:nvSpPr>
        <p:spPr>
          <a:xfrm>
            <a:off x="11631256" y="173194"/>
            <a:ext cx="431790" cy="191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0" i="0">
                <a:solidFill>
                  <a:srgbClr val="FEFEFE"/>
                </a:solidFill>
                <a:latin typeface="Arial"/>
                <a:ea typeface="Arial"/>
                <a:cs typeface="Arial"/>
                <a:sym typeface="Arial"/>
              </a:rPr>
              <a:t>‹#›</a:t>
            </a:fld>
            <a:endParaRPr sz="800" b="0" i="0">
              <a:solidFill>
                <a:srgbClr val="FEFEFE"/>
              </a:solidFill>
              <a:latin typeface="Arial"/>
              <a:ea typeface="Arial"/>
              <a:cs typeface="Arial"/>
              <a:sym typeface="Arial"/>
            </a:endParaRPr>
          </a:p>
        </p:txBody>
      </p:sp>
      <p:grpSp>
        <p:nvGrpSpPr>
          <p:cNvPr id="239" name="Google Shape;239;p78"/>
          <p:cNvGrpSpPr/>
          <p:nvPr/>
        </p:nvGrpSpPr>
        <p:grpSpPr>
          <a:xfrm>
            <a:off x="11808932" y="6477097"/>
            <a:ext cx="231532" cy="231532"/>
            <a:chOff x="11275488" y="5797834"/>
            <a:chExt cx="353804" cy="353804"/>
          </a:xfrm>
        </p:grpSpPr>
        <p:sp>
          <p:nvSpPr>
            <p:cNvPr id="240" name="Google Shape;240;p78">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1" name="Google Shape;241;p78">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242" name="Google Shape;242;p78"/>
          <p:cNvGrpSpPr/>
          <p:nvPr/>
        </p:nvGrpSpPr>
        <p:grpSpPr>
          <a:xfrm>
            <a:off x="11543208" y="6477097"/>
            <a:ext cx="231532" cy="231532"/>
            <a:chOff x="11275488" y="5797834"/>
            <a:chExt cx="353804" cy="353804"/>
          </a:xfrm>
        </p:grpSpPr>
        <p:sp>
          <p:nvSpPr>
            <p:cNvPr id="243" name="Google Shape;243;p78">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4" name="Google Shape;244;p78">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245" name="Google Shape;245;p78"/>
          <p:cNvSpPr txBox="1">
            <a:spLocks noGrp="1"/>
          </p:cNvSpPr>
          <p:nvPr>
            <p:ph type="title"/>
          </p:nvPr>
        </p:nvSpPr>
        <p:spPr>
          <a:xfrm>
            <a:off x="838200" y="493274"/>
            <a:ext cx="10515600" cy="49945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500"/>
              <a:buFont typeface="Century Gothic"/>
              <a:buNone/>
              <a:defRPr b="1">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6" name="Google Shape;246;p78"/>
          <p:cNvSpPr>
            <a:spLocks noGrp="1"/>
          </p:cNvSpPr>
          <p:nvPr>
            <p:ph type="pic" idx="2"/>
          </p:nvPr>
        </p:nvSpPr>
        <p:spPr>
          <a:xfrm>
            <a:off x="8125430" y="2766350"/>
            <a:ext cx="1365810" cy="1365810"/>
          </a:xfrm>
          <a:prstGeom prst="ellipse">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47" name="Google Shape;247;p78"/>
          <p:cNvSpPr>
            <a:spLocks noGrp="1"/>
          </p:cNvSpPr>
          <p:nvPr>
            <p:ph type="pic" idx="3"/>
          </p:nvPr>
        </p:nvSpPr>
        <p:spPr>
          <a:xfrm>
            <a:off x="2720053" y="3796497"/>
            <a:ext cx="1365810" cy="1365810"/>
          </a:xfrm>
          <a:prstGeom prst="ellipse">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meline 2">
  <p:cSld name="Timeline 2">
    <p:spTree>
      <p:nvGrpSpPr>
        <p:cNvPr id="1" name="Shape 248"/>
        <p:cNvGrpSpPr/>
        <p:nvPr/>
      </p:nvGrpSpPr>
      <p:grpSpPr>
        <a:xfrm>
          <a:off x="0" y="0"/>
          <a:ext cx="0" cy="0"/>
          <a:chOff x="0" y="0"/>
          <a:chExt cx="0" cy="0"/>
        </a:xfrm>
      </p:grpSpPr>
      <p:sp>
        <p:nvSpPr>
          <p:cNvPr id="249" name="Google Shape;249;p79"/>
          <p:cNvSpPr txBox="1"/>
          <p:nvPr/>
        </p:nvSpPr>
        <p:spPr>
          <a:xfrm>
            <a:off x="11631256" y="173194"/>
            <a:ext cx="431790" cy="191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0" i="0">
                <a:solidFill>
                  <a:srgbClr val="FEFEFE"/>
                </a:solidFill>
                <a:latin typeface="Arial"/>
                <a:ea typeface="Arial"/>
                <a:cs typeface="Arial"/>
                <a:sym typeface="Arial"/>
              </a:rPr>
              <a:t>‹#›</a:t>
            </a:fld>
            <a:endParaRPr sz="800" b="0" i="0">
              <a:solidFill>
                <a:srgbClr val="FEFEFE"/>
              </a:solidFill>
              <a:latin typeface="Arial"/>
              <a:ea typeface="Arial"/>
              <a:cs typeface="Arial"/>
              <a:sym typeface="Arial"/>
            </a:endParaRPr>
          </a:p>
        </p:txBody>
      </p:sp>
      <p:grpSp>
        <p:nvGrpSpPr>
          <p:cNvPr id="250" name="Google Shape;250;p79"/>
          <p:cNvGrpSpPr/>
          <p:nvPr/>
        </p:nvGrpSpPr>
        <p:grpSpPr>
          <a:xfrm>
            <a:off x="11808932" y="6477097"/>
            <a:ext cx="231532" cy="231532"/>
            <a:chOff x="11275488" y="5797834"/>
            <a:chExt cx="353804" cy="353804"/>
          </a:xfrm>
        </p:grpSpPr>
        <p:sp>
          <p:nvSpPr>
            <p:cNvPr id="251" name="Google Shape;251;p79">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52" name="Google Shape;252;p79">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253" name="Google Shape;253;p79"/>
          <p:cNvGrpSpPr/>
          <p:nvPr/>
        </p:nvGrpSpPr>
        <p:grpSpPr>
          <a:xfrm>
            <a:off x="11543208" y="6477097"/>
            <a:ext cx="231532" cy="231532"/>
            <a:chOff x="11275488" y="5797834"/>
            <a:chExt cx="353804" cy="353804"/>
          </a:xfrm>
        </p:grpSpPr>
        <p:sp>
          <p:nvSpPr>
            <p:cNvPr id="254" name="Google Shape;254;p79">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55" name="Google Shape;255;p79">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256" name="Google Shape;256;p79"/>
          <p:cNvSpPr>
            <a:spLocks noGrp="1"/>
          </p:cNvSpPr>
          <p:nvPr>
            <p:ph type="pic" idx="2"/>
          </p:nvPr>
        </p:nvSpPr>
        <p:spPr>
          <a:xfrm>
            <a:off x="7384650" y="625033"/>
            <a:ext cx="1365810" cy="1365810"/>
          </a:xfrm>
          <a:prstGeom prst="ellipse">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57" name="Google Shape;257;p79"/>
          <p:cNvSpPr>
            <a:spLocks noGrp="1"/>
          </p:cNvSpPr>
          <p:nvPr>
            <p:ph type="pic" idx="3"/>
          </p:nvPr>
        </p:nvSpPr>
        <p:spPr>
          <a:xfrm>
            <a:off x="3217765" y="3738624"/>
            <a:ext cx="1365810" cy="1365810"/>
          </a:xfrm>
          <a:prstGeom prst="ellipse">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meline 3">
  <p:cSld name="Timeline 3">
    <p:spTree>
      <p:nvGrpSpPr>
        <p:cNvPr id="1" name="Shape 258"/>
        <p:cNvGrpSpPr/>
        <p:nvPr/>
      </p:nvGrpSpPr>
      <p:grpSpPr>
        <a:xfrm>
          <a:off x="0" y="0"/>
          <a:ext cx="0" cy="0"/>
          <a:chOff x="0" y="0"/>
          <a:chExt cx="0" cy="0"/>
        </a:xfrm>
      </p:grpSpPr>
      <p:sp>
        <p:nvSpPr>
          <p:cNvPr id="259" name="Google Shape;259;p80"/>
          <p:cNvSpPr txBox="1"/>
          <p:nvPr/>
        </p:nvSpPr>
        <p:spPr>
          <a:xfrm>
            <a:off x="11631256" y="173194"/>
            <a:ext cx="431790" cy="191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0" i="0">
                <a:solidFill>
                  <a:srgbClr val="FEFEFE"/>
                </a:solidFill>
                <a:latin typeface="Arial"/>
                <a:ea typeface="Arial"/>
                <a:cs typeface="Arial"/>
                <a:sym typeface="Arial"/>
              </a:rPr>
              <a:t>‹#›</a:t>
            </a:fld>
            <a:endParaRPr sz="800" b="0" i="0">
              <a:solidFill>
                <a:srgbClr val="FEFEFE"/>
              </a:solidFill>
              <a:latin typeface="Arial"/>
              <a:ea typeface="Arial"/>
              <a:cs typeface="Arial"/>
              <a:sym typeface="Arial"/>
            </a:endParaRPr>
          </a:p>
        </p:txBody>
      </p:sp>
      <p:grpSp>
        <p:nvGrpSpPr>
          <p:cNvPr id="260" name="Google Shape;260;p80"/>
          <p:cNvGrpSpPr/>
          <p:nvPr/>
        </p:nvGrpSpPr>
        <p:grpSpPr>
          <a:xfrm>
            <a:off x="11808932" y="6477097"/>
            <a:ext cx="231532" cy="231532"/>
            <a:chOff x="11275488" y="5797834"/>
            <a:chExt cx="353804" cy="353804"/>
          </a:xfrm>
        </p:grpSpPr>
        <p:sp>
          <p:nvSpPr>
            <p:cNvPr id="261" name="Google Shape;261;p80">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2" name="Google Shape;262;p80">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263" name="Google Shape;263;p80"/>
          <p:cNvGrpSpPr/>
          <p:nvPr/>
        </p:nvGrpSpPr>
        <p:grpSpPr>
          <a:xfrm>
            <a:off x="11543208" y="6477097"/>
            <a:ext cx="231532" cy="231532"/>
            <a:chOff x="11275488" y="5797834"/>
            <a:chExt cx="353804" cy="353804"/>
          </a:xfrm>
        </p:grpSpPr>
        <p:sp>
          <p:nvSpPr>
            <p:cNvPr id="264" name="Google Shape;264;p80">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5" name="Google Shape;265;p80">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266" name="Google Shape;266;p80"/>
          <p:cNvSpPr>
            <a:spLocks noGrp="1"/>
          </p:cNvSpPr>
          <p:nvPr>
            <p:ph type="pic" idx="2"/>
          </p:nvPr>
        </p:nvSpPr>
        <p:spPr>
          <a:xfrm>
            <a:off x="7430949" y="381965"/>
            <a:ext cx="1365810" cy="1365810"/>
          </a:xfrm>
          <a:prstGeom prst="ellipse">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67" name="Google Shape;267;p80"/>
          <p:cNvSpPr>
            <a:spLocks noGrp="1"/>
          </p:cNvSpPr>
          <p:nvPr>
            <p:ph type="pic" idx="3"/>
          </p:nvPr>
        </p:nvSpPr>
        <p:spPr>
          <a:xfrm>
            <a:off x="-16354" y="4091651"/>
            <a:ext cx="12343391" cy="2239701"/>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Our Service 1">
  <p:cSld name="Our Service 1">
    <p:spTree>
      <p:nvGrpSpPr>
        <p:cNvPr id="1" name="Shape 268"/>
        <p:cNvGrpSpPr/>
        <p:nvPr/>
      </p:nvGrpSpPr>
      <p:grpSpPr>
        <a:xfrm>
          <a:off x="0" y="0"/>
          <a:ext cx="0" cy="0"/>
          <a:chOff x="0" y="0"/>
          <a:chExt cx="0" cy="0"/>
        </a:xfrm>
      </p:grpSpPr>
      <p:sp>
        <p:nvSpPr>
          <p:cNvPr id="269" name="Google Shape;269;p81"/>
          <p:cNvSpPr txBox="1"/>
          <p:nvPr/>
        </p:nvSpPr>
        <p:spPr>
          <a:xfrm>
            <a:off x="11631256" y="173194"/>
            <a:ext cx="431790" cy="191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0" i="0">
                <a:solidFill>
                  <a:srgbClr val="FEFEFE"/>
                </a:solidFill>
                <a:latin typeface="Arial"/>
                <a:ea typeface="Arial"/>
                <a:cs typeface="Arial"/>
                <a:sym typeface="Arial"/>
              </a:rPr>
              <a:t>‹#›</a:t>
            </a:fld>
            <a:endParaRPr sz="800" b="0" i="0">
              <a:solidFill>
                <a:srgbClr val="FEFEFE"/>
              </a:solidFill>
              <a:latin typeface="Arial"/>
              <a:ea typeface="Arial"/>
              <a:cs typeface="Arial"/>
              <a:sym typeface="Arial"/>
            </a:endParaRPr>
          </a:p>
        </p:txBody>
      </p:sp>
      <p:grpSp>
        <p:nvGrpSpPr>
          <p:cNvPr id="270" name="Google Shape;270;p81"/>
          <p:cNvGrpSpPr/>
          <p:nvPr/>
        </p:nvGrpSpPr>
        <p:grpSpPr>
          <a:xfrm>
            <a:off x="11808932" y="6477097"/>
            <a:ext cx="231532" cy="231532"/>
            <a:chOff x="11275488" y="5797834"/>
            <a:chExt cx="353804" cy="353804"/>
          </a:xfrm>
        </p:grpSpPr>
        <p:sp>
          <p:nvSpPr>
            <p:cNvPr id="271" name="Google Shape;271;p81">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72" name="Google Shape;272;p81">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273" name="Google Shape;273;p81"/>
          <p:cNvGrpSpPr/>
          <p:nvPr/>
        </p:nvGrpSpPr>
        <p:grpSpPr>
          <a:xfrm>
            <a:off x="11543208" y="6477097"/>
            <a:ext cx="231532" cy="231532"/>
            <a:chOff x="11275488" y="5797834"/>
            <a:chExt cx="353804" cy="353804"/>
          </a:xfrm>
        </p:grpSpPr>
        <p:sp>
          <p:nvSpPr>
            <p:cNvPr id="274" name="Google Shape;274;p81">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75" name="Google Shape;275;p81">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276" name="Google Shape;276;p81"/>
          <p:cNvSpPr>
            <a:spLocks noGrp="1"/>
          </p:cNvSpPr>
          <p:nvPr>
            <p:ph type="pic" idx="2"/>
          </p:nvPr>
        </p:nvSpPr>
        <p:spPr>
          <a:xfrm>
            <a:off x="-21705" y="-34724"/>
            <a:ext cx="7035963" cy="6892725"/>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_Title 1">
  <p:cSld name="1_Title 1">
    <p:spTree>
      <p:nvGrpSpPr>
        <p:cNvPr id="1" name="Shape 277"/>
        <p:cNvGrpSpPr/>
        <p:nvPr/>
      </p:nvGrpSpPr>
      <p:grpSpPr>
        <a:xfrm>
          <a:off x="0" y="0"/>
          <a:ext cx="0" cy="0"/>
          <a:chOff x="0" y="0"/>
          <a:chExt cx="0" cy="0"/>
        </a:xfrm>
      </p:grpSpPr>
      <p:sp>
        <p:nvSpPr>
          <p:cNvPr id="278" name="Google Shape;278;p82"/>
          <p:cNvSpPr>
            <a:spLocks noGrp="1"/>
          </p:cNvSpPr>
          <p:nvPr>
            <p:ph type="pic" idx="2"/>
          </p:nvPr>
        </p:nvSpPr>
        <p:spPr>
          <a:xfrm>
            <a:off x="0" y="1817225"/>
            <a:ext cx="12292314" cy="3663388"/>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9" name="Google Shape;279;p82"/>
          <p:cNvSpPr txBox="1">
            <a:spLocks noGrp="1"/>
          </p:cNvSpPr>
          <p:nvPr>
            <p:ph type="title"/>
          </p:nvPr>
        </p:nvSpPr>
        <p:spPr>
          <a:xfrm>
            <a:off x="838200" y="493274"/>
            <a:ext cx="10515600" cy="49945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500"/>
              <a:buFont typeface="Century Gothic"/>
              <a:buNone/>
              <a:defRPr b="1">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0" name="Google Shape;280;p82"/>
          <p:cNvSpPr txBox="1"/>
          <p:nvPr/>
        </p:nvSpPr>
        <p:spPr>
          <a:xfrm>
            <a:off x="11631256" y="173194"/>
            <a:ext cx="431790" cy="191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0" i="0">
                <a:solidFill>
                  <a:srgbClr val="FEFEFE"/>
                </a:solidFill>
                <a:latin typeface="Arial"/>
                <a:ea typeface="Arial"/>
                <a:cs typeface="Arial"/>
                <a:sym typeface="Arial"/>
              </a:rPr>
              <a:t>‹#›</a:t>
            </a:fld>
            <a:endParaRPr sz="800" b="0" i="0">
              <a:solidFill>
                <a:srgbClr val="FEFEFE"/>
              </a:solidFill>
              <a:latin typeface="Arial"/>
              <a:ea typeface="Arial"/>
              <a:cs typeface="Arial"/>
              <a:sym typeface="Arial"/>
            </a:endParaRPr>
          </a:p>
        </p:txBody>
      </p:sp>
      <p:grpSp>
        <p:nvGrpSpPr>
          <p:cNvPr id="281" name="Google Shape;281;p82"/>
          <p:cNvGrpSpPr/>
          <p:nvPr/>
        </p:nvGrpSpPr>
        <p:grpSpPr>
          <a:xfrm>
            <a:off x="11808932" y="6477097"/>
            <a:ext cx="231532" cy="231532"/>
            <a:chOff x="11275488" y="5797834"/>
            <a:chExt cx="353804" cy="353804"/>
          </a:xfrm>
        </p:grpSpPr>
        <p:sp>
          <p:nvSpPr>
            <p:cNvPr id="282" name="Google Shape;282;p82">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83" name="Google Shape;283;p82">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284" name="Google Shape;284;p82"/>
          <p:cNvGrpSpPr/>
          <p:nvPr/>
        </p:nvGrpSpPr>
        <p:grpSpPr>
          <a:xfrm>
            <a:off x="11543208" y="6477097"/>
            <a:ext cx="231532" cy="231532"/>
            <a:chOff x="11275488" y="5797834"/>
            <a:chExt cx="353804" cy="353804"/>
          </a:xfrm>
        </p:grpSpPr>
        <p:sp>
          <p:nvSpPr>
            <p:cNvPr id="285" name="Google Shape;285;p82">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86" name="Google Shape;286;p82">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Our Services">
  <p:cSld name="Our Services">
    <p:spTree>
      <p:nvGrpSpPr>
        <p:cNvPr id="1" name="Shape 287"/>
        <p:cNvGrpSpPr/>
        <p:nvPr/>
      </p:nvGrpSpPr>
      <p:grpSpPr>
        <a:xfrm>
          <a:off x="0" y="0"/>
          <a:ext cx="0" cy="0"/>
          <a:chOff x="0" y="0"/>
          <a:chExt cx="0" cy="0"/>
        </a:xfrm>
      </p:grpSpPr>
      <p:sp>
        <p:nvSpPr>
          <p:cNvPr id="288" name="Google Shape;288;p83"/>
          <p:cNvSpPr>
            <a:spLocks noGrp="1"/>
          </p:cNvSpPr>
          <p:nvPr>
            <p:ph type="pic" idx="2"/>
          </p:nvPr>
        </p:nvSpPr>
        <p:spPr>
          <a:xfrm>
            <a:off x="4123909" y="3429000"/>
            <a:ext cx="3944182" cy="34290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89" name="Google Shape;289;p83"/>
          <p:cNvSpPr>
            <a:spLocks noGrp="1"/>
          </p:cNvSpPr>
          <p:nvPr>
            <p:ph type="pic" idx="3"/>
          </p:nvPr>
        </p:nvSpPr>
        <p:spPr>
          <a:xfrm>
            <a:off x="1" y="3429000"/>
            <a:ext cx="3944182" cy="34290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90" name="Google Shape;290;p83"/>
          <p:cNvSpPr txBox="1">
            <a:spLocks noGrp="1"/>
          </p:cNvSpPr>
          <p:nvPr>
            <p:ph type="title"/>
          </p:nvPr>
        </p:nvSpPr>
        <p:spPr>
          <a:xfrm>
            <a:off x="838200" y="493274"/>
            <a:ext cx="10515600" cy="49945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500"/>
              <a:buFont typeface="Century Gothic"/>
              <a:buNone/>
              <a:defRPr b="1">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1" name="Google Shape;291;p83"/>
          <p:cNvSpPr txBox="1"/>
          <p:nvPr/>
        </p:nvSpPr>
        <p:spPr>
          <a:xfrm>
            <a:off x="11631256" y="173194"/>
            <a:ext cx="431790" cy="191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0" i="0">
                <a:solidFill>
                  <a:srgbClr val="FEFEFE"/>
                </a:solidFill>
                <a:latin typeface="Arial"/>
                <a:ea typeface="Arial"/>
                <a:cs typeface="Arial"/>
                <a:sym typeface="Arial"/>
              </a:rPr>
              <a:t>‹#›</a:t>
            </a:fld>
            <a:endParaRPr sz="800" b="0" i="0">
              <a:solidFill>
                <a:srgbClr val="FEFEFE"/>
              </a:solidFill>
              <a:latin typeface="Arial"/>
              <a:ea typeface="Arial"/>
              <a:cs typeface="Arial"/>
              <a:sym typeface="Arial"/>
            </a:endParaRPr>
          </a:p>
        </p:txBody>
      </p:sp>
      <p:sp>
        <p:nvSpPr>
          <p:cNvPr id="292" name="Google Shape;292;p83"/>
          <p:cNvSpPr txBox="1">
            <a:spLocks noGrp="1"/>
          </p:cNvSpPr>
          <p:nvPr>
            <p:ph type="body" idx="1"/>
          </p:nvPr>
        </p:nvSpPr>
        <p:spPr>
          <a:xfrm>
            <a:off x="8440087" y="6490940"/>
            <a:ext cx="2998268" cy="203846"/>
          </a:xfrm>
          <a:prstGeom prst="rect">
            <a:avLst/>
          </a:prstGeom>
          <a:noFill/>
          <a:ln>
            <a:noFill/>
          </a:ln>
        </p:spPr>
        <p:txBody>
          <a:bodyPr spcFirstLastPara="1" wrap="square" lIns="91425" tIns="45700" rIns="91425" bIns="45700" anchor="ctr" anchorCtr="0">
            <a:noAutofit/>
          </a:bodyPr>
          <a:lstStyle>
            <a:lvl1pPr marL="457200" lvl="0" indent="-228600" algn="r">
              <a:lnSpc>
                <a:spcPct val="90000"/>
              </a:lnSpc>
              <a:spcBef>
                <a:spcPts val="1000"/>
              </a:spcBef>
              <a:spcAft>
                <a:spcPts val="0"/>
              </a:spcAft>
              <a:buClr>
                <a:schemeClr val="dk2"/>
              </a:buClr>
              <a:buSzPts val="800"/>
              <a:buNone/>
              <a:defRPr sz="800" b="0" i="0">
                <a:solidFill>
                  <a:schemeClr val="dk2"/>
                </a:solidFill>
                <a:latin typeface="Arial"/>
                <a:ea typeface="Arial"/>
                <a:cs typeface="Arial"/>
                <a:sym typeface="Arial"/>
              </a:defRPr>
            </a:lvl1pPr>
            <a:lvl2pPr marL="914400" lvl="1" indent="-228600" algn="r">
              <a:lnSpc>
                <a:spcPct val="90000"/>
              </a:lnSpc>
              <a:spcBef>
                <a:spcPts val="500"/>
              </a:spcBef>
              <a:spcAft>
                <a:spcPts val="0"/>
              </a:spcAft>
              <a:buClr>
                <a:schemeClr val="lt2"/>
              </a:buClr>
              <a:buSzPts val="800"/>
              <a:buNone/>
              <a:defRPr sz="800" b="0" i="0">
                <a:solidFill>
                  <a:schemeClr val="lt2"/>
                </a:solidFill>
                <a:latin typeface="Montserrat Light"/>
                <a:ea typeface="Montserrat Light"/>
                <a:cs typeface="Montserrat Light"/>
                <a:sym typeface="Montserrat Light"/>
              </a:defRPr>
            </a:lvl2pPr>
            <a:lvl3pPr marL="1371600" lvl="2" indent="-228600" algn="r">
              <a:lnSpc>
                <a:spcPct val="90000"/>
              </a:lnSpc>
              <a:spcBef>
                <a:spcPts val="500"/>
              </a:spcBef>
              <a:spcAft>
                <a:spcPts val="0"/>
              </a:spcAft>
              <a:buClr>
                <a:schemeClr val="lt2"/>
              </a:buClr>
              <a:buSzPts val="800"/>
              <a:buNone/>
              <a:defRPr sz="800" b="0" i="0">
                <a:solidFill>
                  <a:schemeClr val="lt2"/>
                </a:solidFill>
                <a:latin typeface="Montserrat Light"/>
                <a:ea typeface="Montserrat Light"/>
                <a:cs typeface="Montserrat Light"/>
                <a:sym typeface="Montserrat Light"/>
              </a:defRPr>
            </a:lvl3pPr>
            <a:lvl4pPr marL="1828800" lvl="3" indent="-228600" algn="r">
              <a:lnSpc>
                <a:spcPct val="90000"/>
              </a:lnSpc>
              <a:spcBef>
                <a:spcPts val="500"/>
              </a:spcBef>
              <a:spcAft>
                <a:spcPts val="0"/>
              </a:spcAft>
              <a:buClr>
                <a:schemeClr val="lt2"/>
              </a:buClr>
              <a:buSzPts val="800"/>
              <a:buNone/>
              <a:defRPr sz="800" b="0" i="0">
                <a:solidFill>
                  <a:schemeClr val="lt2"/>
                </a:solidFill>
                <a:latin typeface="Montserrat Light"/>
                <a:ea typeface="Montserrat Light"/>
                <a:cs typeface="Montserrat Light"/>
                <a:sym typeface="Montserrat Light"/>
              </a:defRPr>
            </a:lvl4pPr>
            <a:lvl5pPr marL="2286000" lvl="4" indent="-228600" algn="r">
              <a:lnSpc>
                <a:spcPct val="90000"/>
              </a:lnSpc>
              <a:spcBef>
                <a:spcPts val="500"/>
              </a:spcBef>
              <a:spcAft>
                <a:spcPts val="0"/>
              </a:spcAft>
              <a:buClr>
                <a:schemeClr val="lt2"/>
              </a:buClr>
              <a:buSzPts val="800"/>
              <a:buNone/>
              <a:defRPr sz="800" b="0" i="0">
                <a:solidFill>
                  <a:schemeClr val="lt2"/>
                </a:solidFill>
                <a:latin typeface="Montserrat Light"/>
                <a:ea typeface="Montserrat Light"/>
                <a:cs typeface="Montserrat Light"/>
                <a:sym typeface="Montserrat Ligh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293" name="Google Shape;293;p83"/>
          <p:cNvGrpSpPr/>
          <p:nvPr/>
        </p:nvGrpSpPr>
        <p:grpSpPr>
          <a:xfrm>
            <a:off x="11808932" y="6477097"/>
            <a:ext cx="231532" cy="231532"/>
            <a:chOff x="11275488" y="5797834"/>
            <a:chExt cx="353804" cy="353804"/>
          </a:xfrm>
        </p:grpSpPr>
        <p:sp>
          <p:nvSpPr>
            <p:cNvPr id="294" name="Google Shape;294;p83">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5" name="Google Shape;295;p83">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296" name="Google Shape;296;p83"/>
          <p:cNvSpPr>
            <a:spLocks noGrp="1"/>
          </p:cNvSpPr>
          <p:nvPr>
            <p:ph type="pic" idx="4"/>
          </p:nvPr>
        </p:nvSpPr>
        <p:spPr>
          <a:xfrm>
            <a:off x="8247818" y="3429000"/>
            <a:ext cx="3944182" cy="34290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grpSp>
        <p:nvGrpSpPr>
          <p:cNvPr id="297" name="Google Shape;297;p83"/>
          <p:cNvGrpSpPr/>
          <p:nvPr/>
        </p:nvGrpSpPr>
        <p:grpSpPr>
          <a:xfrm>
            <a:off x="11543208" y="6477097"/>
            <a:ext cx="231532" cy="231532"/>
            <a:chOff x="11275488" y="5797834"/>
            <a:chExt cx="353804" cy="353804"/>
          </a:xfrm>
        </p:grpSpPr>
        <p:sp>
          <p:nvSpPr>
            <p:cNvPr id="298" name="Google Shape;298;p83">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9" name="Google Shape;299;p83">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_Blank with Footer &amp; Header">
  <p:cSld name="1_Blank with Footer &amp; Header">
    <p:spTree>
      <p:nvGrpSpPr>
        <p:cNvPr id="1" name="Shape 300"/>
        <p:cNvGrpSpPr/>
        <p:nvPr/>
      </p:nvGrpSpPr>
      <p:grpSpPr>
        <a:xfrm>
          <a:off x="0" y="0"/>
          <a:ext cx="0" cy="0"/>
          <a:chOff x="0" y="0"/>
          <a:chExt cx="0" cy="0"/>
        </a:xfrm>
      </p:grpSpPr>
      <p:sp>
        <p:nvSpPr>
          <p:cNvPr id="301" name="Google Shape;301;p84"/>
          <p:cNvSpPr txBox="1">
            <a:spLocks noGrp="1"/>
          </p:cNvSpPr>
          <p:nvPr>
            <p:ph type="title"/>
          </p:nvPr>
        </p:nvSpPr>
        <p:spPr>
          <a:xfrm>
            <a:off x="838200" y="493274"/>
            <a:ext cx="10515600" cy="49945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500"/>
              <a:buFont typeface="Century Gothic"/>
              <a:buNone/>
              <a:defRPr b="1">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2" name="Google Shape;302;p84"/>
          <p:cNvSpPr txBox="1"/>
          <p:nvPr/>
        </p:nvSpPr>
        <p:spPr>
          <a:xfrm>
            <a:off x="11631256" y="173194"/>
            <a:ext cx="431790" cy="191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0" i="0">
                <a:solidFill>
                  <a:srgbClr val="FEFEFE"/>
                </a:solidFill>
                <a:latin typeface="Arial"/>
                <a:ea typeface="Arial"/>
                <a:cs typeface="Arial"/>
                <a:sym typeface="Arial"/>
              </a:rPr>
              <a:t>‹#›</a:t>
            </a:fld>
            <a:endParaRPr sz="800" b="0" i="0">
              <a:solidFill>
                <a:srgbClr val="FEFEFE"/>
              </a:solidFill>
              <a:latin typeface="Arial"/>
              <a:ea typeface="Arial"/>
              <a:cs typeface="Arial"/>
              <a:sym typeface="Arial"/>
            </a:endParaRPr>
          </a:p>
        </p:txBody>
      </p:sp>
      <p:grpSp>
        <p:nvGrpSpPr>
          <p:cNvPr id="303" name="Google Shape;303;p84"/>
          <p:cNvGrpSpPr/>
          <p:nvPr/>
        </p:nvGrpSpPr>
        <p:grpSpPr>
          <a:xfrm>
            <a:off x="11808932" y="6477097"/>
            <a:ext cx="231532" cy="231532"/>
            <a:chOff x="11275488" y="5797834"/>
            <a:chExt cx="353804" cy="353804"/>
          </a:xfrm>
        </p:grpSpPr>
        <p:sp>
          <p:nvSpPr>
            <p:cNvPr id="304" name="Google Shape;304;p84">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5" name="Google Shape;305;p84">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306" name="Google Shape;306;p84"/>
          <p:cNvGrpSpPr/>
          <p:nvPr/>
        </p:nvGrpSpPr>
        <p:grpSpPr>
          <a:xfrm>
            <a:off x="11543208" y="6477097"/>
            <a:ext cx="231532" cy="231532"/>
            <a:chOff x="11275488" y="5797834"/>
            <a:chExt cx="353804" cy="353804"/>
          </a:xfrm>
        </p:grpSpPr>
        <p:sp>
          <p:nvSpPr>
            <p:cNvPr id="307" name="Google Shape;307;p84">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8" name="Google Shape;308;p84">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309" name="Google Shape;309;p84"/>
          <p:cNvSpPr txBox="1">
            <a:spLocks noGrp="1"/>
          </p:cNvSpPr>
          <p:nvPr>
            <p:ph type="body" idx="1"/>
          </p:nvPr>
        </p:nvSpPr>
        <p:spPr>
          <a:xfrm>
            <a:off x="8586463" y="6504783"/>
            <a:ext cx="2998268" cy="203846"/>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eam 5">
  <p:cSld name="Team 5">
    <p:spTree>
      <p:nvGrpSpPr>
        <p:cNvPr id="1" name="Shape 310"/>
        <p:cNvGrpSpPr/>
        <p:nvPr/>
      </p:nvGrpSpPr>
      <p:grpSpPr>
        <a:xfrm>
          <a:off x="0" y="0"/>
          <a:ext cx="0" cy="0"/>
          <a:chOff x="0" y="0"/>
          <a:chExt cx="0" cy="0"/>
        </a:xfrm>
      </p:grpSpPr>
      <p:sp>
        <p:nvSpPr>
          <p:cNvPr id="311" name="Google Shape;311;p85"/>
          <p:cNvSpPr>
            <a:spLocks noGrp="1"/>
          </p:cNvSpPr>
          <p:nvPr>
            <p:ph type="pic" idx="2"/>
          </p:nvPr>
        </p:nvSpPr>
        <p:spPr>
          <a:xfrm>
            <a:off x="1386889" y="2412627"/>
            <a:ext cx="1813806" cy="181380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12" name="Google Shape;312;p85"/>
          <p:cNvSpPr>
            <a:spLocks noGrp="1"/>
          </p:cNvSpPr>
          <p:nvPr>
            <p:ph type="pic" idx="3"/>
          </p:nvPr>
        </p:nvSpPr>
        <p:spPr>
          <a:xfrm>
            <a:off x="3993391" y="2412627"/>
            <a:ext cx="1813806" cy="181380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13" name="Google Shape;313;p85"/>
          <p:cNvSpPr>
            <a:spLocks noGrp="1"/>
          </p:cNvSpPr>
          <p:nvPr>
            <p:ph type="pic" idx="4"/>
          </p:nvPr>
        </p:nvSpPr>
        <p:spPr>
          <a:xfrm>
            <a:off x="6555294" y="2412627"/>
            <a:ext cx="1813806" cy="181380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14" name="Google Shape;314;p85"/>
          <p:cNvSpPr>
            <a:spLocks noGrp="1"/>
          </p:cNvSpPr>
          <p:nvPr>
            <p:ph type="pic" idx="5"/>
          </p:nvPr>
        </p:nvSpPr>
        <p:spPr>
          <a:xfrm>
            <a:off x="9054011" y="2412627"/>
            <a:ext cx="1813806" cy="181380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15" name="Google Shape;315;p85"/>
          <p:cNvSpPr txBox="1">
            <a:spLocks noGrp="1"/>
          </p:cNvSpPr>
          <p:nvPr>
            <p:ph type="title"/>
          </p:nvPr>
        </p:nvSpPr>
        <p:spPr>
          <a:xfrm>
            <a:off x="838200" y="493274"/>
            <a:ext cx="10515600" cy="49945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500"/>
              <a:buFont typeface="Century Gothic"/>
              <a:buNone/>
              <a:defRPr b="1">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6" name="Google Shape;316;p85"/>
          <p:cNvSpPr txBox="1"/>
          <p:nvPr/>
        </p:nvSpPr>
        <p:spPr>
          <a:xfrm>
            <a:off x="11631256" y="173194"/>
            <a:ext cx="431790" cy="191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0" i="0">
                <a:solidFill>
                  <a:srgbClr val="FEFEFE"/>
                </a:solidFill>
                <a:latin typeface="Arial"/>
                <a:ea typeface="Arial"/>
                <a:cs typeface="Arial"/>
                <a:sym typeface="Arial"/>
              </a:rPr>
              <a:t>‹#›</a:t>
            </a:fld>
            <a:endParaRPr sz="800" b="0" i="0">
              <a:solidFill>
                <a:srgbClr val="FEFEFE"/>
              </a:solidFill>
              <a:latin typeface="Arial"/>
              <a:ea typeface="Arial"/>
              <a:cs typeface="Arial"/>
              <a:sym typeface="Arial"/>
            </a:endParaRPr>
          </a:p>
        </p:txBody>
      </p:sp>
      <p:grpSp>
        <p:nvGrpSpPr>
          <p:cNvPr id="317" name="Google Shape;317;p85"/>
          <p:cNvGrpSpPr/>
          <p:nvPr/>
        </p:nvGrpSpPr>
        <p:grpSpPr>
          <a:xfrm>
            <a:off x="11808932" y="6477097"/>
            <a:ext cx="231532" cy="231532"/>
            <a:chOff x="11275488" y="5797834"/>
            <a:chExt cx="353804" cy="353804"/>
          </a:xfrm>
        </p:grpSpPr>
        <p:sp>
          <p:nvSpPr>
            <p:cNvPr id="318" name="Google Shape;318;p85">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9" name="Google Shape;319;p85">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320" name="Google Shape;320;p85"/>
          <p:cNvGrpSpPr/>
          <p:nvPr/>
        </p:nvGrpSpPr>
        <p:grpSpPr>
          <a:xfrm>
            <a:off x="11543208" y="6477097"/>
            <a:ext cx="231532" cy="231532"/>
            <a:chOff x="11275488" y="5797834"/>
            <a:chExt cx="353804" cy="353804"/>
          </a:xfrm>
        </p:grpSpPr>
        <p:sp>
          <p:nvSpPr>
            <p:cNvPr id="321" name="Google Shape;321;p85">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2" name="Google Shape;322;p85">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323" name="Google Shape;323;p85"/>
          <p:cNvSpPr txBox="1">
            <a:spLocks noGrp="1"/>
          </p:cNvSpPr>
          <p:nvPr>
            <p:ph type="body" idx="1"/>
          </p:nvPr>
        </p:nvSpPr>
        <p:spPr>
          <a:xfrm>
            <a:off x="8586463" y="6504783"/>
            <a:ext cx="2998268" cy="203846"/>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ase Studies">
  <p:cSld name="Case Studies">
    <p:spTree>
      <p:nvGrpSpPr>
        <p:cNvPr id="1" name="Shape 324"/>
        <p:cNvGrpSpPr/>
        <p:nvPr/>
      </p:nvGrpSpPr>
      <p:grpSpPr>
        <a:xfrm>
          <a:off x="0" y="0"/>
          <a:ext cx="0" cy="0"/>
          <a:chOff x="0" y="0"/>
          <a:chExt cx="0" cy="0"/>
        </a:xfrm>
      </p:grpSpPr>
      <p:sp>
        <p:nvSpPr>
          <p:cNvPr id="325" name="Google Shape;325;p86"/>
          <p:cNvSpPr>
            <a:spLocks noGrp="1"/>
          </p:cNvSpPr>
          <p:nvPr>
            <p:ph type="pic" idx="2"/>
          </p:nvPr>
        </p:nvSpPr>
        <p:spPr>
          <a:xfrm>
            <a:off x="-60960" y="2468881"/>
            <a:ext cx="4744720" cy="297688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26" name="Google Shape;326;p86"/>
          <p:cNvSpPr txBox="1"/>
          <p:nvPr/>
        </p:nvSpPr>
        <p:spPr>
          <a:xfrm>
            <a:off x="11631256" y="173194"/>
            <a:ext cx="431790" cy="191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0" i="0">
                <a:solidFill>
                  <a:srgbClr val="FEFEFE"/>
                </a:solidFill>
                <a:latin typeface="Arial"/>
                <a:ea typeface="Arial"/>
                <a:cs typeface="Arial"/>
                <a:sym typeface="Arial"/>
              </a:rPr>
              <a:t>‹#›</a:t>
            </a:fld>
            <a:endParaRPr sz="800" b="0" i="0">
              <a:solidFill>
                <a:srgbClr val="FEFEFE"/>
              </a:solidFill>
              <a:latin typeface="Arial"/>
              <a:ea typeface="Arial"/>
              <a:cs typeface="Arial"/>
              <a:sym typeface="Arial"/>
            </a:endParaRPr>
          </a:p>
        </p:txBody>
      </p:sp>
      <p:grpSp>
        <p:nvGrpSpPr>
          <p:cNvPr id="327" name="Google Shape;327;p86"/>
          <p:cNvGrpSpPr/>
          <p:nvPr/>
        </p:nvGrpSpPr>
        <p:grpSpPr>
          <a:xfrm>
            <a:off x="11808932" y="6477097"/>
            <a:ext cx="231532" cy="231532"/>
            <a:chOff x="11275488" y="5797834"/>
            <a:chExt cx="353804" cy="353804"/>
          </a:xfrm>
        </p:grpSpPr>
        <p:sp>
          <p:nvSpPr>
            <p:cNvPr id="328" name="Google Shape;328;p86">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9" name="Google Shape;329;p86">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330" name="Google Shape;330;p86"/>
          <p:cNvGrpSpPr/>
          <p:nvPr/>
        </p:nvGrpSpPr>
        <p:grpSpPr>
          <a:xfrm>
            <a:off x="11543208" y="6477097"/>
            <a:ext cx="231532" cy="231532"/>
            <a:chOff x="11275488" y="5797834"/>
            <a:chExt cx="353804" cy="353804"/>
          </a:xfrm>
        </p:grpSpPr>
        <p:sp>
          <p:nvSpPr>
            <p:cNvPr id="331" name="Google Shape;331;p86">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2" name="Google Shape;332;p86">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333" name="Google Shape;333;p86"/>
          <p:cNvSpPr txBox="1">
            <a:spLocks noGrp="1"/>
          </p:cNvSpPr>
          <p:nvPr>
            <p:ph type="title"/>
          </p:nvPr>
        </p:nvSpPr>
        <p:spPr>
          <a:xfrm>
            <a:off x="838200" y="493274"/>
            <a:ext cx="10515600" cy="49945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500"/>
              <a:buFont typeface="Century Gothic"/>
              <a:buNone/>
              <a:defRPr b="1">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ase Studies 2">
  <p:cSld name="Case Studies 2">
    <p:spTree>
      <p:nvGrpSpPr>
        <p:cNvPr id="1" name="Shape 334"/>
        <p:cNvGrpSpPr/>
        <p:nvPr/>
      </p:nvGrpSpPr>
      <p:grpSpPr>
        <a:xfrm>
          <a:off x="0" y="0"/>
          <a:ext cx="0" cy="0"/>
          <a:chOff x="0" y="0"/>
          <a:chExt cx="0" cy="0"/>
        </a:xfrm>
      </p:grpSpPr>
      <p:sp>
        <p:nvSpPr>
          <p:cNvPr id="335" name="Google Shape;335;p87"/>
          <p:cNvSpPr>
            <a:spLocks noGrp="1"/>
          </p:cNvSpPr>
          <p:nvPr>
            <p:ph type="pic" idx="2"/>
          </p:nvPr>
        </p:nvSpPr>
        <p:spPr>
          <a:xfrm>
            <a:off x="-1" y="4087906"/>
            <a:ext cx="12338614" cy="2284614"/>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36" name="Google Shape;336;p87"/>
          <p:cNvSpPr txBox="1"/>
          <p:nvPr/>
        </p:nvSpPr>
        <p:spPr>
          <a:xfrm>
            <a:off x="11631256" y="173194"/>
            <a:ext cx="431790" cy="1919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800" b="0" i="0">
                <a:solidFill>
                  <a:srgbClr val="FEFEFE"/>
                </a:solidFill>
                <a:latin typeface="Arial"/>
                <a:ea typeface="Arial"/>
                <a:cs typeface="Arial"/>
                <a:sym typeface="Arial"/>
              </a:rPr>
              <a:t>‹#›</a:t>
            </a:fld>
            <a:endParaRPr sz="800" b="0" i="0">
              <a:solidFill>
                <a:srgbClr val="FEFEFE"/>
              </a:solidFill>
              <a:latin typeface="Arial"/>
              <a:ea typeface="Arial"/>
              <a:cs typeface="Arial"/>
              <a:sym typeface="Arial"/>
            </a:endParaRPr>
          </a:p>
        </p:txBody>
      </p:sp>
      <p:grpSp>
        <p:nvGrpSpPr>
          <p:cNvPr id="337" name="Google Shape;337;p87"/>
          <p:cNvGrpSpPr/>
          <p:nvPr/>
        </p:nvGrpSpPr>
        <p:grpSpPr>
          <a:xfrm>
            <a:off x="11808932" y="6477097"/>
            <a:ext cx="231532" cy="231532"/>
            <a:chOff x="11275488" y="5797834"/>
            <a:chExt cx="353804" cy="353804"/>
          </a:xfrm>
        </p:grpSpPr>
        <p:sp>
          <p:nvSpPr>
            <p:cNvPr id="338" name="Google Shape;338;p87">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9" name="Google Shape;339;p87">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340" name="Google Shape;340;p87"/>
          <p:cNvGrpSpPr/>
          <p:nvPr/>
        </p:nvGrpSpPr>
        <p:grpSpPr>
          <a:xfrm>
            <a:off x="11543208" y="6477097"/>
            <a:ext cx="231532" cy="231532"/>
            <a:chOff x="11275488" y="5797834"/>
            <a:chExt cx="353804" cy="353804"/>
          </a:xfrm>
        </p:grpSpPr>
        <p:sp>
          <p:nvSpPr>
            <p:cNvPr id="341" name="Google Shape;341;p87">
              <a:hlinkClick r:id="" action="ppaction://hlinkshowjump?jump=nextslide"/>
            </p:cNvPr>
            <p:cNvSpPr/>
            <p:nvPr/>
          </p:nvSpPr>
          <p:spPr>
            <a:xfrm>
              <a:off x="11275488" y="5797834"/>
              <a:ext cx="353804" cy="353804"/>
            </a:xfrm>
            <a:prstGeom prst="ellipse">
              <a:avLst/>
            </a:prstGeom>
            <a:solidFill>
              <a:schemeClr val="dk2">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2" name="Google Shape;342;p87">
              <a:hlinkClick r:id="" action="ppaction://hlinkshowjump?jump=nextslide"/>
            </p:cNvPr>
            <p:cNvSpPr/>
            <p:nvPr/>
          </p:nvSpPr>
          <p:spPr>
            <a:xfrm>
              <a:off x="11402389" y="5893733"/>
              <a:ext cx="125792" cy="171788"/>
            </a:xfrm>
            <a:prstGeom prst="chevron">
              <a:avLst>
                <a:gd name="adj" fmla="val 6633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sp>
        <p:nvSpPr>
          <p:cNvPr id="343" name="Google Shape;343;p87"/>
          <p:cNvSpPr txBox="1">
            <a:spLocks noGrp="1"/>
          </p:cNvSpPr>
          <p:nvPr>
            <p:ph type="title"/>
          </p:nvPr>
        </p:nvSpPr>
        <p:spPr>
          <a:xfrm>
            <a:off x="838200" y="493274"/>
            <a:ext cx="10515600" cy="49945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500"/>
              <a:buFont typeface="Century Gothic"/>
              <a:buNone/>
              <a:defRPr b="1">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4" name="Google Shape;344;p87"/>
          <p:cNvSpPr>
            <a:spLocks noGrp="1"/>
          </p:cNvSpPr>
          <p:nvPr>
            <p:ph type="pic" idx="3"/>
          </p:nvPr>
        </p:nvSpPr>
        <p:spPr>
          <a:xfrm>
            <a:off x="1142999" y="1855693"/>
            <a:ext cx="2057401" cy="3536577"/>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52"/>
        <p:cNvGrpSpPr/>
        <p:nvPr/>
      </p:nvGrpSpPr>
      <p:grpSpPr>
        <a:xfrm>
          <a:off x="0" y="0"/>
          <a:ext cx="0" cy="0"/>
          <a:chOff x="0" y="0"/>
          <a:chExt cx="0" cy="0"/>
        </a:xfrm>
      </p:grpSpPr>
      <p:sp>
        <p:nvSpPr>
          <p:cNvPr id="353" name="Google Shape;353;p4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4" name="Google Shape;354;p4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55" name="Google Shape;355;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6" name="Google Shape;356;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7" name="Google Shape;357;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8"/>
        <p:cNvGrpSpPr/>
        <p:nvPr/>
      </p:nvGrpSpPr>
      <p:grpSpPr>
        <a:xfrm>
          <a:off x="0" y="0"/>
          <a:ext cx="0" cy="0"/>
          <a:chOff x="0" y="0"/>
          <a:chExt cx="0" cy="0"/>
        </a:xfrm>
      </p:grpSpPr>
      <p:sp>
        <p:nvSpPr>
          <p:cNvPr id="359" name="Google Shape;359;p8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0" name="Google Shape;360;p8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1" name="Google Shape;361;p8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2" name="Google Shape;362;p8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3" name="Google Shape;363;p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4"/>
        <p:cNvGrpSpPr/>
        <p:nvPr/>
      </p:nvGrpSpPr>
      <p:grpSpPr>
        <a:xfrm>
          <a:off x="0" y="0"/>
          <a:ext cx="0" cy="0"/>
          <a:chOff x="0" y="0"/>
          <a:chExt cx="0" cy="0"/>
        </a:xfrm>
      </p:grpSpPr>
      <p:sp>
        <p:nvSpPr>
          <p:cNvPr id="365" name="Google Shape;365;p8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6" name="Google Shape;366;p8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67" name="Google Shape;367;p8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8" name="Google Shape;368;p8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9" name="Google Shape;369;p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0"/>
        <p:cNvGrpSpPr/>
        <p:nvPr/>
      </p:nvGrpSpPr>
      <p:grpSpPr>
        <a:xfrm>
          <a:off x="0" y="0"/>
          <a:ext cx="0" cy="0"/>
          <a:chOff x="0" y="0"/>
          <a:chExt cx="0" cy="0"/>
        </a:xfrm>
      </p:grpSpPr>
      <p:sp>
        <p:nvSpPr>
          <p:cNvPr id="371" name="Google Shape;371;p9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2" name="Google Shape;372;p9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3" name="Google Shape;373;p9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4" name="Google Shape;374;p9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5" name="Google Shape;375;p9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6" name="Google Shape;376;p9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77"/>
        <p:cNvGrpSpPr/>
        <p:nvPr/>
      </p:nvGrpSpPr>
      <p:grpSpPr>
        <a:xfrm>
          <a:off x="0" y="0"/>
          <a:ext cx="0" cy="0"/>
          <a:chOff x="0" y="0"/>
          <a:chExt cx="0" cy="0"/>
        </a:xfrm>
      </p:grpSpPr>
      <p:sp>
        <p:nvSpPr>
          <p:cNvPr id="378" name="Google Shape;378;p9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9" name="Google Shape;379;p9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0" name="Google Shape;380;p9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1" name="Google Shape;381;p9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2" name="Google Shape;382;p9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3" name="Google Shape;383;p9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4" name="Google Shape;384;p9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5" name="Google Shape;385;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6"/>
        <p:cNvGrpSpPr/>
        <p:nvPr/>
      </p:nvGrpSpPr>
      <p:grpSpPr>
        <a:xfrm>
          <a:off x="0" y="0"/>
          <a:ext cx="0" cy="0"/>
          <a:chOff x="0" y="0"/>
          <a:chExt cx="0" cy="0"/>
        </a:xfrm>
      </p:grpSpPr>
      <p:sp>
        <p:nvSpPr>
          <p:cNvPr id="387" name="Google Shape;387;p9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8" name="Google Shape;388;p9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9" name="Google Shape;389;p9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0" name="Google Shape;390;p9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91"/>
        <p:cNvGrpSpPr/>
        <p:nvPr/>
      </p:nvGrpSpPr>
      <p:grpSpPr>
        <a:xfrm>
          <a:off x="0" y="0"/>
          <a:ext cx="0" cy="0"/>
          <a:chOff x="0" y="0"/>
          <a:chExt cx="0" cy="0"/>
        </a:xfrm>
      </p:grpSpPr>
      <p:sp>
        <p:nvSpPr>
          <p:cNvPr id="392" name="Google Shape;392;p9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3" name="Google Shape;393;p9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4" name="Google Shape;394;p9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95"/>
        <p:cNvGrpSpPr/>
        <p:nvPr/>
      </p:nvGrpSpPr>
      <p:grpSpPr>
        <a:xfrm>
          <a:off x="0" y="0"/>
          <a:ext cx="0" cy="0"/>
          <a:chOff x="0" y="0"/>
          <a:chExt cx="0" cy="0"/>
        </a:xfrm>
      </p:grpSpPr>
      <p:sp>
        <p:nvSpPr>
          <p:cNvPr id="396" name="Google Shape;396;p9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7" name="Google Shape;397;p9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98" name="Google Shape;398;p9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99" name="Google Shape;399;p9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0" name="Google Shape;400;p9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1" name="Google Shape;401;p9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02"/>
        <p:cNvGrpSpPr/>
        <p:nvPr/>
      </p:nvGrpSpPr>
      <p:grpSpPr>
        <a:xfrm>
          <a:off x="0" y="0"/>
          <a:ext cx="0" cy="0"/>
          <a:chOff x="0" y="0"/>
          <a:chExt cx="0" cy="0"/>
        </a:xfrm>
      </p:grpSpPr>
      <p:sp>
        <p:nvSpPr>
          <p:cNvPr id="403" name="Google Shape;403;p9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4" name="Google Shape;404;p95"/>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405" name="Google Shape;405;p9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06" name="Google Shape;406;p9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7" name="Google Shape;407;p9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8" name="Google Shape;408;p9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09"/>
        <p:cNvGrpSpPr/>
        <p:nvPr/>
      </p:nvGrpSpPr>
      <p:grpSpPr>
        <a:xfrm>
          <a:off x="0" y="0"/>
          <a:ext cx="0" cy="0"/>
          <a:chOff x="0" y="0"/>
          <a:chExt cx="0" cy="0"/>
        </a:xfrm>
      </p:grpSpPr>
      <p:sp>
        <p:nvSpPr>
          <p:cNvPr id="410" name="Google Shape;410;p9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1" name="Google Shape;411;p9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2" name="Google Shape;412;p9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3" name="Google Shape;413;p9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4" name="Google Shape;414;p9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15"/>
        <p:cNvGrpSpPr/>
        <p:nvPr/>
      </p:nvGrpSpPr>
      <p:grpSpPr>
        <a:xfrm>
          <a:off x="0" y="0"/>
          <a:ext cx="0" cy="0"/>
          <a:chOff x="0" y="0"/>
          <a:chExt cx="0" cy="0"/>
        </a:xfrm>
      </p:grpSpPr>
      <p:sp>
        <p:nvSpPr>
          <p:cNvPr id="416" name="Google Shape;416;p9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7" name="Google Shape;417;p9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8" name="Google Shape;418;p9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9" name="Google Shape;419;p9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0" name="Google Shape;420;p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image" Target="../media/image1.png"/><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theme" Target="../theme/theme3.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image" Target="../media/image1.png"/><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theme" Target="../theme/theme4.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41"/>
          <p:cNvPicPr preferRelativeResize="0"/>
          <p:nvPr/>
        </p:nvPicPr>
        <p:blipFill rotWithShape="1">
          <a:blip r:embed="rId12">
            <a:alphaModFix/>
          </a:blip>
          <a:srcRect l="-312" t="-2126" r="-188"/>
          <a:stretch/>
        </p:blipFill>
        <p:spPr>
          <a:xfrm>
            <a:off x="9632288" y="19050"/>
            <a:ext cx="2407156" cy="3651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5"/>
        <p:cNvGrpSpPr/>
        <p:nvPr/>
      </p:nvGrpSpPr>
      <p:grpSpPr>
        <a:xfrm>
          <a:off x="0" y="0"/>
          <a:ext cx="0" cy="0"/>
          <a:chOff x="0" y="0"/>
          <a:chExt cx="0" cy="0"/>
        </a:xfrm>
      </p:grpSpPr>
      <p:sp>
        <p:nvSpPr>
          <p:cNvPr id="86" name="Google Shape;86;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7" name="Google Shape;87;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8" name="Google Shape;88;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4"/>
        <p:cNvGrpSpPr/>
        <p:nvPr/>
      </p:nvGrpSpPr>
      <p:grpSpPr>
        <a:xfrm>
          <a:off x="0" y="0"/>
          <a:ext cx="0" cy="0"/>
          <a:chOff x="0" y="0"/>
          <a:chExt cx="0" cy="0"/>
        </a:xfrm>
      </p:grpSpPr>
      <p:sp>
        <p:nvSpPr>
          <p:cNvPr id="165" name="Google Shape;165;p45"/>
          <p:cNvSpPr txBox="1">
            <a:spLocks noGrp="1"/>
          </p:cNvSpPr>
          <p:nvPr>
            <p:ph type="title"/>
          </p:nvPr>
        </p:nvSpPr>
        <p:spPr>
          <a:xfrm>
            <a:off x="838200" y="493274"/>
            <a:ext cx="10515600" cy="499456"/>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chemeClr val="dk1"/>
              </a:buClr>
              <a:buSzPts val="2500"/>
              <a:buFont typeface="Century Gothic"/>
              <a:buNone/>
              <a:defRPr sz="2500" b="1"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6" name="Google Shape;166;p45"/>
          <p:cNvSpPr txBox="1">
            <a:spLocks noGrp="1"/>
          </p:cNvSpPr>
          <p:nvPr>
            <p:ph type="body" idx="1"/>
          </p:nvPr>
        </p:nvSpPr>
        <p:spPr>
          <a:xfrm>
            <a:off x="838200" y="1245521"/>
            <a:ext cx="10515600" cy="4830813"/>
          </a:xfrm>
          <a:prstGeom prst="rect">
            <a:avLst/>
          </a:prstGeom>
          <a:noFill/>
          <a:ln>
            <a:noFill/>
          </a:ln>
        </p:spPr>
        <p:txBody>
          <a:bodyPr spcFirstLastPara="1" wrap="square" lIns="91425" tIns="45700" rIns="91425" bIns="45700" anchor="ctr" anchorCtr="0">
            <a:normAutofit/>
          </a:bodyPr>
          <a:lstStyle>
            <a:lvl1pPr marL="457200" marR="0" lvl="0" indent="-342900" algn="l" rtl="0">
              <a:lnSpc>
                <a:spcPct val="90000"/>
              </a:lnSpc>
              <a:spcBef>
                <a:spcPts val="10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7" name="Google Shape;167;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68" name="Google Shape;168;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000"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69" name="Google Shape;169;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dk2"/>
                </a:solidFill>
                <a:latin typeface="Arial"/>
                <a:ea typeface="Arial"/>
                <a:cs typeface="Arial"/>
                <a:sym typeface="Arial"/>
              </a:defRPr>
            </a:lvl1pPr>
            <a:lvl2pPr marL="0" marR="0" lvl="1" indent="0" algn="r" rtl="0">
              <a:spcBef>
                <a:spcPts val="0"/>
              </a:spcBef>
              <a:buNone/>
              <a:defRPr sz="1000" b="0" i="0" u="none" strike="noStrike" cap="none">
                <a:solidFill>
                  <a:schemeClr val="dk2"/>
                </a:solidFill>
                <a:latin typeface="Arial"/>
                <a:ea typeface="Arial"/>
                <a:cs typeface="Arial"/>
                <a:sym typeface="Arial"/>
              </a:defRPr>
            </a:lvl2pPr>
            <a:lvl3pPr marL="0" marR="0" lvl="2" indent="0" algn="r" rtl="0">
              <a:spcBef>
                <a:spcPts val="0"/>
              </a:spcBef>
              <a:buNone/>
              <a:defRPr sz="1000" b="0" i="0" u="none" strike="noStrike" cap="none">
                <a:solidFill>
                  <a:schemeClr val="dk2"/>
                </a:solidFill>
                <a:latin typeface="Arial"/>
                <a:ea typeface="Arial"/>
                <a:cs typeface="Arial"/>
                <a:sym typeface="Arial"/>
              </a:defRPr>
            </a:lvl3pPr>
            <a:lvl4pPr marL="0" marR="0" lvl="3" indent="0" algn="r" rtl="0">
              <a:spcBef>
                <a:spcPts val="0"/>
              </a:spcBef>
              <a:buNone/>
              <a:defRPr sz="1000" b="0" i="0" u="none" strike="noStrike" cap="none">
                <a:solidFill>
                  <a:schemeClr val="dk2"/>
                </a:solidFill>
                <a:latin typeface="Arial"/>
                <a:ea typeface="Arial"/>
                <a:cs typeface="Arial"/>
                <a:sym typeface="Arial"/>
              </a:defRPr>
            </a:lvl4pPr>
            <a:lvl5pPr marL="0" marR="0" lvl="4" indent="0" algn="r" rtl="0">
              <a:spcBef>
                <a:spcPts val="0"/>
              </a:spcBef>
              <a:buNone/>
              <a:defRPr sz="1000" b="0" i="0" u="none" strike="noStrike" cap="none">
                <a:solidFill>
                  <a:schemeClr val="dk2"/>
                </a:solidFill>
                <a:latin typeface="Arial"/>
                <a:ea typeface="Arial"/>
                <a:cs typeface="Arial"/>
                <a:sym typeface="Arial"/>
              </a:defRPr>
            </a:lvl5pPr>
            <a:lvl6pPr marL="0" marR="0" lvl="5" indent="0" algn="r" rtl="0">
              <a:spcBef>
                <a:spcPts val="0"/>
              </a:spcBef>
              <a:buNone/>
              <a:defRPr sz="1000" b="0" i="0" u="none" strike="noStrike" cap="none">
                <a:solidFill>
                  <a:schemeClr val="dk2"/>
                </a:solidFill>
                <a:latin typeface="Arial"/>
                <a:ea typeface="Arial"/>
                <a:cs typeface="Arial"/>
                <a:sym typeface="Arial"/>
              </a:defRPr>
            </a:lvl6pPr>
            <a:lvl7pPr marL="0" marR="0" lvl="6" indent="0" algn="r" rtl="0">
              <a:spcBef>
                <a:spcPts val="0"/>
              </a:spcBef>
              <a:buNone/>
              <a:defRPr sz="1000" b="0" i="0" u="none" strike="noStrike" cap="none">
                <a:solidFill>
                  <a:schemeClr val="dk2"/>
                </a:solidFill>
                <a:latin typeface="Arial"/>
                <a:ea typeface="Arial"/>
                <a:cs typeface="Arial"/>
                <a:sym typeface="Arial"/>
              </a:defRPr>
            </a:lvl7pPr>
            <a:lvl8pPr marL="0" marR="0" lvl="7" indent="0" algn="r" rtl="0">
              <a:spcBef>
                <a:spcPts val="0"/>
              </a:spcBef>
              <a:buNone/>
              <a:defRPr sz="1000" b="0" i="0" u="none" strike="noStrike" cap="none">
                <a:solidFill>
                  <a:schemeClr val="dk2"/>
                </a:solidFill>
                <a:latin typeface="Arial"/>
                <a:ea typeface="Arial"/>
                <a:cs typeface="Arial"/>
                <a:sym typeface="Arial"/>
              </a:defRPr>
            </a:lvl8pPr>
            <a:lvl9pPr marL="0" marR="0" lvl="8" indent="0" algn="r" rtl="0">
              <a:spcBef>
                <a:spcPts val="0"/>
              </a:spcBef>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70" name="Google Shape;170;p45"/>
          <p:cNvPicPr preferRelativeResize="0"/>
          <p:nvPr/>
        </p:nvPicPr>
        <p:blipFill rotWithShape="1">
          <a:blip r:embed="rId21">
            <a:alphaModFix/>
          </a:blip>
          <a:srcRect l="-312" t="-2126" r="-188"/>
          <a:stretch/>
        </p:blipFill>
        <p:spPr>
          <a:xfrm>
            <a:off x="9632288" y="19050"/>
            <a:ext cx="2407156" cy="3651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5"/>
        <p:cNvGrpSpPr/>
        <p:nvPr/>
      </p:nvGrpSpPr>
      <p:grpSpPr>
        <a:xfrm>
          <a:off x="0" y="0"/>
          <a:ext cx="0" cy="0"/>
          <a:chOff x="0" y="0"/>
          <a:chExt cx="0" cy="0"/>
        </a:xfrm>
      </p:grpSpPr>
      <p:sp>
        <p:nvSpPr>
          <p:cNvPr id="346" name="Google Shape;346;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7" name="Google Shape;347;p4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8" name="Google Shape;348;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9" name="Google Shape;349;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0" name="Google Shape;350;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351" name="Google Shape;351;p47"/>
          <p:cNvPicPr preferRelativeResize="0"/>
          <p:nvPr/>
        </p:nvPicPr>
        <p:blipFill rotWithShape="1">
          <a:blip r:embed="rId13">
            <a:alphaModFix/>
          </a:blip>
          <a:srcRect l="-312" t="-2126" r="-188"/>
          <a:stretch/>
        </p:blipFill>
        <p:spPr>
          <a:xfrm>
            <a:off x="9632288" y="19050"/>
            <a:ext cx="2407156" cy="3651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3.xml"/><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3.xml"/><Relationship Id="rId5" Type="http://schemas.openxmlformats.org/officeDocument/2006/relationships/image" Target="../media/image8.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42.xml"/><Relationship Id="rId5" Type="http://schemas.openxmlformats.org/officeDocument/2006/relationships/image" Target="../media/image8.jp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8.jpg"/><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1.xml"/><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jp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5.xml"/><Relationship Id="rId1" Type="http://schemas.openxmlformats.org/officeDocument/2006/relationships/slideLayout" Target="../slideLayouts/slideLayout11.xml"/><Relationship Id="rId5" Type="http://schemas.openxmlformats.org/officeDocument/2006/relationships/image" Target="../media/image8.jpg"/><Relationship Id="rId4" Type="http://schemas.openxmlformats.org/officeDocument/2006/relationships/image" Target="../media/image7.jp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31.xml"/><Relationship Id="rId1" Type="http://schemas.openxmlformats.org/officeDocument/2006/relationships/slideLayout" Target="../slideLayouts/slideLayout11.xml"/><Relationship Id="rId4" Type="http://schemas.openxmlformats.org/officeDocument/2006/relationships/image" Target="../media/image43.emf"/></Relationships>
</file>

<file path=ppt/slides/_rels/slide3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2.xml"/><Relationship Id="rId1" Type="http://schemas.openxmlformats.org/officeDocument/2006/relationships/slideLayout" Target="../slideLayouts/slideLayout11.xml"/><Relationship Id="rId5" Type="http://schemas.openxmlformats.org/officeDocument/2006/relationships/image" Target="../media/image8.jpg"/><Relationship Id="rId4" Type="http://schemas.openxmlformats.org/officeDocument/2006/relationships/image" Target="../media/image7.jp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11.xml"/><Relationship Id="rId5" Type="http://schemas.openxmlformats.org/officeDocument/2006/relationships/image" Target="../media/image47.png"/><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3" Type="http://schemas.openxmlformats.org/officeDocument/2006/relationships/hyperlink" Target="https://www.researchgate.net/deref/http%3A%2F%2Fdx.doi.org%2F10.2991%2Ficoi-17.2017.18" TargetMode="External"/><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1"/>
          <p:cNvSpPr/>
          <p:nvPr/>
        </p:nvSpPr>
        <p:spPr>
          <a:xfrm>
            <a:off x="0" y="0"/>
            <a:ext cx="12192000"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27" name="Google Shape;427;p1"/>
          <p:cNvSpPr/>
          <p:nvPr/>
        </p:nvSpPr>
        <p:spPr>
          <a:xfrm rot="10800000">
            <a:off x="3829050" y="685800"/>
            <a:ext cx="6896100" cy="6629400"/>
          </a:xfrm>
          <a:prstGeom prst="triangle">
            <a:avLst>
              <a:gd name="adj" fmla="val 50247"/>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28" name="Google Shape;428;p1"/>
          <p:cNvSpPr/>
          <p:nvPr/>
        </p:nvSpPr>
        <p:spPr>
          <a:xfrm rot="10800000">
            <a:off x="3792028" y="685800"/>
            <a:ext cx="6457950" cy="6172200"/>
          </a:xfrm>
          <a:prstGeom prst="triangle">
            <a:avLst>
              <a:gd name="adj" fmla="val 50000"/>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29" name="Google Shape;429;p1"/>
          <p:cNvSpPr/>
          <p:nvPr/>
        </p:nvSpPr>
        <p:spPr>
          <a:xfrm rot="10800000">
            <a:off x="6735631" y="6324600"/>
            <a:ext cx="551891" cy="590550"/>
          </a:xfrm>
          <a:prstGeom prst="triangle">
            <a:avLst>
              <a:gd name="adj" fmla="val 44694"/>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30" name="Google Shape;430;p1"/>
          <p:cNvSpPr/>
          <p:nvPr/>
        </p:nvSpPr>
        <p:spPr>
          <a:xfrm>
            <a:off x="-515790" y="0"/>
            <a:ext cx="7278540" cy="6324600"/>
          </a:xfrm>
          <a:custGeom>
            <a:avLst/>
            <a:gdLst/>
            <a:ahLst/>
            <a:cxnLst/>
            <a:rect l="l" t="t" r="r" b="b"/>
            <a:pathLst>
              <a:path w="7278540" h="6324600" extrusionOk="0">
                <a:moveTo>
                  <a:pt x="0" y="0"/>
                </a:moveTo>
                <a:lnTo>
                  <a:pt x="1170712" y="0"/>
                </a:lnTo>
                <a:lnTo>
                  <a:pt x="3217363" y="0"/>
                </a:lnTo>
                <a:lnTo>
                  <a:pt x="4388075" y="0"/>
                </a:lnTo>
                <a:lnTo>
                  <a:pt x="7278540" y="6324600"/>
                </a:lnTo>
                <a:lnTo>
                  <a:pt x="6107828" y="6324600"/>
                </a:lnTo>
                <a:lnTo>
                  <a:pt x="4061177" y="6324600"/>
                </a:lnTo>
                <a:lnTo>
                  <a:pt x="2890465" y="6324600"/>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31" name="Google Shape;431;p1"/>
          <p:cNvSpPr/>
          <p:nvPr/>
        </p:nvSpPr>
        <p:spPr>
          <a:xfrm>
            <a:off x="-515151" y="0"/>
            <a:ext cx="7278540" cy="6324600"/>
          </a:xfrm>
          <a:custGeom>
            <a:avLst/>
            <a:gdLst/>
            <a:ahLst/>
            <a:cxnLst/>
            <a:rect l="l" t="t" r="r" b="b"/>
            <a:pathLst>
              <a:path w="7278540" h="6324600" extrusionOk="0">
                <a:moveTo>
                  <a:pt x="0" y="0"/>
                </a:moveTo>
                <a:lnTo>
                  <a:pt x="1170712" y="0"/>
                </a:lnTo>
                <a:lnTo>
                  <a:pt x="3217363" y="0"/>
                </a:lnTo>
                <a:lnTo>
                  <a:pt x="4388075" y="0"/>
                </a:lnTo>
                <a:lnTo>
                  <a:pt x="7278540" y="6324600"/>
                </a:lnTo>
                <a:lnTo>
                  <a:pt x="6107828" y="6324600"/>
                </a:lnTo>
                <a:lnTo>
                  <a:pt x="4061177" y="6324600"/>
                </a:lnTo>
                <a:lnTo>
                  <a:pt x="2890465" y="6324600"/>
                </a:lnTo>
                <a:close/>
              </a:path>
            </a:pathLst>
          </a:cu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32" name="Google Shape;432;p1"/>
          <p:cNvSpPr txBox="1"/>
          <p:nvPr/>
        </p:nvSpPr>
        <p:spPr>
          <a:xfrm>
            <a:off x="1431051" y="2772141"/>
            <a:ext cx="3771610"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chemeClr val="lt1"/>
                </a:solidFill>
                <a:latin typeface="Century Gothic"/>
                <a:ea typeface="Century Gothic"/>
                <a:cs typeface="Century Gothic"/>
                <a:sym typeface="Century Gothic"/>
              </a:rPr>
              <a:t>Churn Analysis and Prevention</a:t>
            </a:r>
            <a:endParaRPr sz="2000" b="1" i="0" u="none" strike="noStrike" cap="none">
              <a:solidFill>
                <a:schemeClr val="lt1"/>
              </a:solidFill>
              <a:latin typeface="Century Gothic"/>
              <a:ea typeface="Century Gothic"/>
              <a:cs typeface="Century Gothic"/>
              <a:sym typeface="Century Gothic"/>
            </a:endParaRPr>
          </a:p>
        </p:txBody>
      </p:sp>
      <p:sp>
        <p:nvSpPr>
          <p:cNvPr id="433" name="Google Shape;433;p1"/>
          <p:cNvSpPr txBox="1"/>
          <p:nvPr/>
        </p:nvSpPr>
        <p:spPr>
          <a:xfrm>
            <a:off x="3254062" y="5780127"/>
            <a:ext cx="3141564" cy="584775"/>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FFFFFF"/>
              </a:buClr>
              <a:buSzPts val="1600"/>
              <a:buFont typeface="Century Gothic"/>
              <a:buNone/>
            </a:pPr>
            <a:r>
              <a:rPr lang="en-US" sz="1600" b="1" i="0" u="none" strike="noStrike" cap="none">
                <a:solidFill>
                  <a:srgbClr val="FFFFFF"/>
                </a:solidFill>
                <a:latin typeface="Century Gothic"/>
                <a:ea typeface="Century Gothic"/>
                <a:cs typeface="Century Gothic"/>
                <a:sym typeface="Century Gothic"/>
              </a:rPr>
              <a:t>Traveloka Technical Assessment Test – Part 2</a:t>
            </a:r>
            <a:endParaRPr sz="1600" b="1" i="0" u="none" strike="noStrike" cap="none">
              <a:solidFill>
                <a:srgbClr val="FFFFFF"/>
              </a:solidFill>
              <a:latin typeface="Century Gothic"/>
              <a:ea typeface="Century Gothic"/>
              <a:cs typeface="Century Gothic"/>
              <a:sym typeface="Century Gothic"/>
            </a:endParaRPr>
          </a:p>
        </p:txBody>
      </p:sp>
      <p:sp>
        <p:nvSpPr>
          <p:cNvPr id="434" name="Google Shape;434;p1"/>
          <p:cNvSpPr/>
          <p:nvPr/>
        </p:nvSpPr>
        <p:spPr>
          <a:xfrm>
            <a:off x="1333658" y="5046568"/>
            <a:ext cx="1041989" cy="1278030"/>
          </a:xfrm>
          <a:custGeom>
            <a:avLst/>
            <a:gdLst/>
            <a:ahLst/>
            <a:cxnLst/>
            <a:rect l="l" t="t" r="r" b="b"/>
            <a:pathLst>
              <a:path w="1041989" h="1278030" extrusionOk="0">
                <a:moveTo>
                  <a:pt x="0" y="1278030"/>
                </a:moveTo>
                <a:lnTo>
                  <a:pt x="457200" y="0"/>
                </a:lnTo>
                <a:lnTo>
                  <a:pt x="1041989" y="1278030"/>
                </a:lnTo>
                <a:lnTo>
                  <a:pt x="0" y="1278030"/>
                </a:lnTo>
                <a:close/>
              </a:path>
            </a:pathLst>
          </a:cu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35" name="Google Shape;435;p1"/>
          <p:cNvSpPr/>
          <p:nvPr/>
        </p:nvSpPr>
        <p:spPr>
          <a:xfrm rot="10800000" flipH="1">
            <a:off x="3858078" y="-4989"/>
            <a:ext cx="667657" cy="666750"/>
          </a:xfrm>
          <a:prstGeom prst="triangle">
            <a:avLst>
              <a:gd name="adj" fmla="val 47826"/>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36" name="Google Shape;436;p1"/>
          <p:cNvSpPr txBox="1"/>
          <p:nvPr/>
        </p:nvSpPr>
        <p:spPr>
          <a:xfrm>
            <a:off x="2475903" y="4698369"/>
            <a:ext cx="3141564" cy="338554"/>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FFFFFF"/>
              </a:buClr>
              <a:buSzPts val="1600"/>
              <a:buFont typeface="Century Gothic"/>
              <a:buNone/>
            </a:pPr>
            <a:r>
              <a:rPr lang="en-US" sz="1600" b="1" i="0" u="none" strike="noStrike" cap="none">
                <a:solidFill>
                  <a:srgbClr val="FFFFFF"/>
                </a:solidFill>
                <a:latin typeface="Century Gothic"/>
                <a:ea typeface="Century Gothic"/>
                <a:cs typeface="Century Gothic"/>
                <a:sym typeface="Century Gothic"/>
              </a:rPr>
              <a:t>Esis Ramadhan</a:t>
            </a:r>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34"/>
                                        </p:tgtEl>
                                        <p:attrNameLst>
                                          <p:attrName>style.visibility</p:attrName>
                                        </p:attrNameLst>
                                      </p:cBhvr>
                                      <p:to>
                                        <p:strVal val="visible"/>
                                      </p:to>
                                    </p:set>
                                    <p:anim calcmode="lin" valueType="num">
                                      <p:cBhvr additive="base">
                                        <p:cTn id="7" dur="250"/>
                                        <p:tgtEl>
                                          <p:spTgt spid="434"/>
                                        </p:tgtEl>
                                        <p:attrNameLst>
                                          <p:attrName>ppt_y</p:attrName>
                                        </p:attrNameLst>
                                      </p:cBhvr>
                                      <p:tavLst>
                                        <p:tav tm="0">
                                          <p:val>
                                            <p:strVal val="#ppt_y+1"/>
                                          </p:val>
                                        </p:tav>
                                        <p:tav tm="100000">
                                          <p:val>
                                            <p:strVal val="#ppt_y"/>
                                          </p:val>
                                        </p:tav>
                                      </p:tavLst>
                                    </p:anim>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430"/>
                                        </p:tgtEl>
                                        <p:attrNameLst>
                                          <p:attrName>style.visibility</p:attrName>
                                        </p:attrNameLst>
                                      </p:cBhvr>
                                      <p:to>
                                        <p:strVal val="visible"/>
                                      </p:to>
                                    </p:set>
                                    <p:animEffect transition="in" filter="fade">
                                      <p:cBhvr>
                                        <p:cTn id="11" dur="500"/>
                                        <p:tgtEl>
                                          <p:spTgt spid="430"/>
                                        </p:tgtEl>
                                      </p:cBhvr>
                                    </p:animEffect>
                                  </p:childTnLst>
                                </p:cTn>
                              </p:par>
                              <p:par>
                                <p:cTn id="12" presetID="10" presetClass="entr" presetSubtype="0" fill="hold" nodeType="withEffect">
                                  <p:stCondLst>
                                    <p:cond delay="0"/>
                                  </p:stCondLst>
                                  <p:childTnLst>
                                    <p:set>
                                      <p:cBhvr>
                                        <p:cTn id="13" dur="1" fill="hold">
                                          <p:stCondLst>
                                            <p:cond delay="0"/>
                                          </p:stCondLst>
                                        </p:cTn>
                                        <p:tgtEl>
                                          <p:spTgt spid="431"/>
                                        </p:tgtEl>
                                        <p:attrNameLst>
                                          <p:attrName>style.visibility</p:attrName>
                                        </p:attrNameLst>
                                      </p:cBhvr>
                                      <p:to>
                                        <p:strVal val="visible"/>
                                      </p:to>
                                    </p:set>
                                    <p:animEffect transition="in" filter="fade">
                                      <p:cBhvr>
                                        <p:cTn id="14" dur="500"/>
                                        <p:tgtEl>
                                          <p:spTgt spid="431"/>
                                        </p:tgtEl>
                                      </p:cBhvr>
                                    </p:animEffect>
                                  </p:childTnLst>
                                </p:cTn>
                              </p:par>
                            </p:childTnLst>
                          </p:cTn>
                        </p:par>
                        <p:par>
                          <p:cTn id="15" fill="hold">
                            <p:stCondLst>
                              <p:cond delay="750"/>
                            </p:stCondLst>
                            <p:childTnLst>
                              <p:par>
                                <p:cTn id="16" presetID="10" presetClass="entr" presetSubtype="0" fill="hold" nodeType="afterEffect">
                                  <p:stCondLst>
                                    <p:cond delay="0"/>
                                  </p:stCondLst>
                                  <p:childTnLst>
                                    <p:set>
                                      <p:cBhvr>
                                        <p:cTn id="17" dur="1" fill="hold">
                                          <p:stCondLst>
                                            <p:cond delay="0"/>
                                          </p:stCondLst>
                                        </p:cTn>
                                        <p:tgtEl>
                                          <p:spTgt spid="435"/>
                                        </p:tgtEl>
                                        <p:attrNameLst>
                                          <p:attrName>style.visibility</p:attrName>
                                        </p:attrNameLst>
                                      </p:cBhvr>
                                      <p:to>
                                        <p:strVal val="visible"/>
                                      </p:to>
                                    </p:set>
                                    <p:animEffect transition="in" filter="fade">
                                      <p:cBhvr>
                                        <p:cTn id="18" dur="250"/>
                                        <p:tgtEl>
                                          <p:spTgt spid="435"/>
                                        </p:tgtEl>
                                      </p:cBhvr>
                                    </p:animEffect>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428"/>
                                        </p:tgtEl>
                                        <p:attrNameLst>
                                          <p:attrName>style.visibility</p:attrName>
                                        </p:attrNameLst>
                                      </p:cBhvr>
                                      <p:to>
                                        <p:strVal val="visible"/>
                                      </p:to>
                                    </p:set>
                                    <p:animEffect transition="in" filter="fade">
                                      <p:cBhvr>
                                        <p:cTn id="22" dur="500"/>
                                        <p:tgtEl>
                                          <p:spTgt spid="428"/>
                                        </p:tgtEl>
                                      </p:cBhvr>
                                    </p:animEffect>
                                  </p:childTnLst>
                                </p:cTn>
                              </p:par>
                              <p:par>
                                <p:cTn id="23" presetID="10" presetClass="entr" presetSubtype="0" fill="hold" nodeType="withEffect">
                                  <p:stCondLst>
                                    <p:cond delay="0"/>
                                  </p:stCondLst>
                                  <p:childTnLst>
                                    <p:set>
                                      <p:cBhvr>
                                        <p:cTn id="24" dur="1" fill="hold">
                                          <p:stCondLst>
                                            <p:cond delay="0"/>
                                          </p:stCondLst>
                                        </p:cTn>
                                        <p:tgtEl>
                                          <p:spTgt spid="427"/>
                                        </p:tgtEl>
                                        <p:attrNameLst>
                                          <p:attrName>style.visibility</p:attrName>
                                        </p:attrNameLst>
                                      </p:cBhvr>
                                      <p:to>
                                        <p:strVal val="visible"/>
                                      </p:to>
                                    </p:set>
                                    <p:animEffect transition="in" filter="fade">
                                      <p:cBhvr>
                                        <p:cTn id="25" dur="500"/>
                                        <p:tgtEl>
                                          <p:spTgt spid="427"/>
                                        </p:tgtEl>
                                      </p:cBhvr>
                                    </p:animEffect>
                                  </p:childTnLst>
                                </p:cTn>
                              </p:par>
                              <p:par>
                                <p:cTn id="26" presetID="10" presetClass="entr" presetSubtype="0" fill="hold" nodeType="withEffect">
                                  <p:stCondLst>
                                    <p:cond delay="0"/>
                                  </p:stCondLst>
                                  <p:childTnLst>
                                    <p:set>
                                      <p:cBhvr>
                                        <p:cTn id="27" dur="1" fill="hold">
                                          <p:stCondLst>
                                            <p:cond delay="0"/>
                                          </p:stCondLst>
                                        </p:cTn>
                                        <p:tgtEl>
                                          <p:spTgt spid="429"/>
                                        </p:tgtEl>
                                        <p:attrNameLst>
                                          <p:attrName>style.visibility</p:attrName>
                                        </p:attrNameLst>
                                      </p:cBhvr>
                                      <p:to>
                                        <p:strVal val="visible"/>
                                      </p:to>
                                    </p:set>
                                    <p:animEffect transition="in" filter="fade">
                                      <p:cBhvr>
                                        <p:cTn id="28" dur="500"/>
                                        <p:tgtEl>
                                          <p:spTgt spid="429"/>
                                        </p:tgtEl>
                                      </p:cBhvr>
                                    </p:animEffect>
                                  </p:childTnLst>
                                </p:cTn>
                              </p:par>
                            </p:childTnLst>
                          </p:cTn>
                        </p:par>
                        <p:par>
                          <p:cTn id="29" fill="hold">
                            <p:stCondLst>
                              <p:cond delay="1500"/>
                            </p:stCondLst>
                            <p:childTnLst>
                              <p:par>
                                <p:cTn id="30" presetID="10" presetClass="entr" presetSubtype="0" fill="hold" nodeType="afterEffect">
                                  <p:stCondLst>
                                    <p:cond delay="0"/>
                                  </p:stCondLst>
                                  <p:childTnLst>
                                    <p:set>
                                      <p:cBhvr>
                                        <p:cTn id="31" dur="1" fill="hold">
                                          <p:stCondLst>
                                            <p:cond delay="0"/>
                                          </p:stCondLst>
                                        </p:cTn>
                                        <p:tgtEl>
                                          <p:spTgt spid="432"/>
                                        </p:tgtEl>
                                        <p:attrNameLst>
                                          <p:attrName>style.visibility</p:attrName>
                                        </p:attrNameLst>
                                      </p:cBhvr>
                                      <p:to>
                                        <p:strVal val="visible"/>
                                      </p:to>
                                    </p:set>
                                    <p:animEffect transition="in" filter="fade">
                                      <p:cBhvr>
                                        <p:cTn id="32" dur="500"/>
                                        <p:tgtEl>
                                          <p:spTgt spid="432"/>
                                        </p:tgtEl>
                                      </p:cBhvr>
                                    </p:animEffect>
                                  </p:childTnLst>
                                </p:cTn>
                              </p:par>
                              <p:par>
                                <p:cTn id="33" presetID="10" presetClass="entr" presetSubtype="0" fill="hold" nodeType="withEffect">
                                  <p:stCondLst>
                                    <p:cond delay="0"/>
                                  </p:stCondLst>
                                  <p:childTnLst>
                                    <p:set>
                                      <p:cBhvr>
                                        <p:cTn id="34" dur="1" fill="hold">
                                          <p:stCondLst>
                                            <p:cond delay="0"/>
                                          </p:stCondLst>
                                        </p:cTn>
                                        <p:tgtEl>
                                          <p:spTgt spid="433"/>
                                        </p:tgtEl>
                                        <p:attrNameLst>
                                          <p:attrName>style.visibility</p:attrName>
                                        </p:attrNameLst>
                                      </p:cBhvr>
                                      <p:to>
                                        <p:strVal val="visible"/>
                                      </p:to>
                                    </p:set>
                                    <p:animEffect transition="in" filter="fade">
                                      <p:cBhvr>
                                        <p:cTn id="35" dur="500"/>
                                        <p:tgtEl>
                                          <p:spTgt spid="433"/>
                                        </p:tgtEl>
                                      </p:cBhvr>
                                    </p:animEffect>
                                  </p:childTnLst>
                                </p:cTn>
                              </p:par>
                              <p:par>
                                <p:cTn id="36" presetID="10" presetClass="entr" presetSubtype="0" fill="hold" nodeType="withEffect">
                                  <p:stCondLst>
                                    <p:cond delay="0"/>
                                  </p:stCondLst>
                                  <p:childTnLst>
                                    <p:set>
                                      <p:cBhvr>
                                        <p:cTn id="37" dur="1" fill="hold">
                                          <p:stCondLst>
                                            <p:cond delay="0"/>
                                          </p:stCondLst>
                                        </p:cTn>
                                        <p:tgtEl>
                                          <p:spTgt spid="436"/>
                                        </p:tgtEl>
                                        <p:attrNameLst>
                                          <p:attrName>style.visibility</p:attrName>
                                        </p:attrNameLst>
                                      </p:cBhvr>
                                      <p:to>
                                        <p:strVal val="visible"/>
                                      </p:to>
                                    </p:set>
                                    <p:animEffect transition="in" filter="fade">
                                      <p:cBhvr>
                                        <p:cTn id="38" dur="500"/>
                                        <p:tgtEl>
                                          <p:spTgt spid="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2"/>
          <p:cNvSpPr txBox="1"/>
          <p:nvPr/>
        </p:nvSpPr>
        <p:spPr>
          <a:xfrm>
            <a:off x="838200" y="493274"/>
            <a:ext cx="10515600" cy="499456"/>
          </a:xfrm>
          <a:prstGeom prst="rect">
            <a:avLst/>
          </a:prstGeom>
          <a:noFill/>
          <a:ln>
            <a:noFill/>
          </a:ln>
        </p:spPr>
        <p:txBody>
          <a:bodyPr spcFirstLastPara="1" wrap="square" lIns="91425" tIns="45700" rIns="91425" bIns="45700" anchor="b" anchorCtr="0">
            <a:normAutofit fontScale="62500" lnSpcReduction="20000"/>
          </a:bodyPr>
          <a:lstStyle/>
          <a:p>
            <a:pPr marL="0" marR="0" lvl="0" indent="0" algn="ctr" rtl="0">
              <a:lnSpc>
                <a:spcPct val="90000"/>
              </a:lnSpc>
              <a:spcBef>
                <a:spcPts val="0"/>
              </a:spcBef>
              <a:spcAft>
                <a:spcPts val="0"/>
              </a:spcAft>
              <a:buClr>
                <a:schemeClr val="accent2"/>
              </a:buClr>
              <a:buSzPct val="100000"/>
              <a:buFont typeface="Century Gothic"/>
              <a:buNone/>
            </a:pPr>
            <a:r>
              <a:rPr lang="en-US" sz="6000" b="0" i="0" u="none" strike="noStrike" cap="none">
                <a:solidFill>
                  <a:schemeClr val="accent2"/>
                </a:solidFill>
                <a:latin typeface="Century Gothic"/>
                <a:ea typeface="Century Gothic"/>
                <a:cs typeface="Century Gothic"/>
                <a:sym typeface="Century Gothic"/>
              </a:rPr>
              <a:t>Table of </a:t>
            </a:r>
            <a:r>
              <a:rPr lang="en-US" sz="6000" b="0" i="0" u="none" strike="noStrike" cap="none">
                <a:solidFill>
                  <a:schemeClr val="dk2"/>
                </a:solidFill>
                <a:latin typeface="Century Gothic"/>
                <a:ea typeface="Century Gothic"/>
                <a:cs typeface="Century Gothic"/>
                <a:sym typeface="Century Gothic"/>
              </a:rPr>
              <a:t>Content</a:t>
            </a:r>
            <a:endParaRPr sz="6000" b="0" i="0" u="none" strike="noStrike" cap="none">
              <a:solidFill>
                <a:schemeClr val="dk1"/>
              </a:solidFill>
              <a:latin typeface="Century Gothic"/>
              <a:ea typeface="Century Gothic"/>
              <a:cs typeface="Century Gothic"/>
              <a:sym typeface="Century Gothic"/>
            </a:endParaRPr>
          </a:p>
        </p:txBody>
      </p:sp>
      <p:grpSp>
        <p:nvGrpSpPr>
          <p:cNvPr id="443" name="Google Shape;443;p2"/>
          <p:cNvGrpSpPr/>
          <p:nvPr/>
        </p:nvGrpSpPr>
        <p:grpSpPr>
          <a:xfrm>
            <a:off x="318388" y="2711893"/>
            <a:ext cx="10021076" cy="2226488"/>
            <a:chOff x="351932" y="4774717"/>
            <a:chExt cx="10021076" cy="2226488"/>
          </a:xfrm>
        </p:grpSpPr>
        <p:sp>
          <p:nvSpPr>
            <p:cNvPr id="444" name="Google Shape;444;p2"/>
            <p:cNvSpPr/>
            <p:nvPr/>
          </p:nvSpPr>
          <p:spPr>
            <a:xfrm>
              <a:off x="5447570" y="6447207"/>
              <a:ext cx="397866" cy="553998"/>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entury Gothic"/>
                <a:buNone/>
              </a:pPr>
              <a:r>
                <a:rPr lang="en-US" sz="3000" b="0" i="0" u="none" strike="noStrike" cap="none">
                  <a:solidFill>
                    <a:srgbClr val="FFFFFF"/>
                  </a:solidFill>
                  <a:latin typeface="Century Gothic"/>
                  <a:ea typeface="Century Gothic"/>
                  <a:cs typeface="Century Gothic"/>
                  <a:sym typeface="Century Gothic"/>
                </a:rPr>
                <a:t>3</a:t>
              </a:r>
              <a:endParaRPr/>
            </a:p>
          </p:txBody>
        </p:sp>
        <p:sp>
          <p:nvSpPr>
            <p:cNvPr id="445" name="Google Shape;445;p2"/>
            <p:cNvSpPr/>
            <p:nvPr/>
          </p:nvSpPr>
          <p:spPr>
            <a:xfrm>
              <a:off x="6351747" y="5147216"/>
              <a:ext cx="397866" cy="553998"/>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entury Gothic"/>
                <a:buNone/>
              </a:pPr>
              <a:r>
                <a:rPr lang="en-US" sz="3000" b="0" i="0" u="none" strike="noStrike" cap="none">
                  <a:solidFill>
                    <a:srgbClr val="FFFFFF"/>
                  </a:solidFill>
                  <a:latin typeface="Century Gothic"/>
                  <a:ea typeface="Century Gothic"/>
                  <a:cs typeface="Century Gothic"/>
                  <a:sym typeface="Century Gothic"/>
                </a:rPr>
                <a:t>2</a:t>
              </a:r>
              <a:endParaRPr/>
            </a:p>
          </p:txBody>
        </p:sp>
        <p:sp>
          <p:nvSpPr>
            <p:cNvPr id="446" name="Google Shape;446;p2"/>
            <p:cNvSpPr txBox="1"/>
            <p:nvPr/>
          </p:nvSpPr>
          <p:spPr>
            <a:xfrm>
              <a:off x="6627595" y="4774717"/>
              <a:ext cx="374541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entury Gothic"/>
                <a:buNone/>
              </a:pPr>
              <a:r>
                <a:rPr lang="en-US" sz="1800" b="1" i="0" u="none" strike="noStrike" cap="none">
                  <a:solidFill>
                    <a:srgbClr val="000000"/>
                  </a:solidFill>
                  <a:latin typeface="Century Gothic"/>
                  <a:ea typeface="Century Gothic"/>
                  <a:cs typeface="Century Gothic"/>
                  <a:sym typeface="Century Gothic"/>
                </a:rPr>
                <a:t>Summary Data, Intro to Data</a:t>
              </a:r>
              <a:endParaRPr/>
            </a:p>
          </p:txBody>
        </p:sp>
        <p:sp>
          <p:nvSpPr>
            <p:cNvPr id="447" name="Google Shape;447;p2"/>
            <p:cNvSpPr txBox="1"/>
            <p:nvPr/>
          </p:nvSpPr>
          <p:spPr>
            <a:xfrm>
              <a:off x="351932" y="6179331"/>
              <a:ext cx="508858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entury Gothic"/>
                <a:buNone/>
              </a:pPr>
              <a:r>
                <a:rPr lang="en-US" sz="1800" b="1" i="0" u="none" strike="noStrike" cap="none">
                  <a:solidFill>
                    <a:srgbClr val="000000"/>
                  </a:solidFill>
                  <a:latin typeface="Century Gothic"/>
                  <a:ea typeface="Century Gothic"/>
                  <a:cs typeface="Century Gothic"/>
                  <a:sym typeface="Century Gothic"/>
                </a:rPr>
                <a:t>Advance Analysis and Feature Building (might be explained churns characteristics</a:t>
              </a:r>
              <a:endParaRPr sz="1800" b="1" i="0" u="none" strike="noStrike" cap="none">
                <a:solidFill>
                  <a:srgbClr val="000000"/>
                </a:solidFill>
                <a:latin typeface="Century Gothic"/>
                <a:ea typeface="Century Gothic"/>
                <a:cs typeface="Century Gothic"/>
                <a:sym typeface="Century Gothic"/>
              </a:endParaRPr>
            </a:p>
          </p:txBody>
        </p:sp>
      </p:grpSp>
      <p:sp>
        <p:nvSpPr>
          <p:cNvPr id="448" name="Google Shape;448;p2"/>
          <p:cNvSpPr/>
          <p:nvPr/>
        </p:nvSpPr>
        <p:spPr>
          <a:xfrm>
            <a:off x="5796406" y="1400537"/>
            <a:ext cx="548640" cy="5486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entury Gothic"/>
              <a:ea typeface="Century Gothic"/>
              <a:cs typeface="Century Gothic"/>
              <a:sym typeface="Century Gothic"/>
            </a:endParaRPr>
          </a:p>
        </p:txBody>
      </p:sp>
      <p:pic>
        <p:nvPicPr>
          <p:cNvPr id="449" name="Google Shape;449;p2" descr="A picture containing food, cake&#10;&#10;Description automatically generated"/>
          <p:cNvPicPr preferRelativeResize="0"/>
          <p:nvPr/>
        </p:nvPicPr>
        <p:blipFill rotWithShape="1">
          <a:blip r:embed="rId3">
            <a:alphaModFix/>
          </a:blip>
          <a:srcRect/>
          <a:stretch/>
        </p:blipFill>
        <p:spPr>
          <a:xfrm>
            <a:off x="1138991" y="1908971"/>
            <a:ext cx="4697867" cy="1982613"/>
          </a:xfrm>
          <a:custGeom>
            <a:avLst/>
            <a:gdLst/>
            <a:ahLst/>
            <a:cxnLst/>
            <a:rect l="l" t="t" r="r" b="b"/>
            <a:pathLst>
              <a:path w="4697867" h="1982613" extrusionOk="0">
                <a:moveTo>
                  <a:pt x="0" y="0"/>
                </a:moveTo>
                <a:lnTo>
                  <a:pt x="4697867" y="0"/>
                </a:lnTo>
                <a:lnTo>
                  <a:pt x="4697867" y="1982613"/>
                </a:lnTo>
                <a:lnTo>
                  <a:pt x="0" y="1982613"/>
                </a:lnTo>
                <a:close/>
              </a:path>
            </a:pathLst>
          </a:custGeom>
          <a:noFill/>
          <a:ln>
            <a:noFill/>
          </a:ln>
        </p:spPr>
      </p:pic>
      <p:pic>
        <p:nvPicPr>
          <p:cNvPr id="450" name="Google Shape;450;p2"/>
          <p:cNvPicPr preferRelativeResize="0"/>
          <p:nvPr/>
        </p:nvPicPr>
        <p:blipFill rotWithShape="1">
          <a:blip r:embed="rId4">
            <a:alphaModFix/>
          </a:blip>
          <a:srcRect/>
          <a:stretch/>
        </p:blipFill>
        <p:spPr>
          <a:xfrm>
            <a:off x="6345046" y="4178342"/>
            <a:ext cx="4697867" cy="1982613"/>
          </a:xfrm>
          <a:custGeom>
            <a:avLst/>
            <a:gdLst/>
            <a:ahLst/>
            <a:cxnLst/>
            <a:rect l="l" t="t" r="r" b="b"/>
            <a:pathLst>
              <a:path w="4697867" h="1982613" extrusionOk="0">
                <a:moveTo>
                  <a:pt x="0" y="0"/>
                </a:moveTo>
                <a:lnTo>
                  <a:pt x="4697867" y="0"/>
                </a:lnTo>
                <a:lnTo>
                  <a:pt x="4697867" y="1982613"/>
                </a:lnTo>
                <a:lnTo>
                  <a:pt x="0" y="1982613"/>
                </a:lnTo>
                <a:close/>
              </a:path>
            </a:pathLst>
          </a:custGeom>
          <a:noFill/>
          <a:ln>
            <a:noFill/>
          </a:ln>
        </p:spPr>
      </p:pic>
      <p:sp>
        <p:nvSpPr>
          <p:cNvPr id="451" name="Google Shape;451;p2"/>
          <p:cNvSpPr txBox="1"/>
          <p:nvPr/>
        </p:nvSpPr>
        <p:spPr>
          <a:xfrm>
            <a:off x="6569994" y="2024076"/>
            <a:ext cx="374541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entury Gothic"/>
              <a:buNone/>
            </a:pPr>
            <a:r>
              <a:rPr lang="en-US" sz="1800" b="1" i="0" u="none" strike="noStrike" cap="none" dirty="0">
                <a:solidFill>
                  <a:srgbClr val="000000"/>
                </a:solidFill>
                <a:latin typeface="Century Gothic"/>
                <a:ea typeface="Century Gothic"/>
                <a:cs typeface="Century Gothic"/>
                <a:sym typeface="Century Gothic"/>
              </a:rPr>
              <a:t>Objective</a:t>
            </a:r>
            <a:endParaRPr dirty="0"/>
          </a:p>
        </p:txBody>
      </p:sp>
      <p:sp>
        <p:nvSpPr>
          <p:cNvPr id="452" name="Google Shape;452;p2"/>
          <p:cNvSpPr/>
          <p:nvPr/>
        </p:nvSpPr>
        <p:spPr>
          <a:xfrm>
            <a:off x="6029994" y="1995363"/>
            <a:ext cx="540000" cy="540000"/>
          </a:xfrm>
          <a:prstGeom prst="roundRect">
            <a:avLst>
              <a:gd name="adj" fmla="val 16667"/>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rgbClr val="FFFFFF"/>
                </a:solidFill>
                <a:latin typeface="Century Gothic"/>
                <a:ea typeface="Century Gothic"/>
                <a:cs typeface="Century Gothic"/>
                <a:sym typeface="Century Gothic"/>
              </a:rPr>
              <a:t>1</a:t>
            </a:r>
            <a:endParaRPr/>
          </a:p>
        </p:txBody>
      </p:sp>
      <p:sp>
        <p:nvSpPr>
          <p:cNvPr id="453" name="Google Shape;453;p2"/>
          <p:cNvSpPr/>
          <p:nvPr/>
        </p:nvSpPr>
        <p:spPr>
          <a:xfrm>
            <a:off x="5425271" y="5502864"/>
            <a:ext cx="397866" cy="553998"/>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entury Gothic"/>
              <a:buNone/>
            </a:pPr>
            <a:r>
              <a:rPr lang="en-US" sz="3000" b="0" i="0" u="none" strike="noStrike" cap="none">
                <a:solidFill>
                  <a:srgbClr val="FFFFFF"/>
                </a:solidFill>
                <a:latin typeface="Century Gothic"/>
                <a:ea typeface="Century Gothic"/>
                <a:cs typeface="Century Gothic"/>
                <a:sym typeface="Century Gothic"/>
              </a:rPr>
              <a:t>4</a:t>
            </a:r>
            <a:endParaRPr/>
          </a:p>
        </p:txBody>
      </p:sp>
      <p:sp>
        <p:nvSpPr>
          <p:cNvPr id="454" name="Google Shape;454;p2"/>
          <p:cNvSpPr txBox="1"/>
          <p:nvPr/>
        </p:nvSpPr>
        <p:spPr>
          <a:xfrm>
            <a:off x="3927070" y="4928108"/>
            <a:ext cx="205146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entury Gothic"/>
              <a:buNone/>
            </a:pPr>
            <a:r>
              <a:rPr lang="en-US" sz="1800" b="1" i="0" u="none" strike="noStrike" cap="none">
                <a:solidFill>
                  <a:srgbClr val="000000"/>
                </a:solidFill>
                <a:latin typeface="Century Gothic"/>
                <a:ea typeface="Century Gothic"/>
                <a:cs typeface="Century Gothic"/>
                <a:sym typeface="Century Gothic"/>
              </a:rPr>
              <a:t>Modelling</a:t>
            </a:r>
            <a:endParaRPr/>
          </a:p>
        </p:txBody>
      </p:sp>
      <p:sp>
        <p:nvSpPr>
          <p:cNvPr id="455" name="Google Shape;455;p2"/>
          <p:cNvSpPr/>
          <p:nvPr/>
        </p:nvSpPr>
        <p:spPr>
          <a:xfrm>
            <a:off x="6048186" y="2614149"/>
            <a:ext cx="540000" cy="540000"/>
          </a:xfrm>
          <a:prstGeom prst="roundRect">
            <a:avLst>
              <a:gd name="adj" fmla="val 16667"/>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rgbClr val="FFFFFF"/>
                </a:solidFill>
                <a:latin typeface="Century Gothic"/>
                <a:ea typeface="Century Gothic"/>
                <a:cs typeface="Century Gothic"/>
                <a:sym typeface="Century Gothic"/>
              </a:rPr>
              <a:t>2</a:t>
            </a:r>
            <a:endParaRPr/>
          </a:p>
        </p:txBody>
      </p:sp>
      <p:sp>
        <p:nvSpPr>
          <p:cNvPr id="456" name="Google Shape;456;p2"/>
          <p:cNvSpPr/>
          <p:nvPr/>
        </p:nvSpPr>
        <p:spPr>
          <a:xfrm>
            <a:off x="6054051" y="3243783"/>
            <a:ext cx="540000" cy="540000"/>
          </a:xfrm>
          <a:prstGeom prst="roundRect">
            <a:avLst>
              <a:gd name="adj" fmla="val 16667"/>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rgbClr val="FFFFFF"/>
                </a:solidFill>
                <a:latin typeface="Century Gothic"/>
                <a:ea typeface="Century Gothic"/>
                <a:cs typeface="Century Gothic"/>
                <a:sym typeface="Century Gothic"/>
              </a:rPr>
              <a:t>3</a:t>
            </a:r>
            <a:endParaRPr/>
          </a:p>
        </p:txBody>
      </p:sp>
      <p:sp>
        <p:nvSpPr>
          <p:cNvPr id="457" name="Google Shape;457;p2"/>
          <p:cNvSpPr txBox="1"/>
          <p:nvPr/>
        </p:nvSpPr>
        <p:spPr>
          <a:xfrm>
            <a:off x="6594051" y="3358292"/>
            <a:ext cx="374541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entury Gothic"/>
              <a:buNone/>
            </a:pPr>
            <a:r>
              <a:rPr lang="en-US" sz="1800" b="1" i="0" u="none" strike="noStrike" cap="none">
                <a:solidFill>
                  <a:srgbClr val="000000"/>
                </a:solidFill>
                <a:latin typeface="Century Gothic"/>
                <a:ea typeface="Century Gothic"/>
                <a:cs typeface="Century Gothic"/>
                <a:sym typeface="Century Gothic"/>
              </a:rPr>
              <a:t>Initial Analysis</a:t>
            </a:r>
            <a:endParaRPr/>
          </a:p>
        </p:txBody>
      </p:sp>
      <p:sp>
        <p:nvSpPr>
          <p:cNvPr id="458" name="Google Shape;458;p2"/>
          <p:cNvSpPr/>
          <p:nvPr/>
        </p:nvSpPr>
        <p:spPr>
          <a:xfrm>
            <a:off x="5428134" y="4192957"/>
            <a:ext cx="540000" cy="5400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rgbClr val="FFFFFF"/>
                </a:solidFill>
                <a:latin typeface="Century Gothic"/>
                <a:ea typeface="Century Gothic"/>
                <a:cs typeface="Century Gothic"/>
                <a:sym typeface="Century Gothic"/>
              </a:rPr>
              <a:t>4</a:t>
            </a:r>
            <a:endParaRPr/>
          </a:p>
        </p:txBody>
      </p:sp>
      <p:sp>
        <p:nvSpPr>
          <p:cNvPr id="459" name="Google Shape;459;p2"/>
          <p:cNvSpPr/>
          <p:nvPr/>
        </p:nvSpPr>
        <p:spPr>
          <a:xfrm>
            <a:off x="5438532" y="4860461"/>
            <a:ext cx="540000" cy="5400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rgbClr val="FFFFFF"/>
                </a:solidFill>
                <a:latin typeface="Century Gothic"/>
                <a:ea typeface="Century Gothic"/>
                <a:cs typeface="Century Gothic"/>
                <a:sym typeface="Century Gothic"/>
              </a:rPr>
              <a:t>5</a:t>
            </a:r>
            <a:endParaRPr/>
          </a:p>
        </p:txBody>
      </p:sp>
      <p:sp>
        <p:nvSpPr>
          <p:cNvPr id="460" name="Google Shape;460;p2"/>
          <p:cNvSpPr/>
          <p:nvPr/>
        </p:nvSpPr>
        <p:spPr>
          <a:xfrm>
            <a:off x="5438532" y="5565731"/>
            <a:ext cx="540000" cy="5400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rgbClr val="FFFFFF"/>
                </a:solidFill>
                <a:latin typeface="Century Gothic"/>
                <a:ea typeface="Century Gothic"/>
                <a:cs typeface="Century Gothic"/>
                <a:sym typeface="Century Gothic"/>
              </a:rPr>
              <a:t>6</a:t>
            </a:r>
            <a:endParaRPr/>
          </a:p>
        </p:txBody>
      </p:sp>
      <p:sp>
        <p:nvSpPr>
          <p:cNvPr id="461" name="Google Shape;461;p2"/>
          <p:cNvSpPr txBox="1"/>
          <p:nvPr/>
        </p:nvSpPr>
        <p:spPr>
          <a:xfrm>
            <a:off x="1149087" y="5687571"/>
            <a:ext cx="425788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entury Gothic"/>
              <a:buNone/>
            </a:pPr>
            <a:r>
              <a:rPr lang="en-US" sz="1800" b="1" i="0" u="none" strike="noStrike" cap="none" dirty="0">
                <a:solidFill>
                  <a:srgbClr val="000000"/>
                </a:solidFill>
                <a:latin typeface="Century Gothic"/>
                <a:ea typeface="Century Gothic"/>
                <a:cs typeface="Century Gothic"/>
                <a:sym typeface="Century Gothic"/>
              </a:rPr>
              <a:t>Conclusions and Recommendations</a:t>
            </a:r>
            <a:endParaRPr dirty="0"/>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3"/>
          <p:cNvSpPr/>
          <p:nvPr/>
        </p:nvSpPr>
        <p:spPr>
          <a:xfrm>
            <a:off x="0" y="0"/>
            <a:ext cx="4383314" cy="6858000"/>
          </a:xfrm>
          <a:prstGeom prst="rect">
            <a:avLst/>
          </a:prstGeom>
          <a:solidFill>
            <a:srgbClr val="3E41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0000"/>
              </a:solidFill>
              <a:latin typeface="Calibri"/>
              <a:ea typeface="Calibri"/>
              <a:cs typeface="Calibri"/>
              <a:sym typeface="Calibri"/>
            </a:endParaRPr>
          </a:p>
        </p:txBody>
      </p:sp>
      <p:sp>
        <p:nvSpPr>
          <p:cNvPr id="468" name="Google Shape;468;p3"/>
          <p:cNvSpPr txBox="1"/>
          <p:nvPr/>
        </p:nvSpPr>
        <p:spPr>
          <a:xfrm>
            <a:off x="-83054" y="2537450"/>
            <a:ext cx="4368800"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chemeClr val="lt1"/>
                </a:solidFill>
                <a:latin typeface="Century Gothic"/>
                <a:ea typeface="Century Gothic"/>
                <a:cs typeface="Century Gothic"/>
                <a:sym typeface="Century Gothic"/>
              </a:rPr>
              <a:t>Objective</a:t>
            </a:r>
            <a:endParaRPr/>
          </a:p>
        </p:txBody>
      </p:sp>
      <p:sp>
        <p:nvSpPr>
          <p:cNvPr id="469" name="Google Shape;469;p3"/>
          <p:cNvSpPr/>
          <p:nvPr/>
        </p:nvSpPr>
        <p:spPr>
          <a:xfrm>
            <a:off x="4383314" y="-9713"/>
            <a:ext cx="7808686"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p3"/>
          <p:cNvSpPr/>
          <p:nvPr/>
        </p:nvSpPr>
        <p:spPr>
          <a:xfrm rot="10800000" flipH="1">
            <a:off x="4905291" y="1993955"/>
            <a:ext cx="2351313" cy="2568338"/>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D7141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p3"/>
          <p:cNvSpPr/>
          <p:nvPr/>
        </p:nvSpPr>
        <p:spPr>
          <a:xfrm rot="10800000" flipH="1">
            <a:off x="9578894" y="1980720"/>
            <a:ext cx="2351313" cy="2568338"/>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2" name="Google Shape;472;p3"/>
          <p:cNvGrpSpPr/>
          <p:nvPr/>
        </p:nvGrpSpPr>
        <p:grpSpPr>
          <a:xfrm>
            <a:off x="6042476" y="309601"/>
            <a:ext cx="2315938" cy="5312578"/>
            <a:chOff x="6042476" y="309601"/>
            <a:chExt cx="2315938" cy="5312578"/>
          </a:xfrm>
        </p:grpSpPr>
        <p:sp>
          <p:nvSpPr>
            <p:cNvPr id="473" name="Google Shape;473;p3"/>
            <p:cNvSpPr/>
            <p:nvPr/>
          </p:nvSpPr>
          <p:spPr>
            <a:xfrm rot="10800000" flipH="1">
              <a:off x="7952014" y="309601"/>
              <a:ext cx="406400" cy="435777"/>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87AE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p3"/>
            <p:cNvSpPr/>
            <p:nvPr/>
          </p:nvSpPr>
          <p:spPr>
            <a:xfrm rot="10800000" flipH="1">
              <a:off x="6042476" y="5186753"/>
              <a:ext cx="385538" cy="435426"/>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4DABC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grpSp>
        <p:nvGrpSpPr>
          <p:cNvPr id="475" name="Google Shape;475;p3"/>
          <p:cNvGrpSpPr/>
          <p:nvPr/>
        </p:nvGrpSpPr>
        <p:grpSpPr>
          <a:xfrm>
            <a:off x="5056952" y="1064692"/>
            <a:ext cx="6546350" cy="4350905"/>
            <a:chOff x="5191376" y="1882501"/>
            <a:chExt cx="6546350" cy="4350905"/>
          </a:xfrm>
        </p:grpSpPr>
        <p:grpSp>
          <p:nvGrpSpPr>
            <p:cNvPr id="476" name="Google Shape;476;p3"/>
            <p:cNvGrpSpPr/>
            <p:nvPr/>
          </p:nvGrpSpPr>
          <p:grpSpPr>
            <a:xfrm>
              <a:off x="5272885" y="1980720"/>
              <a:ext cx="6464841" cy="4252686"/>
              <a:chOff x="4667618" y="827314"/>
              <a:chExt cx="6464841" cy="4252686"/>
            </a:xfrm>
          </p:grpSpPr>
          <p:sp>
            <p:nvSpPr>
              <p:cNvPr id="477" name="Google Shape;477;p3"/>
              <p:cNvSpPr/>
              <p:nvPr/>
            </p:nvSpPr>
            <p:spPr>
              <a:xfrm rot="10800000" flipH="1">
                <a:off x="4667618" y="1207246"/>
                <a:ext cx="2604039" cy="3466353"/>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8" name="Google Shape;478;p3"/>
              <p:cNvSpPr/>
              <p:nvPr/>
            </p:nvSpPr>
            <p:spPr>
              <a:xfrm rot="10800000" flipH="1">
                <a:off x="6373049" y="1030514"/>
                <a:ext cx="2770952" cy="3831772"/>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9" name="Google Shape;479;p3"/>
              <p:cNvSpPr/>
              <p:nvPr/>
            </p:nvSpPr>
            <p:spPr>
              <a:xfrm rot="10800000" flipH="1">
                <a:off x="8165565" y="827314"/>
                <a:ext cx="2966894" cy="4252686"/>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480" name="Google Shape;480;p3"/>
            <p:cNvSpPr/>
            <p:nvPr/>
          </p:nvSpPr>
          <p:spPr>
            <a:xfrm rot="10800000" flipH="1">
              <a:off x="5191376" y="1882501"/>
              <a:ext cx="6464841" cy="4252686"/>
            </a:xfrm>
            <a:custGeom>
              <a:avLst/>
              <a:gdLst/>
              <a:ahLst/>
              <a:cxnLst/>
              <a:rect l="l" t="t" r="r" b="b"/>
              <a:pathLst>
                <a:path w="6464841" h="4252686" extrusionOk="0">
                  <a:moveTo>
                    <a:pt x="0" y="3872754"/>
                  </a:moveTo>
                  <a:lnTo>
                    <a:pt x="1738482" y="3872754"/>
                  </a:lnTo>
                  <a:lnTo>
                    <a:pt x="2604039" y="2139578"/>
                  </a:lnTo>
                  <a:lnTo>
                    <a:pt x="1738482" y="406401"/>
                  </a:lnTo>
                  <a:lnTo>
                    <a:pt x="0" y="406401"/>
                  </a:lnTo>
                  <a:lnTo>
                    <a:pt x="865558" y="2139578"/>
                  </a:lnTo>
                  <a:close/>
                  <a:moveTo>
                    <a:pt x="1705431" y="4049486"/>
                  </a:moveTo>
                  <a:lnTo>
                    <a:pt x="3555345" y="4049486"/>
                  </a:lnTo>
                  <a:lnTo>
                    <a:pt x="4476383" y="2133600"/>
                  </a:lnTo>
                  <a:lnTo>
                    <a:pt x="3555345" y="217714"/>
                  </a:lnTo>
                  <a:lnTo>
                    <a:pt x="1705431" y="217714"/>
                  </a:lnTo>
                  <a:lnTo>
                    <a:pt x="2626469" y="2133600"/>
                  </a:lnTo>
                  <a:close/>
                  <a:moveTo>
                    <a:pt x="3497947" y="4252686"/>
                  </a:moveTo>
                  <a:lnTo>
                    <a:pt x="5478674" y="4252686"/>
                  </a:lnTo>
                  <a:lnTo>
                    <a:pt x="6464841" y="2126343"/>
                  </a:lnTo>
                  <a:lnTo>
                    <a:pt x="5478674" y="0"/>
                  </a:lnTo>
                  <a:lnTo>
                    <a:pt x="3497947" y="0"/>
                  </a:lnTo>
                  <a:lnTo>
                    <a:pt x="4484114" y="2126343"/>
                  </a:lnTo>
                  <a:close/>
                </a:path>
              </a:pathLst>
            </a:custGeom>
            <a:blipFill rotWithShape="1">
              <a:blip r:embed="rId5">
                <a:alphaModFix amt="25000"/>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8"/>
                                        </p:tgtEl>
                                        <p:attrNameLst>
                                          <p:attrName>style.visibility</p:attrName>
                                        </p:attrNameLst>
                                      </p:cBhvr>
                                      <p:to>
                                        <p:strVal val="visible"/>
                                      </p:to>
                                    </p:set>
                                    <p:animEffect transition="in" filter="fade">
                                      <p:cBhvr>
                                        <p:cTn id="7" dur="500"/>
                                        <p:tgtEl>
                                          <p:spTgt spid="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4"/>
          <p:cNvSpPr/>
          <p:nvPr/>
        </p:nvSpPr>
        <p:spPr>
          <a:xfrm>
            <a:off x="125505" y="85888"/>
            <a:ext cx="9346463"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i="0" u="none" strike="noStrike" cap="none" dirty="0">
                <a:solidFill>
                  <a:srgbClr val="FF0000"/>
                </a:solidFill>
                <a:latin typeface="Century Gothic"/>
                <a:ea typeface="Century Gothic"/>
                <a:cs typeface="Century Gothic"/>
                <a:sym typeface="Century Gothic"/>
              </a:rPr>
              <a:t>Preamble</a:t>
            </a:r>
            <a:endParaRPr sz="1600" b="1" dirty="0">
              <a:solidFill>
                <a:srgbClr val="FF0000"/>
              </a:solidFill>
              <a:latin typeface="Calibri"/>
              <a:ea typeface="Calibri"/>
              <a:cs typeface="Calibri"/>
              <a:sym typeface="Calibri"/>
            </a:endParaRPr>
          </a:p>
        </p:txBody>
      </p:sp>
      <p:sp>
        <p:nvSpPr>
          <p:cNvPr id="487" name="Google Shape;487;p4"/>
          <p:cNvSpPr/>
          <p:nvPr/>
        </p:nvSpPr>
        <p:spPr>
          <a:xfrm>
            <a:off x="665356" y="2243809"/>
            <a:ext cx="1167307"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a:solidFill>
                  <a:schemeClr val="dk1"/>
                </a:solidFill>
                <a:latin typeface="Century Gothic"/>
                <a:ea typeface="Century Gothic"/>
                <a:cs typeface="Century Gothic"/>
                <a:sym typeface="Century Gothic"/>
              </a:rPr>
              <a:t>Objective</a:t>
            </a:r>
            <a:endParaRPr/>
          </a:p>
        </p:txBody>
      </p:sp>
      <p:grpSp>
        <p:nvGrpSpPr>
          <p:cNvPr id="488" name="Google Shape;488;p4"/>
          <p:cNvGrpSpPr/>
          <p:nvPr/>
        </p:nvGrpSpPr>
        <p:grpSpPr>
          <a:xfrm>
            <a:off x="3640641" y="2243868"/>
            <a:ext cx="7886003" cy="357652"/>
            <a:chOff x="766842" y="705064"/>
            <a:chExt cx="5130786" cy="522449"/>
          </a:xfrm>
          <a:solidFill>
            <a:srgbClr val="FF0000"/>
          </a:solidFill>
        </p:grpSpPr>
        <p:sp>
          <p:nvSpPr>
            <p:cNvPr id="489" name="Google Shape;489;p4"/>
            <p:cNvSpPr/>
            <p:nvPr/>
          </p:nvSpPr>
          <p:spPr>
            <a:xfrm>
              <a:off x="766842" y="705065"/>
              <a:ext cx="5130786" cy="522448"/>
            </a:xfrm>
            <a:prstGeom prst="rect">
              <a:avLst/>
            </a:pr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entury Gothic"/>
                <a:ea typeface="Century Gothic"/>
                <a:cs typeface="Century Gothic"/>
                <a:sym typeface="Century Gothic"/>
              </a:endParaRPr>
            </a:p>
          </p:txBody>
        </p:sp>
        <p:sp>
          <p:nvSpPr>
            <p:cNvPr id="490" name="Google Shape;490;p4"/>
            <p:cNvSpPr/>
            <p:nvPr/>
          </p:nvSpPr>
          <p:spPr>
            <a:xfrm>
              <a:off x="2149823" y="705064"/>
              <a:ext cx="2364824" cy="522448"/>
            </a:xfrm>
            <a:prstGeom prst="rect">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a:solidFill>
                    <a:schemeClr val="lt1"/>
                  </a:solidFill>
                  <a:latin typeface="Century Gothic"/>
                  <a:ea typeface="Century Gothic"/>
                  <a:cs typeface="Century Gothic"/>
                  <a:sym typeface="Century Gothic"/>
                </a:rPr>
                <a:t>Descriptions</a:t>
              </a:r>
              <a:endParaRPr/>
            </a:p>
          </p:txBody>
        </p:sp>
      </p:grpSp>
      <p:grpSp>
        <p:nvGrpSpPr>
          <p:cNvPr id="491" name="Google Shape;491;p4"/>
          <p:cNvGrpSpPr/>
          <p:nvPr/>
        </p:nvGrpSpPr>
        <p:grpSpPr>
          <a:xfrm>
            <a:off x="665912" y="2639275"/>
            <a:ext cx="10004884" cy="523219"/>
            <a:chOff x="255995" y="1561617"/>
            <a:chExt cx="10004884" cy="646331"/>
          </a:xfrm>
        </p:grpSpPr>
        <p:sp>
          <p:nvSpPr>
            <p:cNvPr id="492" name="Google Shape;492;p4"/>
            <p:cNvSpPr txBox="1"/>
            <p:nvPr/>
          </p:nvSpPr>
          <p:spPr>
            <a:xfrm>
              <a:off x="255995" y="1561617"/>
              <a:ext cx="2975008" cy="646331"/>
            </a:xfrm>
            <a:prstGeom prst="rect">
              <a:avLst/>
            </a:pr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b="1">
                <a:solidFill>
                  <a:schemeClr val="dk1"/>
                </a:solidFill>
                <a:latin typeface="Century Gothic"/>
                <a:ea typeface="Century Gothic"/>
                <a:cs typeface="Century Gothic"/>
                <a:sym typeface="Century Gothic"/>
              </a:endParaRPr>
            </a:p>
          </p:txBody>
        </p:sp>
        <p:sp>
          <p:nvSpPr>
            <p:cNvPr id="493" name="Google Shape;493;p4"/>
            <p:cNvSpPr txBox="1"/>
            <p:nvPr/>
          </p:nvSpPr>
          <p:spPr>
            <a:xfrm>
              <a:off x="256273" y="1727222"/>
              <a:ext cx="1178528" cy="3231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Reduce Churn</a:t>
              </a:r>
              <a:endParaRPr dirty="0"/>
            </a:p>
          </p:txBody>
        </p:sp>
        <p:sp>
          <p:nvSpPr>
            <p:cNvPr id="494" name="Google Shape;494;p4"/>
            <p:cNvSpPr/>
            <p:nvPr/>
          </p:nvSpPr>
          <p:spPr>
            <a:xfrm>
              <a:off x="3231281" y="1561617"/>
              <a:ext cx="7029598" cy="532274"/>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100"/>
                <a:buFont typeface="Arial"/>
                <a:buChar char="•"/>
              </a:pPr>
              <a:r>
                <a:rPr lang="en-US" sz="1100" dirty="0">
                  <a:solidFill>
                    <a:schemeClr val="dk1"/>
                  </a:solidFill>
                  <a:latin typeface="Century Gothic"/>
                  <a:ea typeface="Century Gothic"/>
                  <a:cs typeface="Century Gothic"/>
                  <a:sym typeface="Century Gothic"/>
                </a:rPr>
                <a:t>Overall objective of analysis is to create recommendation and strategy to </a:t>
              </a:r>
              <a:r>
                <a:rPr lang="en-US" sz="1100" b="1" dirty="0">
                  <a:solidFill>
                    <a:schemeClr val="dk1"/>
                  </a:solidFill>
                  <a:latin typeface="Century Gothic"/>
                  <a:ea typeface="Century Gothic"/>
                  <a:cs typeface="Century Gothic"/>
                  <a:sym typeface="Century Gothic"/>
                </a:rPr>
                <a:t>reduce customer churn</a:t>
              </a:r>
              <a:r>
                <a:rPr lang="en-US" sz="1100" dirty="0">
                  <a:solidFill>
                    <a:schemeClr val="dk1"/>
                  </a:solidFill>
                  <a:latin typeface="Century Gothic"/>
                  <a:ea typeface="Century Gothic"/>
                  <a:cs typeface="Century Gothic"/>
                  <a:sym typeface="Century Gothic"/>
                </a:rPr>
                <a:t> and </a:t>
              </a:r>
              <a:r>
                <a:rPr lang="en-US" sz="1100" b="1" dirty="0">
                  <a:solidFill>
                    <a:schemeClr val="dk1"/>
                  </a:solidFill>
                  <a:latin typeface="Century Gothic"/>
                  <a:ea typeface="Century Gothic"/>
                  <a:cs typeface="Century Gothic"/>
                  <a:sym typeface="Century Gothic"/>
                </a:rPr>
                <a:t>summarize your analysis</a:t>
              </a:r>
              <a:r>
                <a:rPr lang="en-US" sz="1100" dirty="0">
                  <a:solidFill>
                    <a:schemeClr val="dk1"/>
                  </a:solidFill>
                  <a:latin typeface="Century Gothic"/>
                  <a:ea typeface="Century Gothic"/>
                  <a:cs typeface="Century Gothic"/>
                  <a:sym typeface="Century Gothic"/>
                </a:rPr>
                <a:t>.</a:t>
              </a:r>
              <a:endParaRPr dirty="0"/>
            </a:p>
          </p:txBody>
        </p:sp>
      </p:grpSp>
      <p:grpSp>
        <p:nvGrpSpPr>
          <p:cNvPr id="495" name="Google Shape;495;p4"/>
          <p:cNvGrpSpPr/>
          <p:nvPr/>
        </p:nvGrpSpPr>
        <p:grpSpPr>
          <a:xfrm>
            <a:off x="666468" y="3145745"/>
            <a:ext cx="10003771" cy="495984"/>
            <a:chOff x="255995" y="2398276"/>
            <a:chExt cx="10003771" cy="770954"/>
          </a:xfrm>
        </p:grpSpPr>
        <p:sp>
          <p:nvSpPr>
            <p:cNvPr id="496" name="Google Shape;496;p4"/>
            <p:cNvSpPr txBox="1"/>
            <p:nvPr/>
          </p:nvSpPr>
          <p:spPr>
            <a:xfrm>
              <a:off x="255995" y="2522899"/>
              <a:ext cx="2975008" cy="646331"/>
            </a:xfrm>
            <a:prstGeom prst="rect">
              <a:avLst/>
            </a:pr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entury Gothic"/>
                <a:ea typeface="Century Gothic"/>
                <a:cs typeface="Century Gothic"/>
                <a:sym typeface="Century Gothic"/>
              </a:endParaRPr>
            </a:p>
          </p:txBody>
        </p:sp>
        <p:sp>
          <p:nvSpPr>
            <p:cNvPr id="497" name="Google Shape;497;p4"/>
            <p:cNvSpPr txBox="1"/>
            <p:nvPr/>
          </p:nvSpPr>
          <p:spPr>
            <a:xfrm>
              <a:off x="256273" y="2661399"/>
              <a:ext cx="2225289" cy="4066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Century Gothic"/>
                  <a:ea typeface="Century Gothic"/>
                  <a:cs typeface="Century Gothic"/>
                  <a:sym typeface="Century Gothic"/>
                </a:rPr>
                <a:t>Understanding User Behaviour</a:t>
              </a:r>
              <a:endParaRPr/>
            </a:p>
          </p:txBody>
        </p:sp>
        <p:sp>
          <p:nvSpPr>
            <p:cNvPr id="498" name="Google Shape;498;p4"/>
            <p:cNvSpPr/>
            <p:nvPr/>
          </p:nvSpPr>
          <p:spPr>
            <a:xfrm>
              <a:off x="3230168" y="2398276"/>
              <a:ext cx="7029598" cy="669768"/>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100"/>
                <a:buFont typeface="Arial"/>
                <a:buChar char="•"/>
              </a:pPr>
              <a:r>
                <a:rPr lang="en-US" sz="1100" dirty="0">
                  <a:solidFill>
                    <a:schemeClr val="dk1"/>
                  </a:solidFill>
                  <a:latin typeface="Century Gothic"/>
                  <a:ea typeface="Century Gothic"/>
                  <a:cs typeface="Century Gothic"/>
                  <a:sym typeface="Century Gothic"/>
                </a:rPr>
                <a:t>We want to find out </a:t>
              </a:r>
              <a:r>
                <a:rPr lang="en-US" sz="1100" b="1" dirty="0" err="1">
                  <a:solidFill>
                    <a:schemeClr val="dk1"/>
                  </a:solidFill>
                  <a:latin typeface="Century Gothic"/>
                  <a:ea typeface="Century Gothic"/>
                  <a:cs typeface="Century Gothic"/>
                  <a:sym typeface="Century Gothic"/>
                </a:rPr>
                <a:t>behaviour</a:t>
              </a:r>
              <a:r>
                <a:rPr lang="en-US" sz="1100" dirty="0">
                  <a:solidFill>
                    <a:schemeClr val="dk1"/>
                  </a:solidFill>
                  <a:latin typeface="Century Gothic"/>
                  <a:ea typeface="Century Gothic"/>
                  <a:cs typeface="Century Gothic"/>
                  <a:sym typeface="Century Gothic"/>
                </a:rPr>
                <a:t> based on </a:t>
              </a:r>
              <a:r>
                <a:rPr lang="en-US" sz="1100" b="1" dirty="0">
                  <a:solidFill>
                    <a:schemeClr val="dk1"/>
                  </a:solidFill>
                  <a:latin typeface="Century Gothic"/>
                  <a:ea typeface="Century Gothic"/>
                  <a:cs typeface="Century Gothic"/>
                  <a:sym typeface="Century Gothic"/>
                </a:rPr>
                <a:t>transactions data</a:t>
              </a:r>
              <a:r>
                <a:rPr lang="en-US" sz="1100" dirty="0">
                  <a:solidFill>
                    <a:schemeClr val="dk1"/>
                  </a:solidFill>
                  <a:latin typeface="Century Gothic"/>
                  <a:ea typeface="Century Gothic"/>
                  <a:cs typeface="Century Gothic"/>
                  <a:sym typeface="Century Gothic"/>
                </a:rPr>
                <a:t> that may or might be related to </a:t>
              </a:r>
              <a:r>
                <a:rPr lang="en-US" sz="1100" b="1" dirty="0">
                  <a:solidFill>
                    <a:schemeClr val="dk1"/>
                  </a:solidFill>
                  <a:latin typeface="Century Gothic"/>
                  <a:ea typeface="Century Gothic"/>
                  <a:cs typeface="Century Gothic"/>
                  <a:sym typeface="Century Gothic"/>
                </a:rPr>
                <a:t>churns</a:t>
              </a:r>
              <a:endParaRPr dirty="0"/>
            </a:p>
          </p:txBody>
        </p:sp>
      </p:grpSp>
      <p:grpSp>
        <p:nvGrpSpPr>
          <p:cNvPr id="499" name="Google Shape;499;p4"/>
          <p:cNvGrpSpPr/>
          <p:nvPr/>
        </p:nvGrpSpPr>
        <p:grpSpPr>
          <a:xfrm>
            <a:off x="666746" y="3730828"/>
            <a:ext cx="8829897" cy="459614"/>
            <a:chOff x="255995" y="3268972"/>
            <a:chExt cx="8829897" cy="717836"/>
          </a:xfrm>
        </p:grpSpPr>
        <p:sp>
          <p:nvSpPr>
            <p:cNvPr id="500" name="Google Shape;500;p4"/>
            <p:cNvSpPr txBox="1"/>
            <p:nvPr/>
          </p:nvSpPr>
          <p:spPr>
            <a:xfrm>
              <a:off x="255995" y="3268972"/>
              <a:ext cx="2975008" cy="646331"/>
            </a:xfrm>
            <a:prstGeom prst="rect">
              <a:avLst/>
            </a:pr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b="1" i="1">
                <a:solidFill>
                  <a:schemeClr val="dk1"/>
                </a:solidFill>
                <a:latin typeface="Century Gothic"/>
                <a:ea typeface="Century Gothic"/>
                <a:cs typeface="Century Gothic"/>
                <a:sym typeface="Century Gothic"/>
              </a:endParaRPr>
            </a:p>
          </p:txBody>
        </p:sp>
        <p:sp>
          <p:nvSpPr>
            <p:cNvPr id="501" name="Google Shape;501;p4"/>
            <p:cNvSpPr txBox="1"/>
            <p:nvPr/>
          </p:nvSpPr>
          <p:spPr>
            <a:xfrm>
              <a:off x="256273" y="3407471"/>
              <a:ext cx="2165978" cy="4085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Century Gothic"/>
                  <a:ea typeface="Century Gothic"/>
                  <a:cs typeface="Century Gothic"/>
                  <a:sym typeface="Century Gothic"/>
                </a:rPr>
                <a:t>Product Market Fit Checking</a:t>
              </a:r>
              <a:endParaRPr/>
            </a:p>
          </p:txBody>
        </p:sp>
        <p:sp>
          <p:nvSpPr>
            <p:cNvPr id="502" name="Google Shape;502;p4"/>
            <p:cNvSpPr/>
            <p:nvPr/>
          </p:nvSpPr>
          <p:spPr>
            <a:xfrm>
              <a:off x="3231003" y="3313839"/>
              <a:ext cx="5854889" cy="672969"/>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100"/>
                <a:buFont typeface="Arial"/>
                <a:buChar char="•"/>
              </a:pPr>
              <a:r>
                <a:rPr lang="en-US" sz="1100">
                  <a:solidFill>
                    <a:schemeClr val="dk1"/>
                  </a:solidFill>
                  <a:latin typeface="Century Gothic"/>
                  <a:ea typeface="Century Gothic"/>
                  <a:cs typeface="Century Gothic"/>
                  <a:sym typeface="Century Gothic"/>
                </a:rPr>
                <a:t>Figuring out which </a:t>
              </a:r>
              <a:r>
                <a:rPr lang="en-US" sz="1100" b="1">
                  <a:solidFill>
                    <a:schemeClr val="dk1"/>
                  </a:solidFill>
                  <a:latin typeface="Century Gothic"/>
                  <a:ea typeface="Century Gothic"/>
                  <a:cs typeface="Century Gothic"/>
                  <a:sym typeface="Century Gothic"/>
                </a:rPr>
                <a:t>product type</a:t>
              </a:r>
              <a:r>
                <a:rPr lang="en-US" sz="1100">
                  <a:solidFill>
                    <a:schemeClr val="dk1"/>
                  </a:solidFill>
                  <a:latin typeface="Century Gothic"/>
                  <a:ea typeface="Century Gothic"/>
                  <a:cs typeface="Century Gothic"/>
                  <a:sym typeface="Century Gothic"/>
                </a:rPr>
                <a:t> is fit or not based on </a:t>
              </a:r>
              <a:r>
                <a:rPr lang="en-US" sz="1100" b="1">
                  <a:solidFill>
                    <a:schemeClr val="dk1"/>
                  </a:solidFill>
                  <a:latin typeface="Century Gothic"/>
                  <a:ea typeface="Century Gothic"/>
                  <a:cs typeface="Century Gothic"/>
                  <a:sym typeface="Century Gothic"/>
                </a:rPr>
                <a:t>churn proportion</a:t>
              </a:r>
              <a:r>
                <a:rPr lang="en-US" sz="1100">
                  <a:solidFill>
                    <a:schemeClr val="dk1"/>
                  </a:solidFill>
                  <a:latin typeface="Century Gothic"/>
                  <a:ea typeface="Century Gothic"/>
                  <a:cs typeface="Century Gothic"/>
                  <a:sym typeface="Century Gothic"/>
                </a:rPr>
                <a:t> each product</a:t>
              </a:r>
              <a:endParaRPr sz="1100" b="1">
                <a:solidFill>
                  <a:schemeClr val="dk1"/>
                </a:solidFill>
                <a:latin typeface="Century Gothic"/>
                <a:ea typeface="Century Gothic"/>
                <a:cs typeface="Century Gothic"/>
                <a:sym typeface="Century Gothic"/>
              </a:endParaRPr>
            </a:p>
          </p:txBody>
        </p:sp>
      </p:grpSp>
      <p:cxnSp>
        <p:nvCxnSpPr>
          <p:cNvPr id="503" name="Google Shape;503;p4"/>
          <p:cNvCxnSpPr/>
          <p:nvPr/>
        </p:nvCxnSpPr>
        <p:spPr>
          <a:xfrm>
            <a:off x="3784061" y="3668094"/>
            <a:ext cx="7721360" cy="0"/>
          </a:xfrm>
          <a:prstGeom prst="straightConnector1">
            <a:avLst/>
          </a:prstGeom>
          <a:noFill/>
          <a:ln w="9525" cap="flat" cmpd="sng">
            <a:solidFill>
              <a:srgbClr val="D8D8D8"/>
            </a:solidFill>
            <a:prstDash val="solid"/>
            <a:miter lim="800000"/>
            <a:headEnd type="none" w="sm" len="sm"/>
            <a:tailEnd type="none" w="sm" len="sm"/>
          </a:ln>
        </p:spPr>
      </p:cxnSp>
      <p:cxnSp>
        <p:nvCxnSpPr>
          <p:cNvPr id="504" name="Google Shape;504;p4"/>
          <p:cNvCxnSpPr/>
          <p:nvPr/>
        </p:nvCxnSpPr>
        <p:spPr>
          <a:xfrm>
            <a:off x="1593754" y="3034946"/>
            <a:ext cx="7721360" cy="0"/>
          </a:xfrm>
          <a:prstGeom prst="straightConnector1">
            <a:avLst/>
          </a:prstGeom>
          <a:noFill/>
          <a:ln w="9525" cap="flat" cmpd="sng">
            <a:solidFill>
              <a:srgbClr val="D8D8D8"/>
            </a:solidFill>
            <a:prstDash val="solid"/>
            <a:miter lim="800000"/>
            <a:headEnd type="none" w="sm" len="sm"/>
            <a:tailEnd type="none" w="sm" len="sm"/>
          </a:ln>
        </p:spPr>
      </p:cxnSp>
      <p:cxnSp>
        <p:nvCxnSpPr>
          <p:cNvPr id="505" name="Google Shape;505;p4"/>
          <p:cNvCxnSpPr/>
          <p:nvPr/>
        </p:nvCxnSpPr>
        <p:spPr>
          <a:xfrm>
            <a:off x="3784061" y="4204766"/>
            <a:ext cx="7721360" cy="0"/>
          </a:xfrm>
          <a:prstGeom prst="straightConnector1">
            <a:avLst/>
          </a:prstGeom>
          <a:noFill/>
          <a:ln w="9525" cap="flat" cmpd="sng">
            <a:solidFill>
              <a:srgbClr val="D8D8D8"/>
            </a:solidFill>
            <a:prstDash val="solid"/>
            <a:miter lim="800000"/>
            <a:headEnd type="none" w="sm" len="sm"/>
            <a:tailEnd type="none" w="sm" len="sm"/>
          </a:ln>
        </p:spPr>
      </p:cxn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5"/>
          <p:cNvSpPr/>
          <p:nvPr/>
        </p:nvSpPr>
        <p:spPr>
          <a:xfrm>
            <a:off x="0" y="0"/>
            <a:ext cx="4383314" cy="6858000"/>
          </a:xfrm>
          <a:prstGeom prst="rect">
            <a:avLst/>
          </a:prstGeom>
          <a:solidFill>
            <a:srgbClr val="3E41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0000"/>
              </a:solidFill>
              <a:latin typeface="Calibri"/>
              <a:ea typeface="Calibri"/>
              <a:cs typeface="Calibri"/>
              <a:sym typeface="Calibri"/>
            </a:endParaRPr>
          </a:p>
        </p:txBody>
      </p:sp>
      <p:sp>
        <p:nvSpPr>
          <p:cNvPr id="512" name="Google Shape;512;p5"/>
          <p:cNvSpPr txBox="1"/>
          <p:nvPr/>
        </p:nvSpPr>
        <p:spPr>
          <a:xfrm>
            <a:off x="-83054" y="2537450"/>
            <a:ext cx="4368800" cy="14465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dirty="0">
                <a:solidFill>
                  <a:schemeClr val="lt1"/>
                </a:solidFill>
                <a:latin typeface="Century Gothic"/>
                <a:ea typeface="Century Gothic"/>
                <a:cs typeface="Century Gothic"/>
                <a:sym typeface="Century Gothic"/>
              </a:rPr>
              <a:t>Summary Data, Intro to Data</a:t>
            </a:r>
            <a:endParaRPr dirty="0"/>
          </a:p>
        </p:txBody>
      </p:sp>
      <p:sp>
        <p:nvSpPr>
          <p:cNvPr id="513" name="Google Shape;513;p5"/>
          <p:cNvSpPr/>
          <p:nvPr/>
        </p:nvSpPr>
        <p:spPr>
          <a:xfrm>
            <a:off x="4383314" y="-9713"/>
            <a:ext cx="7808686"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p5"/>
          <p:cNvSpPr/>
          <p:nvPr/>
        </p:nvSpPr>
        <p:spPr>
          <a:xfrm rot="10800000" flipH="1">
            <a:off x="4905291" y="1993955"/>
            <a:ext cx="2351313" cy="2568338"/>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D7141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p5"/>
          <p:cNvSpPr/>
          <p:nvPr/>
        </p:nvSpPr>
        <p:spPr>
          <a:xfrm rot="10800000" flipH="1">
            <a:off x="9578894" y="1980720"/>
            <a:ext cx="2351313" cy="2568338"/>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6" name="Google Shape;516;p5"/>
          <p:cNvGrpSpPr/>
          <p:nvPr/>
        </p:nvGrpSpPr>
        <p:grpSpPr>
          <a:xfrm>
            <a:off x="6042476" y="309601"/>
            <a:ext cx="2315938" cy="5312578"/>
            <a:chOff x="6042476" y="309601"/>
            <a:chExt cx="2315938" cy="5312578"/>
          </a:xfrm>
        </p:grpSpPr>
        <p:sp>
          <p:nvSpPr>
            <p:cNvPr id="517" name="Google Shape;517;p5"/>
            <p:cNvSpPr/>
            <p:nvPr/>
          </p:nvSpPr>
          <p:spPr>
            <a:xfrm rot="10800000" flipH="1">
              <a:off x="7952014" y="309601"/>
              <a:ext cx="406400" cy="435777"/>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87AE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8" name="Google Shape;518;p5"/>
            <p:cNvSpPr/>
            <p:nvPr/>
          </p:nvSpPr>
          <p:spPr>
            <a:xfrm rot="10800000" flipH="1">
              <a:off x="6042476" y="5186753"/>
              <a:ext cx="385538" cy="435426"/>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4DABC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grpSp>
        <p:nvGrpSpPr>
          <p:cNvPr id="519" name="Google Shape;519;p5"/>
          <p:cNvGrpSpPr/>
          <p:nvPr/>
        </p:nvGrpSpPr>
        <p:grpSpPr>
          <a:xfrm>
            <a:off x="5056952" y="1064692"/>
            <a:ext cx="6546350" cy="4350905"/>
            <a:chOff x="5191376" y="1882501"/>
            <a:chExt cx="6546350" cy="4350905"/>
          </a:xfrm>
        </p:grpSpPr>
        <p:grpSp>
          <p:nvGrpSpPr>
            <p:cNvPr id="520" name="Google Shape;520;p5"/>
            <p:cNvGrpSpPr/>
            <p:nvPr/>
          </p:nvGrpSpPr>
          <p:grpSpPr>
            <a:xfrm>
              <a:off x="5272885" y="1980720"/>
              <a:ext cx="6464841" cy="4252686"/>
              <a:chOff x="4667618" y="827314"/>
              <a:chExt cx="6464841" cy="4252686"/>
            </a:xfrm>
          </p:grpSpPr>
          <p:sp>
            <p:nvSpPr>
              <p:cNvPr id="521" name="Google Shape;521;p5"/>
              <p:cNvSpPr/>
              <p:nvPr/>
            </p:nvSpPr>
            <p:spPr>
              <a:xfrm rot="10800000" flipH="1">
                <a:off x="4667618" y="1207246"/>
                <a:ext cx="2604039" cy="3466353"/>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2" name="Google Shape;522;p5"/>
              <p:cNvSpPr/>
              <p:nvPr/>
            </p:nvSpPr>
            <p:spPr>
              <a:xfrm rot="10800000" flipH="1">
                <a:off x="6373049" y="1030514"/>
                <a:ext cx="2770952" cy="3831772"/>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3" name="Google Shape;523;p5"/>
              <p:cNvSpPr/>
              <p:nvPr/>
            </p:nvSpPr>
            <p:spPr>
              <a:xfrm rot="10800000" flipH="1">
                <a:off x="8165565" y="827314"/>
                <a:ext cx="2966894" cy="4252686"/>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524" name="Google Shape;524;p5"/>
            <p:cNvSpPr/>
            <p:nvPr/>
          </p:nvSpPr>
          <p:spPr>
            <a:xfrm rot="10800000" flipH="1">
              <a:off x="5191376" y="1882501"/>
              <a:ext cx="6464841" cy="4252686"/>
            </a:xfrm>
            <a:custGeom>
              <a:avLst/>
              <a:gdLst/>
              <a:ahLst/>
              <a:cxnLst/>
              <a:rect l="l" t="t" r="r" b="b"/>
              <a:pathLst>
                <a:path w="6464841" h="4252686" extrusionOk="0">
                  <a:moveTo>
                    <a:pt x="0" y="3872754"/>
                  </a:moveTo>
                  <a:lnTo>
                    <a:pt x="1738482" y="3872754"/>
                  </a:lnTo>
                  <a:lnTo>
                    <a:pt x="2604039" y="2139578"/>
                  </a:lnTo>
                  <a:lnTo>
                    <a:pt x="1738482" y="406401"/>
                  </a:lnTo>
                  <a:lnTo>
                    <a:pt x="0" y="406401"/>
                  </a:lnTo>
                  <a:lnTo>
                    <a:pt x="865558" y="2139578"/>
                  </a:lnTo>
                  <a:close/>
                  <a:moveTo>
                    <a:pt x="1705431" y="4049486"/>
                  </a:moveTo>
                  <a:lnTo>
                    <a:pt x="3555345" y="4049486"/>
                  </a:lnTo>
                  <a:lnTo>
                    <a:pt x="4476383" y="2133600"/>
                  </a:lnTo>
                  <a:lnTo>
                    <a:pt x="3555345" y="217714"/>
                  </a:lnTo>
                  <a:lnTo>
                    <a:pt x="1705431" y="217714"/>
                  </a:lnTo>
                  <a:lnTo>
                    <a:pt x="2626469" y="2133600"/>
                  </a:lnTo>
                  <a:close/>
                  <a:moveTo>
                    <a:pt x="3497947" y="4252686"/>
                  </a:moveTo>
                  <a:lnTo>
                    <a:pt x="5478674" y="4252686"/>
                  </a:lnTo>
                  <a:lnTo>
                    <a:pt x="6464841" y="2126343"/>
                  </a:lnTo>
                  <a:lnTo>
                    <a:pt x="5478674" y="0"/>
                  </a:lnTo>
                  <a:lnTo>
                    <a:pt x="3497947" y="0"/>
                  </a:lnTo>
                  <a:lnTo>
                    <a:pt x="4484114" y="2126343"/>
                  </a:lnTo>
                  <a:close/>
                </a:path>
              </a:pathLst>
            </a:custGeom>
            <a:blipFill rotWithShape="1">
              <a:blip r:embed="rId5">
                <a:alphaModFix amt="25000"/>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2"/>
                                        </p:tgtEl>
                                        <p:attrNameLst>
                                          <p:attrName>style.visibility</p:attrName>
                                        </p:attrNameLst>
                                      </p:cBhvr>
                                      <p:to>
                                        <p:strVal val="visible"/>
                                      </p:to>
                                    </p:set>
                                    <p:animEffect transition="in" filter="fade">
                                      <p:cBhvr>
                                        <p:cTn id="7" dur="500"/>
                                        <p:tgtEl>
                                          <p:spTgt spid="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6"/>
          <p:cNvSpPr txBox="1"/>
          <p:nvPr/>
        </p:nvSpPr>
        <p:spPr>
          <a:xfrm>
            <a:off x="226502" y="1307632"/>
            <a:ext cx="9722841" cy="17851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Profile_id</a:t>
            </a:r>
            <a:r>
              <a:rPr lang="en-US" sz="1100" dirty="0">
                <a:solidFill>
                  <a:schemeClr val="dk1"/>
                </a:solidFill>
                <a:latin typeface="Century Gothic"/>
                <a:ea typeface="Century Gothic"/>
                <a:cs typeface="Century Gothic"/>
                <a:sym typeface="Century Gothic"/>
              </a:rPr>
              <a:t> = hashed identity of a customer. One profile id represents one customer [integer 64] </a:t>
            </a:r>
            <a:endParaRPr dirty="0"/>
          </a:p>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Primary_sales_product_type</a:t>
            </a:r>
            <a:r>
              <a:rPr lang="en-US" sz="1100" dirty="0">
                <a:solidFill>
                  <a:schemeClr val="dk1"/>
                </a:solidFill>
                <a:latin typeface="Century Gothic"/>
                <a:ea typeface="Century Gothic"/>
                <a:cs typeface="Century Gothic"/>
                <a:sym typeface="Century Gothic"/>
              </a:rPr>
              <a:t> = the product identifier [{‘FLIGHT’, ‘HOTEL’, ‘TRAIN’, ‘TRIP’}] </a:t>
            </a:r>
            <a:endParaRPr dirty="0"/>
          </a:p>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first_booking_time</a:t>
            </a:r>
            <a:r>
              <a:rPr lang="en-US" sz="1100" dirty="0">
                <a:solidFill>
                  <a:schemeClr val="dk1"/>
                </a:solidFill>
                <a:latin typeface="Century Gothic"/>
                <a:ea typeface="Century Gothic"/>
                <a:cs typeface="Century Gothic"/>
                <a:sym typeface="Century Gothic"/>
              </a:rPr>
              <a:t> = is the first time the customer booked a product in </a:t>
            </a:r>
            <a:r>
              <a:rPr lang="en-US" sz="1100" dirty="0" err="1">
                <a:solidFill>
                  <a:schemeClr val="dk1"/>
                </a:solidFill>
                <a:latin typeface="Century Gothic"/>
                <a:ea typeface="Century Gothic"/>
                <a:cs typeface="Century Gothic"/>
                <a:sym typeface="Century Gothic"/>
              </a:rPr>
              <a:t>primary_sales_product</a:t>
            </a: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unix</a:t>
            </a:r>
            <a:r>
              <a:rPr lang="en-US" sz="1100" dirty="0">
                <a:solidFill>
                  <a:schemeClr val="dk1"/>
                </a:solidFill>
                <a:latin typeface="Century Gothic"/>
                <a:ea typeface="Century Gothic"/>
                <a:cs typeface="Century Gothic"/>
                <a:sym typeface="Century Gothic"/>
              </a:rPr>
              <a:t> timestamp in milliseconds] </a:t>
            </a:r>
            <a:endParaRPr dirty="0"/>
          </a:p>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First_issued_time</a:t>
            </a:r>
            <a:r>
              <a:rPr lang="en-US" sz="1100" dirty="0">
                <a:solidFill>
                  <a:schemeClr val="dk1"/>
                </a:solidFill>
                <a:latin typeface="Century Gothic"/>
                <a:ea typeface="Century Gothic"/>
                <a:cs typeface="Century Gothic"/>
                <a:sym typeface="Century Gothic"/>
              </a:rPr>
              <a:t> = is the first time the customer issued a product in </a:t>
            </a:r>
            <a:r>
              <a:rPr lang="en-US" sz="1100" dirty="0" err="1">
                <a:solidFill>
                  <a:schemeClr val="dk1"/>
                </a:solidFill>
                <a:latin typeface="Century Gothic"/>
                <a:ea typeface="Century Gothic"/>
                <a:cs typeface="Century Gothic"/>
                <a:sym typeface="Century Gothic"/>
              </a:rPr>
              <a:t>primary_sales_product</a:t>
            </a: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unix</a:t>
            </a:r>
            <a:r>
              <a:rPr lang="en-US" sz="1100" dirty="0">
                <a:solidFill>
                  <a:schemeClr val="dk1"/>
                </a:solidFill>
                <a:latin typeface="Century Gothic"/>
                <a:ea typeface="Century Gothic"/>
                <a:cs typeface="Century Gothic"/>
                <a:sym typeface="Century Gothic"/>
              </a:rPr>
              <a:t> timestamp in milliseconds] </a:t>
            </a:r>
            <a:endParaRPr dirty="0"/>
          </a:p>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Last_booking_time</a:t>
            </a:r>
            <a:r>
              <a:rPr lang="en-US" sz="1100" dirty="0">
                <a:solidFill>
                  <a:schemeClr val="dk1"/>
                </a:solidFill>
                <a:latin typeface="Century Gothic"/>
                <a:ea typeface="Century Gothic"/>
                <a:cs typeface="Century Gothic"/>
                <a:sym typeface="Century Gothic"/>
              </a:rPr>
              <a:t> = is the last time the customer booked a product in </a:t>
            </a:r>
            <a:r>
              <a:rPr lang="en-US" sz="1100" dirty="0" err="1">
                <a:solidFill>
                  <a:schemeClr val="dk1"/>
                </a:solidFill>
                <a:latin typeface="Century Gothic"/>
                <a:ea typeface="Century Gothic"/>
                <a:cs typeface="Century Gothic"/>
                <a:sym typeface="Century Gothic"/>
              </a:rPr>
              <a:t>primary_sales_product</a:t>
            </a: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unix</a:t>
            </a:r>
            <a:r>
              <a:rPr lang="en-US" sz="1100" dirty="0">
                <a:solidFill>
                  <a:schemeClr val="dk1"/>
                </a:solidFill>
                <a:latin typeface="Century Gothic"/>
                <a:ea typeface="Century Gothic"/>
                <a:cs typeface="Century Gothic"/>
                <a:sym typeface="Century Gothic"/>
              </a:rPr>
              <a:t> timestamp in milliseconds] </a:t>
            </a:r>
            <a:endParaRPr dirty="0"/>
          </a:p>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Last_issued_time</a:t>
            </a:r>
            <a:r>
              <a:rPr lang="en-US" sz="1100" dirty="0">
                <a:solidFill>
                  <a:schemeClr val="dk1"/>
                </a:solidFill>
                <a:latin typeface="Century Gothic"/>
                <a:ea typeface="Century Gothic"/>
                <a:cs typeface="Century Gothic"/>
                <a:sym typeface="Century Gothic"/>
              </a:rPr>
              <a:t> = is the first time the customer issued a product in </a:t>
            </a:r>
            <a:r>
              <a:rPr lang="en-US" sz="1100" dirty="0" err="1">
                <a:solidFill>
                  <a:schemeClr val="dk1"/>
                </a:solidFill>
                <a:latin typeface="Century Gothic"/>
                <a:ea typeface="Century Gothic"/>
                <a:cs typeface="Century Gothic"/>
                <a:sym typeface="Century Gothic"/>
              </a:rPr>
              <a:t>primary_sales_product</a:t>
            </a: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unix</a:t>
            </a:r>
            <a:r>
              <a:rPr lang="en-US" sz="1100" dirty="0">
                <a:solidFill>
                  <a:schemeClr val="dk1"/>
                </a:solidFill>
                <a:latin typeface="Century Gothic"/>
                <a:ea typeface="Century Gothic"/>
                <a:cs typeface="Century Gothic"/>
                <a:sym typeface="Century Gothic"/>
              </a:rPr>
              <a:t> timestamp in milliseconds] </a:t>
            </a:r>
            <a:endParaRPr dirty="0"/>
          </a:p>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Avg_booking_invoice_amount_idr</a:t>
            </a:r>
            <a:r>
              <a:rPr lang="en-US" sz="1100" dirty="0">
                <a:solidFill>
                  <a:schemeClr val="dk1"/>
                </a:solidFill>
                <a:latin typeface="Century Gothic"/>
                <a:ea typeface="Century Gothic"/>
                <a:cs typeface="Century Gothic"/>
                <a:sym typeface="Century Gothic"/>
              </a:rPr>
              <a:t> = avg invoice amount in submitted booking [in IDR] </a:t>
            </a:r>
            <a:endParaRPr dirty="0"/>
          </a:p>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Avg_issued_invoice_amount_idr</a:t>
            </a:r>
            <a:r>
              <a:rPr lang="en-US" sz="1100" dirty="0">
                <a:solidFill>
                  <a:schemeClr val="dk1"/>
                </a:solidFill>
                <a:latin typeface="Century Gothic"/>
                <a:ea typeface="Century Gothic"/>
                <a:cs typeface="Century Gothic"/>
                <a:sym typeface="Century Gothic"/>
              </a:rPr>
              <a:t> = avg invoice amount in issuance [in IDR] </a:t>
            </a:r>
            <a:endParaRPr dirty="0"/>
          </a:p>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Count_booking</a:t>
            </a:r>
            <a:r>
              <a:rPr lang="en-US" sz="1100" dirty="0">
                <a:solidFill>
                  <a:schemeClr val="dk1"/>
                </a:solidFill>
                <a:latin typeface="Century Gothic"/>
                <a:ea typeface="Century Gothic"/>
                <a:cs typeface="Century Gothic"/>
                <a:sym typeface="Century Gothic"/>
              </a:rPr>
              <a:t> = total count of bookings of that particular product (from the day they were acquired until now) [integer] </a:t>
            </a:r>
            <a:endParaRPr dirty="0"/>
          </a:p>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 </a:t>
            </a:r>
            <a:r>
              <a:rPr lang="en-US" sz="1100" dirty="0" err="1">
                <a:solidFill>
                  <a:schemeClr val="dk1"/>
                </a:solidFill>
                <a:latin typeface="Century Gothic"/>
                <a:ea typeface="Century Gothic"/>
                <a:cs typeface="Century Gothic"/>
                <a:sym typeface="Century Gothic"/>
              </a:rPr>
              <a:t>Count_issued</a:t>
            </a:r>
            <a:r>
              <a:rPr lang="en-US" sz="1100" dirty="0">
                <a:solidFill>
                  <a:schemeClr val="dk1"/>
                </a:solidFill>
                <a:latin typeface="Century Gothic"/>
                <a:ea typeface="Century Gothic"/>
                <a:cs typeface="Century Gothic"/>
                <a:sym typeface="Century Gothic"/>
              </a:rPr>
              <a:t> = total count of issuance of that particular product (from the day they were acquired until now) [integer</a:t>
            </a:r>
            <a:endParaRPr sz="1100" dirty="0">
              <a:solidFill>
                <a:schemeClr val="dk1"/>
              </a:solidFill>
              <a:latin typeface="Century Gothic"/>
              <a:ea typeface="Century Gothic"/>
              <a:cs typeface="Century Gothic"/>
              <a:sym typeface="Century Gothic"/>
            </a:endParaRPr>
          </a:p>
        </p:txBody>
      </p:sp>
      <p:cxnSp>
        <p:nvCxnSpPr>
          <p:cNvPr id="531" name="Google Shape;531;p6"/>
          <p:cNvCxnSpPr/>
          <p:nvPr/>
        </p:nvCxnSpPr>
        <p:spPr>
          <a:xfrm>
            <a:off x="457493" y="3656550"/>
            <a:ext cx="11095545" cy="0"/>
          </a:xfrm>
          <a:prstGeom prst="straightConnector1">
            <a:avLst/>
          </a:prstGeom>
          <a:noFill/>
          <a:ln w="9525" cap="flat" cmpd="sng">
            <a:solidFill>
              <a:srgbClr val="FF0000"/>
            </a:solidFill>
            <a:prstDash val="solid"/>
            <a:miter lim="800000"/>
            <a:headEnd type="none" w="sm" len="sm"/>
            <a:tailEnd type="none" w="sm" len="sm"/>
          </a:ln>
        </p:spPr>
      </p:cxnSp>
      <p:sp>
        <p:nvSpPr>
          <p:cNvPr id="532" name="Google Shape;532;p6"/>
          <p:cNvSpPr txBox="1"/>
          <p:nvPr/>
        </p:nvSpPr>
        <p:spPr>
          <a:xfrm>
            <a:off x="3967886" y="876083"/>
            <a:ext cx="112402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F0"/>
              </a:buClr>
              <a:buSzPts val="1800"/>
              <a:buFont typeface="Century Gothic"/>
              <a:buNone/>
            </a:pPr>
            <a:r>
              <a:rPr lang="en-US" sz="1800" b="1" i="0" u="none" strike="noStrike" cap="none" dirty="0">
                <a:solidFill>
                  <a:srgbClr val="FF0000"/>
                </a:solidFill>
                <a:latin typeface="Century Gothic"/>
                <a:ea typeface="Century Gothic"/>
                <a:cs typeface="Century Gothic"/>
                <a:sym typeface="Century Gothic"/>
              </a:rPr>
              <a:t>Features</a:t>
            </a:r>
            <a:endParaRPr dirty="0">
              <a:solidFill>
                <a:srgbClr val="FF0000"/>
              </a:solidFill>
            </a:endParaRPr>
          </a:p>
        </p:txBody>
      </p:sp>
      <p:sp>
        <p:nvSpPr>
          <p:cNvPr id="533" name="Google Shape;533;p6"/>
          <p:cNvSpPr txBox="1"/>
          <p:nvPr/>
        </p:nvSpPr>
        <p:spPr>
          <a:xfrm>
            <a:off x="8929035" y="846022"/>
            <a:ext cx="250902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F0"/>
              </a:buClr>
              <a:buSzPts val="1800"/>
              <a:buFont typeface="Century Gothic"/>
              <a:buNone/>
            </a:pPr>
            <a:r>
              <a:rPr lang="en-US" sz="1800" b="1" i="0" u="none" strike="noStrike" cap="none" dirty="0">
                <a:solidFill>
                  <a:srgbClr val="FF0000"/>
                </a:solidFill>
                <a:latin typeface="Century Gothic"/>
                <a:ea typeface="Century Gothic"/>
                <a:cs typeface="Century Gothic"/>
                <a:sym typeface="Century Gothic"/>
              </a:rPr>
              <a:t>Observation Number</a:t>
            </a:r>
            <a:endParaRPr dirty="0">
              <a:solidFill>
                <a:srgbClr val="FF0000"/>
              </a:solidFill>
            </a:endParaRPr>
          </a:p>
        </p:txBody>
      </p:sp>
      <p:cxnSp>
        <p:nvCxnSpPr>
          <p:cNvPr id="534" name="Google Shape;534;p6"/>
          <p:cNvCxnSpPr/>
          <p:nvPr/>
        </p:nvCxnSpPr>
        <p:spPr>
          <a:xfrm>
            <a:off x="8925380" y="870244"/>
            <a:ext cx="0" cy="2222492"/>
          </a:xfrm>
          <a:prstGeom prst="straightConnector1">
            <a:avLst/>
          </a:prstGeom>
          <a:noFill/>
          <a:ln w="12700" cap="flat" cmpd="sng">
            <a:solidFill>
              <a:srgbClr val="A5A5A5"/>
            </a:solidFill>
            <a:prstDash val="dash"/>
            <a:miter lim="800000"/>
            <a:headEnd type="none" w="sm" len="sm"/>
            <a:tailEnd type="none" w="sm" len="sm"/>
          </a:ln>
        </p:spPr>
      </p:cxnSp>
      <p:sp>
        <p:nvSpPr>
          <p:cNvPr id="535" name="Google Shape;535;p6"/>
          <p:cNvSpPr/>
          <p:nvPr/>
        </p:nvSpPr>
        <p:spPr>
          <a:xfrm>
            <a:off x="9580236" y="1525737"/>
            <a:ext cx="1405356" cy="938344"/>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dirty="0">
                <a:solidFill>
                  <a:schemeClr val="bg1"/>
                </a:solidFill>
                <a:latin typeface="Arial"/>
                <a:ea typeface="Arial"/>
                <a:cs typeface="Arial"/>
                <a:sym typeface="Arial"/>
              </a:rPr>
              <a:t>278 K</a:t>
            </a:r>
            <a:endParaRPr sz="1600" b="1" i="0" u="none" strike="noStrike" cap="none" dirty="0">
              <a:solidFill>
                <a:schemeClr val="bg1"/>
              </a:solidFill>
              <a:latin typeface="Arial"/>
              <a:ea typeface="Arial"/>
              <a:cs typeface="Arial"/>
              <a:sym typeface="Arial"/>
            </a:endParaRPr>
          </a:p>
        </p:txBody>
      </p:sp>
      <p:cxnSp>
        <p:nvCxnSpPr>
          <p:cNvPr id="536" name="Google Shape;536;p6"/>
          <p:cNvCxnSpPr/>
          <p:nvPr/>
        </p:nvCxnSpPr>
        <p:spPr>
          <a:xfrm>
            <a:off x="457494" y="1275475"/>
            <a:ext cx="11095545" cy="0"/>
          </a:xfrm>
          <a:prstGeom prst="straightConnector1">
            <a:avLst/>
          </a:prstGeom>
          <a:noFill/>
          <a:ln w="9525" cap="flat" cmpd="sng">
            <a:solidFill>
              <a:srgbClr val="FF0000"/>
            </a:solidFill>
            <a:prstDash val="solid"/>
            <a:miter lim="800000"/>
            <a:headEnd type="none" w="sm" len="sm"/>
            <a:tailEnd type="none" w="sm" len="sm"/>
          </a:ln>
        </p:spPr>
      </p:cxnSp>
      <p:sp>
        <p:nvSpPr>
          <p:cNvPr id="537" name="Google Shape;537;p6"/>
          <p:cNvSpPr txBox="1"/>
          <p:nvPr/>
        </p:nvSpPr>
        <p:spPr>
          <a:xfrm>
            <a:off x="682790" y="3051478"/>
            <a:ext cx="279773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F0"/>
              </a:buClr>
              <a:buSzPts val="1800"/>
              <a:buFont typeface="Century Gothic"/>
              <a:buNone/>
            </a:pPr>
            <a:r>
              <a:rPr lang="en-US" sz="1800" b="1" i="0" u="none" strike="noStrike" cap="none" dirty="0">
                <a:solidFill>
                  <a:srgbClr val="FF0000"/>
                </a:solidFill>
                <a:latin typeface="Century Gothic"/>
                <a:ea typeface="Century Gothic"/>
                <a:cs typeface="Century Gothic"/>
                <a:sym typeface="Century Gothic"/>
              </a:rPr>
              <a:t>Caveat Analysis (already aggregate)</a:t>
            </a:r>
            <a:endParaRPr dirty="0">
              <a:solidFill>
                <a:srgbClr val="FF0000"/>
              </a:solidFill>
            </a:endParaRPr>
          </a:p>
        </p:txBody>
      </p:sp>
      <p:sp>
        <p:nvSpPr>
          <p:cNvPr id="538" name="Google Shape;538;p6"/>
          <p:cNvSpPr txBox="1"/>
          <p:nvPr/>
        </p:nvSpPr>
        <p:spPr>
          <a:xfrm>
            <a:off x="10510765" y="3323198"/>
            <a:ext cx="104227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F0"/>
              </a:buClr>
              <a:buSzPts val="1800"/>
              <a:buFont typeface="Century Gothic"/>
              <a:buNone/>
            </a:pPr>
            <a:r>
              <a:rPr lang="en-US" sz="1800" b="1" i="0" u="none" strike="noStrike" cap="none" dirty="0">
                <a:solidFill>
                  <a:srgbClr val="FF0000"/>
                </a:solidFill>
                <a:latin typeface="Century Gothic"/>
                <a:ea typeface="Century Gothic"/>
                <a:cs typeface="Century Gothic"/>
                <a:sym typeface="Century Gothic"/>
              </a:rPr>
              <a:t>Product</a:t>
            </a:r>
            <a:endParaRPr dirty="0">
              <a:solidFill>
                <a:srgbClr val="FF0000"/>
              </a:solidFill>
            </a:endParaRPr>
          </a:p>
        </p:txBody>
      </p:sp>
      <p:cxnSp>
        <p:nvCxnSpPr>
          <p:cNvPr id="539" name="Google Shape;539;p6"/>
          <p:cNvCxnSpPr/>
          <p:nvPr/>
        </p:nvCxnSpPr>
        <p:spPr>
          <a:xfrm>
            <a:off x="10512959" y="3387918"/>
            <a:ext cx="18128" cy="3004336"/>
          </a:xfrm>
          <a:prstGeom prst="straightConnector1">
            <a:avLst/>
          </a:prstGeom>
          <a:noFill/>
          <a:ln w="12700" cap="flat" cmpd="sng">
            <a:solidFill>
              <a:srgbClr val="A5A5A5"/>
            </a:solidFill>
            <a:prstDash val="dash"/>
            <a:miter lim="800000"/>
            <a:headEnd type="none" w="sm" len="sm"/>
            <a:tailEnd type="none" w="sm" len="sm"/>
          </a:ln>
        </p:spPr>
      </p:cxnSp>
      <p:pic>
        <p:nvPicPr>
          <p:cNvPr id="540" name="Google Shape;540;p6" descr="Airplane"/>
          <p:cNvPicPr preferRelativeResize="0"/>
          <p:nvPr/>
        </p:nvPicPr>
        <p:blipFill rotWithShape="1">
          <a:blip r:embed="rId3">
            <a:alphaModFix/>
          </a:blip>
          <a:srcRect/>
          <a:stretch/>
        </p:blipFill>
        <p:spPr>
          <a:xfrm>
            <a:off x="10512959" y="3728509"/>
            <a:ext cx="440236" cy="440236"/>
          </a:xfrm>
          <a:prstGeom prst="rect">
            <a:avLst/>
          </a:prstGeom>
          <a:noFill/>
          <a:ln>
            <a:noFill/>
          </a:ln>
        </p:spPr>
      </p:pic>
      <p:sp>
        <p:nvSpPr>
          <p:cNvPr id="541" name="Google Shape;541;p6"/>
          <p:cNvSpPr txBox="1"/>
          <p:nvPr/>
        </p:nvSpPr>
        <p:spPr>
          <a:xfrm>
            <a:off x="10924902" y="3882068"/>
            <a:ext cx="691020" cy="1692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Century Gothic"/>
              <a:buNone/>
            </a:pPr>
            <a:r>
              <a:rPr lang="en-US" sz="1100" b="1" i="0" u="none" strike="noStrike" cap="none">
                <a:solidFill>
                  <a:srgbClr val="3E3D40"/>
                </a:solidFill>
                <a:latin typeface="Century Gothic"/>
                <a:ea typeface="Century Gothic"/>
                <a:cs typeface="Century Gothic"/>
                <a:sym typeface="Century Gothic"/>
              </a:rPr>
              <a:t>Flight</a:t>
            </a:r>
            <a:endParaRPr sz="1400" b="1" i="0" u="none" strike="noStrike" cap="none">
              <a:solidFill>
                <a:srgbClr val="3E3D40"/>
              </a:solidFill>
              <a:latin typeface="Century Gothic"/>
              <a:ea typeface="Century Gothic"/>
              <a:cs typeface="Century Gothic"/>
              <a:sym typeface="Century Gothic"/>
            </a:endParaRPr>
          </a:p>
        </p:txBody>
      </p:sp>
      <p:sp>
        <p:nvSpPr>
          <p:cNvPr id="542" name="Google Shape;542;p6"/>
          <p:cNvSpPr txBox="1"/>
          <p:nvPr/>
        </p:nvSpPr>
        <p:spPr>
          <a:xfrm>
            <a:off x="4922116" y="3211919"/>
            <a:ext cx="153599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F0"/>
              </a:buClr>
              <a:buSzPts val="1800"/>
              <a:buFont typeface="Century Gothic"/>
              <a:buNone/>
            </a:pPr>
            <a:r>
              <a:rPr lang="en-US" sz="1800" b="1" dirty="0">
                <a:solidFill>
                  <a:srgbClr val="FF0000"/>
                </a:solidFill>
                <a:latin typeface="Century Gothic"/>
                <a:ea typeface="Century Gothic"/>
                <a:cs typeface="Century Gothic"/>
                <a:sym typeface="Century Gothic"/>
              </a:rPr>
              <a:t>Descriptions</a:t>
            </a:r>
            <a:endParaRPr sz="1800" b="1" i="0" u="none" strike="noStrike" cap="none" dirty="0">
              <a:solidFill>
                <a:srgbClr val="FF0000"/>
              </a:solidFill>
              <a:latin typeface="Century Gothic"/>
              <a:ea typeface="Century Gothic"/>
              <a:cs typeface="Century Gothic"/>
              <a:sym typeface="Century Gothic"/>
            </a:endParaRPr>
          </a:p>
        </p:txBody>
      </p:sp>
      <p:pic>
        <p:nvPicPr>
          <p:cNvPr id="543" name="Google Shape;543;p6" descr="Train"/>
          <p:cNvPicPr preferRelativeResize="0"/>
          <p:nvPr/>
        </p:nvPicPr>
        <p:blipFill rotWithShape="1">
          <a:blip r:embed="rId4">
            <a:alphaModFix/>
          </a:blip>
          <a:srcRect/>
          <a:stretch/>
        </p:blipFill>
        <p:spPr>
          <a:xfrm>
            <a:off x="10546392" y="5053714"/>
            <a:ext cx="439200" cy="439200"/>
          </a:xfrm>
          <a:prstGeom prst="rect">
            <a:avLst/>
          </a:prstGeom>
          <a:noFill/>
          <a:ln>
            <a:noFill/>
          </a:ln>
        </p:spPr>
      </p:pic>
      <p:pic>
        <p:nvPicPr>
          <p:cNvPr id="544" name="Google Shape;544;p6" descr="Send"/>
          <p:cNvPicPr preferRelativeResize="0"/>
          <p:nvPr/>
        </p:nvPicPr>
        <p:blipFill rotWithShape="1">
          <a:blip r:embed="rId5">
            <a:alphaModFix/>
          </a:blip>
          <a:srcRect/>
          <a:stretch/>
        </p:blipFill>
        <p:spPr>
          <a:xfrm>
            <a:off x="10546392" y="5704019"/>
            <a:ext cx="439200" cy="439200"/>
          </a:xfrm>
          <a:prstGeom prst="rect">
            <a:avLst/>
          </a:prstGeom>
          <a:noFill/>
          <a:ln>
            <a:noFill/>
          </a:ln>
        </p:spPr>
      </p:pic>
      <p:pic>
        <p:nvPicPr>
          <p:cNvPr id="545" name="Google Shape;545;p6" descr="Building"/>
          <p:cNvPicPr preferRelativeResize="0"/>
          <p:nvPr/>
        </p:nvPicPr>
        <p:blipFill rotWithShape="1">
          <a:blip r:embed="rId6">
            <a:alphaModFix/>
          </a:blip>
          <a:srcRect/>
          <a:stretch/>
        </p:blipFill>
        <p:spPr>
          <a:xfrm>
            <a:off x="10531087" y="4369837"/>
            <a:ext cx="439200" cy="439200"/>
          </a:xfrm>
          <a:prstGeom prst="rect">
            <a:avLst/>
          </a:prstGeom>
          <a:noFill/>
          <a:ln>
            <a:noFill/>
          </a:ln>
        </p:spPr>
      </p:pic>
      <p:sp>
        <p:nvSpPr>
          <p:cNvPr id="546" name="Google Shape;546;p6"/>
          <p:cNvSpPr txBox="1"/>
          <p:nvPr/>
        </p:nvSpPr>
        <p:spPr>
          <a:xfrm>
            <a:off x="10953195" y="4475685"/>
            <a:ext cx="691020" cy="1692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Century Gothic"/>
              <a:buNone/>
            </a:pPr>
            <a:r>
              <a:rPr lang="en-US" sz="1100" b="1" i="0" u="none" strike="noStrike" cap="none">
                <a:solidFill>
                  <a:srgbClr val="3E3D40"/>
                </a:solidFill>
                <a:latin typeface="Century Gothic"/>
                <a:ea typeface="Century Gothic"/>
                <a:cs typeface="Century Gothic"/>
                <a:sym typeface="Century Gothic"/>
              </a:rPr>
              <a:t>Hotel</a:t>
            </a:r>
            <a:endParaRPr sz="1400" b="1" i="0" u="none" strike="noStrike" cap="none">
              <a:solidFill>
                <a:srgbClr val="3E3D40"/>
              </a:solidFill>
              <a:latin typeface="Century Gothic"/>
              <a:ea typeface="Century Gothic"/>
              <a:cs typeface="Century Gothic"/>
              <a:sym typeface="Century Gothic"/>
            </a:endParaRPr>
          </a:p>
        </p:txBody>
      </p:sp>
      <p:sp>
        <p:nvSpPr>
          <p:cNvPr id="547" name="Google Shape;547;p6"/>
          <p:cNvSpPr txBox="1"/>
          <p:nvPr/>
        </p:nvSpPr>
        <p:spPr>
          <a:xfrm>
            <a:off x="10970287" y="5188675"/>
            <a:ext cx="691020" cy="1692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Century Gothic"/>
              <a:buNone/>
            </a:pPr>
            <a:r>
              <a:rPr lang="en-US" sz="1100" b="1" i="0" u="none" strike="noStrike" cap="none">
                <a:solidFill>
                  <a:srgbClr val="3E3D40"/>
                </a:solidFill>
                <a:latin typeface="Century Gothic"/>
                <a:ea typeface="Century Gothic"/>
                <a:cs typeface="Century Gothic"/>
                <a:sym typeface="Century Gothic"/>
              </a:rPr>
              <a:t>Train</a:t>
            </a:r>
            <a:endParaRPr sz="1400" b="1" i="0" u="none" strike="noStrike" cap="none">
              <a:solidFill>
                <a:srgbClr val="3E3D40"/>
              </a:solidFill>
              <a:latin typeface="Century Gothic"/>
              <a:ea typeface="Century Gothic"/>
              <a:cs typeface="Century Gothic"/>
              <a:sym typeface="Century Gothic"/>
            </a:endParaRPr>
          </a:p>
        </p:txBody>
      </p:sp>
      <p:sp>
        <p:nvSpPr>
          <p:cNvPr id="548" name="Google Shape;548;p6"/>
          <p:cNvSpPr txBox="1"/>
          <p:nvPr/>
        </p:nvSpPr>
        <p:spPr>
          <a:xfrm>
            <a:off x="10985592" y="5817026"/>
            <a:ext cx="691020" cy="1692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Century Gothic"/>
              <a:buNone/>
            </a:pPr>
            <a:r>
              <a:rPr lang="en-US" sz="1100" b="1" i="0" u="none" strike="noStrike" cap="none">
                <a:solidFill>
                  <a:srgbClr val="3E3D40"/>
                </a:solidFill>
                <a:latin typeface="Century Gothic"/>
                <a:ea typeface="Century Gothic"/>
                <a:cs typeface="Century Gothic"/>
                <a:sym typeface="Century Gothic"/>
              </a:rPr>
              <a:t>Trip</a:t>
            </a:r>
            <a:endParaRPr sz="1400" b="1" i="0" u="none" strike="noStrike" cap="none">
              <a:solidFill>
                <a:srgbClr val="3E3D40"/>
              </a:solidFill>
              <a:latin typeface="Century Gothic"/>
              <a:ea typeface="Century Gothic"/>
              <a:cs typeface="Century Gothic"/>
              <a:sym typeface="Century Gothic"/>
            </a:endParaRPr>
          </a:p>
        </p:txBody>
      </p:sp>
      <p:grpSp>
        <p:nvGrpSpPr>
          <p:cNvPr id="549" name="Google Shape;549;p6"/>
          <p:cNvGrpSpPr/>
          <p:nvPr/>
        </p:nvGrpSpPr>
        <p:grpSpPr>
          <a:xfrm>
            <a:off x="457494" y="3760054"/>
            <a:ext cx="9970020" cy="829383"/>
            <a:chOff x="255995" y="1561617"/>
            <a:chExt cx="9970020" cy="1024534"/>
          </a:xfrm>
        </p:grpSpPr>
        <p:sp>
          <p:nvSpPr>
            <p:cNvPr id="550" name="Google Shape;550;p6"/>
            <p:cNvSpPr txBox="1"/>
            <p:nvPr/>
          </p:nvSpPr>
          <p:spPr>
            <a:xfrm>
              <a:off x="255995" y="1561617"/>
              <a:ext cx="2975008" cy="646331"/>
            </a:xfrm>
            <a:prstGeom prst="rect">
              <a:avLst/>
            </a:prstGeom>
            <a:solidFill>
              <a:srgbClr val="FF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b="1">
                <a:solidFill>
                  <a:schemeClr val="dk1"/>
                </a:solidFill>
                <a:latin typeface="Century Gothic"/>
                <a:ea typeface="Century Gothic"/>
                <a:cs typeface="Century Gothic"/>
                <a:sym typeface="Century Gothic"/>
              </a:endParaRPr>
            </a:p>
          </p:txBody>
        </p:sp>
        <p:sp>
          <p:nvSpPr>
            <p:cNvPr id="551" name="Google Shape;551;p6"/>
            <p:cNvSpPr txBox="1"/>
            <p:nvPr/>
          </p:nvSpPr>
          <p:spPr>
            <a:xfrm>
              <a:off x="256273" y="1727222"/>
              <a:ext cx="2198038" cy="3231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bg1"/>
                  </a:solidFill>
                  <a:latin typeface="Century Gothic"/>
                  <a:ea typeface="Century Gothic"/>
                  <a:cs typeface="Century Gothic"/>
                  <a:sym typeface="Century Gothic"/>
                </a:rPr>
                <a:t>What can we do for analysis?</a:t>
              </a:r>
              <a:endParaRPr dirty="0">
                <a:solidFill>
                  <a:schemeClr val="bg1"/>
                </a:solidFill>
              </a:endParaRPr>
            </a:p>
          </p:txBody>
        </p:sp>
        <p:sp>
          <p:nvSpPr>
            <p:cNvPr id="552" name="Google Shape;552;p6"/>
            <p:cNvSpPr/>
            <p:nvPr/>
          </p:nvSpPr>
          <p:spPr>
            <a:xfrm>
              <a:off x="3447546" y="1635663"/>
              <a:ext cx="6778469" cy="950488"/>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100"/>
                <a:buFont typeface="Arial"/>
                <a:buChar char="•"/>
              </a:pPr>
              <a:r>
                <a:rPr lang="en-US" sz="1100" dirty="0">
                  <a:solidFill>
                    <a:schemeClr val="dk1"/>
                  </a:solidFill>
                  <a:latin typeface="Century Gothic"/>
                  <a:ea typeface="Century Gothic"/>
                  <a:cs typeface="Century Gothic"/>
                  <a:sym typeface="Century Gothic"/>
                </a:rPr>
                <a:t>Characteristics RFM Transactions toward churn/ Retention </a:t>
              </a:r>
              <a:r>
                <a:rPr lang="en-US" sz="1100" dirty="0" err="1">
                  <a:solidFill>
                    <a:schemeClr val="dk1"/>
                  </a:solidFill>
                  <a:latin typeface="Century Gothic"/>
                  <a:ea typeface="Century Gothic"/>
                  <a:cs typeface="Century Gothic"/>
                  <a:sym typeface="Century Gothic"/>
                </a:rPr>
                <a:t>Behaviour</a:t>
              </a:r>
              <a:r>
                <a:rPr lang="en-US" sz="1100" dirty="0">
                  <a:solidFill>
                    <a:schemeClr val="dk1"/>
                  </a:solidFill>
                  <a:latin typeface="Century Gothic"/>
                  <a:ea typeface="Century Gothic"/>
                  <a:cs typeface="Century Gothic"/>
                  <a:sym typeface="Century Gothic"/>
                </a:rPr>
                <a:t>. All three aspects, Recency (How recent), Frequency (count issue, count booking), and monetary (invoice / booking account). Panel Analysis to see retention </a:t>
              </a:r>
              <a:r>
                <a:rPr lang="en-US" sz="1100" dirty="0" err="1">
                  <a:solidFill>
                    <a:schemeClr val="dk1"/>
                  </a:solidFill>
                  <a:latin typeface="Century Gothic"/>
                  <a:ea typeface="Century Gothic"/>
                  <a:cs typeface="Century Gothic"/>
                  <a:sym typeface="Century Gothic"/>
                </a:rPr>
                <a:t>behaviour</a:t>
              </a:r>
              <a:r>
                <a:rPr lang="en-US" sz="1100" dirty="0">
                  <a:solidFill>
                    <a:schemeClr val="dk1"/>
                  </a:solidFill>
                  <a:latin typeface="Century Gothic"/>
                  <a:ea typeface="Century Gothic"/>
                  <a:cs typeface="Century Gothic"/>
                  <a:sym typeface="Century Gothic"/>
                </a:rPr>
                <a:t> and sanity checking toward all finding</a:t>
              </a:r>
              <a:endParaRPr sz="1100" dirty="0">
                <a:solidFill>
                  <a:schemeClr val="dk1"/>
                </a:solidFill>
                <a:latin typeface="Century Gothic"/>
                <a:ea typeface="Century Gothic"/>
                <a:cs typeface="Century Gothic"/>
                <a:sym typeface="Century Gothic"/>
              </a:endParaRPr>
            </a:p>
          </p:txBody>
        </p:sp>
      </p:grpSp>
      <p:sp>
        <p:nvSpPr>
          <p:cNvPr id="553" name="Google Shape;553;p6"/>
          <p:cNvSpPr txBox="1"/>
          <p:nvPr/>
        </p:nvSpPr>
        <p:spPr>
          <a:xfrm>
            <a:off x="457493" y="4521438"/>
            <a:ext cx="2975008" cy="523219"/>
          </a:xfrm>
          <a:prstGeom prst="rect">
            <a:avLst/>
          </a:prstGeom>
          <a:solidFill>
            <a:srgbClr val="FF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b="1">
              <a:solidFill>
                <a:schemeClr val="dk1"/>
              </a:solidFill>
              <a:latin typeface="Century Gothic"/>
              <a:ea typeface="Century Gothic"/>
              <a:cs typeface="Century Gothic"/>
              <a:sym typeface="Century Gothic"/>
            </a:endParaRPr>
          </a:p>
        </p:txBody>
      </p:sp>
      <p:sp>
        <p:nvSpPr>
          <p:cNvPr id="554" name="Google Shape;554;p6"/>
          <p:cNvSpPr txBox="1"/>
          <p:nvPr/>
        </p:nvSpPr>
        <p:spPr>
          <a:xfrm>
            <a:off x="457771" y="4655499"/>
            <a:ext cx="229582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bg1"/>
                </a:solidFill>
                <a:latin typeface="Century Gothic"/>
                <a:ea typeface="Century Gothic"/>
                <a:cs typeface="Century Gothic"/>
                <a:sym typeface="Century Gothic"/>
              </a:rPr>
              <a:t>What can’t we do for analysis?</a:t>
            </a:r>
            <a:endParaRPr dirty="0">
              <a:solidFill>
                <a:schemeClr val="bg1"/>
              </a:solidFill>
            </a:endParaRPr>
          </a:p>
        </p:txBody>
      </p:sp>
      <p:sp>
        <p:nvSpPr>
          <p:cNvPr id="555" name="Google Shape;555;p6"/>
          <p:cNvSpPr/>
          <p:nvPr/>
        </p:nvSpPr>
        <p:spPr>
          <a:xfrm>
            <a:off x="3657120" y="4655499"/>
            <a:ext cx="6778469" cy="600164"/>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100"/>
              <a:buFont typeface="Arial"/>
              <a:buChar char="•"/>
            </a:pPr>
            <a:r>
              <a:rPr lang="en-US" sz="1100" dirty="0">
                <a:solidFill>
                  <a:schemeClr val="dk1"/>
                </a:solidFill>
                <a:latin typeface="Century Gothic"/>
                <a:ea typeface="Century Gothic"/>
                <a:cs typeface="Century Gothic"/>
                <a:sym typeface="Century Gothic"/>
              </a:rPr>
              <a:t>Data user level (loyal/normal customer), journey UX (unseen where the advertisement comes from as it only provide transaction data), Fraud Flag, Segment User. our dimension limited to transaction point of view</a:t>
            </a:r>
            <a:endParaRPr sz="1100" dirty="0">
              <a:solidFill>
                <a:schemeClr val="dk1"/>
              </a:solidFill>
              <a:latin typeface="Century Gothic"/>
              <a:ea typeface="Century Gothic"/>
              <a:cs typeface="Century Gothic"/>
              <a:sym typeface="Century Gothic"/>
            </a:endParaRPr>
          </a:p>
        </p:txBody>
      </p:sp>
      <p:sp>
        <p:nvSpPr>
          <p:cNvPr id="556" name="Google Shape;556;p6"/>
          <p:cNvSpPr txBox="1"/>
          <p:nvPr/>
        </p:nvSpPr>
        <p:spPr>
          <a:xfrm>
            <a:off x="457493" y="5225618"/>
            <a:ext cx="2975008" cy="523219"/>
          </a:xfrm>
          <a:prstGeom prst="rect">
            <a:avLst/>
          </a:prstGeom>
          <a:solidFill>
            <a:srgbClr val="FF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b="1">
              <a:solidFill>
                <a:schemeClr val="dk1"/>
              </a:solidFill>
              <a:latin typeface="Century Gothic"/>
              <a:ea typeface="Century Gothic"/>
              <a:cs typeface="Century Gothic"/>
              <a:sym typeface="Century Gothic"/>
            </a:endParaRPr>
          </a:p>
        </p:txBody>
      </p:sp>
      <p:sp>
        <p:nvSpPr>
          <p:cNvPr id="557" name="Google Shape;557;p6"/>
          <p:cNvSpPr txBox="1"/>
          <p:nvPr/>
        </p:nvSpPr>
        <p:spPr>
          <a:xfrm>
            <a:off x="476070" y="5343733"/>
            <a:ext cx="220445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bg1"/>
                </a:solidFill>
                <a:latin typeface="Century Gothic"/>
                <a:ea typeface="Century Gothic"/>
                <a:cs typeface="Century Gothic"/>
                <a:sym typeface="Century Gothic"/>
              </a:rPr>
              <a:t>How long range of timeframe</a:t>
            </a:r>
            <a:endParaRPr dirty="0">
              <a:solidFill>
                <a:schemeClr val="bg1"/>
              </a:solidFill>
            </a:endParaRPr>
          </a:p>
        </p:txBody>
      </p:sp>
      <p:sp>
        <p:nvSpPr>
          <p:cNvPr id="558" name="Google Shape;558;p6"/>
          <p:cNvSpPr/>
          <p:nvPr/>
        </p:nvSpPr>
        <p:spPr>
          <a:xfrm>
            <a:off x="3667184" y="5331778"/>
            <a:ext cx="6778469" cy="261610"/>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100"/>
              <a:buFont typeface="Arial"/>
              <a:buChar char="•"/>
            </a:pPr>
            <a:r>
              <a:rPr lang="en-US" sz="1100">
                <a:solidFill>
                  <a:schemeClr val="dk1"/>
                </a:solidFill>
                <a:latin typeface="Century Gothic"/>
                <a:ea typeface="Century Gothic"/>
                <a:cs typeface="Century Gothic"/>
                <a:sym typeface="Century Gothic"/>
              </a:rPr>
              <a:t>Timeframe dataset has range interval from 2013 to 2019</a:t>
            </a:r>
            <a:endParaRPr sz="1100">
              <a:solidFill>
                <a:schemeClr val="dk1"/>
              </a:solidFill>
              <a:latin typeface="Century Gothic"/>
              <a:ea typeface="Century Gothic"/>
              <a:cs typeface="Century Gothic"/>
              <a:sym typeface="Century Gothic"/>
            </a:endParaRPr>
          </a:p>
        </p:txBody>
      </p:sp>
      <p:cxnSp>
        <p:nvCxnSpPr>
          <p:cNvPr id="559" name="Google Shape;559;p6"/>
          <p:cNvCxnSpPr/>
          <p:nvPr/>
        </p:nvCxnSpPr>
        <p:spPr>
          <a:xfrm>
            <a:off x="3579131" y="3387918"/>
            <a:ext cx="18128" cy="3004336"/>
          </a:xfrm>
          <a:prstGeom prst="straightConnector1">
            <a:avLst/>
          </a:prstGeom>
          <a:noFill/>
          <a:ln w="12700" cap="flat" cmpd="sng">
            <a:solidFill>
              <a:srgbClr val="A5A5A5"/>
            </a:solidFill>
            <a:prstDash val="dash"/>
            <a:miter lim="800000"/>
            <a:headEnd type="none" w="sm" len="sm"/>
            <a:tailEnd type="none" w="sm" len="sm"/>
          </a:ln>
        </p:spPr>
      </p:cxnSp>
      <p:sp>
        <p:nvSpPr>
          <p:cNvPr id="560" name="Google Shape;560;p6"/>
          <p:cNvSpPr txBox="1"/>
          <p:nvPr/>
        </p:nvSpPr>
        <p:spPr>
          <a:xfrm>
            <a:off x="451552" y="5909544"/>
            <a:ext cx="2975008" cy="523219"/>
          </a:xfrm>
          <a:prstGeom prst="rect">
            <a:avLst/>
          </a:prstGeom>
          <a:solidFill>
            <a:srgbClr val="FF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b="1">
              <a:solidFill>
                <a:schemeClr val="dk1"/>
              </a:solidFill>
              <a:latin typeface="Century Gothic"/>
              <a:ea typeface="Century Gothic"/>
              <a:cs typeface="Century Gothic"/>
              <a:sym typeface="Century Gothic"/>
            </a:endParaRPr>
          </a:p>
        </p:txBody>
      </p:sp>
      <p:sp>
        <p:nvSpPr>
          <p:cNvPr id="561" name="Google Shape;561;p6"/>
          <p:cNvSpPr txBox="1"/>
          <p:nvPr/>
        </p:nvSpPr>
        <p:spPr>
          <a:xfrm>
            <a:off x="476070" y="6040348"/>
            <a:ext cx="2443298"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bg1"/>
                </a:solidFill>
                <a:latin typeface="Century Gothic"/>
                <a:ea typeface="Century Gothic"/>
                <a:cs typeface="Century Gothic"/>
                <a:sym typeface="Century Gothic"/>
              </a:rPr>
              <a:t>Which Year Majority Population ?</a:t>
            </a:r>
            <a:endParaRPr dirty="0">
              <a:solidFill>
                <a:schemeClr val="bg1"/>
              </a:solidFill>
            </a:endParaRPr>
          </a:p>
        </p:txBody>
      </p:sp>
      <p:sp>
        <p:nvSpPr>
          <p:cNvPr id="562" name="Google Shape;562;p6"/>
          <p:cNvSpPr/>
          <p:nvPr/>
        </p:nvSpPr>
        <p:spPr>
          <a:xfrm>
            <a:off x="3674629" y="5931529"/>
            <a:ext cx="6778469" cy="261610"/>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100"/>
              <a:buFont typeface="Arial"/>
              <a:buChar char="•"/>
            </a:pPr>
            <a:r>
              <a:rPr lang="en-US" sz="1100">
                <a:solidFill>
                  <a:schemeClr val="dk1"/>
                </a:solidFill>
                <a:latin typeface="Century Gothic"/>
                <a:ea typeface="Century Gothic"/>
                <a:cs typeface="Century Gothic"/>
                <a:sym typeface="Century Gothic"/>
              </a:rPr>
              <a:t>Majority year is 2018 based on proportion compared to other years</a:t>
            </a:r>
            <a:endParaRPr sz="1100">
              <a:solidFill>
                <a:schemeClr val="dk1"/>
              </a:solidFill>
              <a:latin typeface="Century Gothic"/>
              <a:ea typeface="Century Gothic"/>
              <a:cs typeface="Century Gothic"/>
              <a:sym typeface="Century Gothic"/>
            </a:endParaRPr>
          </a:p>
        </p:txBody>
      </p:sp>
      <p:sp>
        <p:nvSpPr>
          <p:cNvPr id="563" name="Google Shape;563;p6"/>
          <p:cNvSpPr txBox="1"/>
          <p:nvPr/>
        </p:nvSpPr>
        <p:spPr>
          <a:xfrm>
            <a:off x="158750" y="56586"/>
            <a:ext cx="3873319" cy="499456"/>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rgbClr val="00B0F0"/>
              </a:buClr>
              <a:buSzPts val="2000"/>
              <a:buFont typeface="Century Gothic"/>
              <a:buNone/>
            </a:pPr>
            <a:r>
              <a:rPr lang="en-US" sz="2000" dirty="0">
                <a:solidFill>
                  <a:srgbClr val="FF0000"/>
                </a:solidFill>
                <a:latin typeface="Century Gothic"/>
                <a:ea typeface="Century Gothic"/>
                <a:cs typeface="Century Gothic"/>
                <a:sym typeface="Century Gothic"/>
              </a:rPr>
              <a:t>Summary Data – Intro to Data</a:t>
            </a:r>
            <a:endParaRPr sz="2000" dirty="0">
              <a:solidFill>
                <a:srgbClr val="FF0000"/>
              </a:solidFill>
              <a:latin typeface="Century Gothic"/>
              <a:ea typeface="Century Gothic"/>
              <a:cs typeface="Century Gothic"/>
              <a:sym typeface="Century Gothic"/>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7"/>
          <p:cNvSpPr/>
          <p:nvPr/>
        </p:nvSpPr>
        <p:spPr>
          <a:xfrm>
            <a:off x="0" y="0"/>
            <a:ext cx="4383314" cy="6858000"/>
          </a:xfrm>
          <a:prstGeom prst="rect">
            <a:avLst/>
          </a:prstGeom>
          <a:solidFill>
            <a:srgbClr val="222A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0000"/>
              </a:solidFill>
              <a:latin typeface="Calibri"/>
              <a:ea typeface="Calibri"/>
              <a:cs typeface="Calibri"/>
              <a:sym typeface="Calibri"/>
            </a:endParaRPr>
          </a:p>
        </p:txBody>
      </p:sp>
      <p:sp>
        <p:nvSpPr>
          <p:cNvPr id="570" name="Google Shape;570;p7"/>
          <p:cNvSpPr txBox="1"/>
          <p:nvPr/>
        </p:nvSpPr>
        <p:spPr>
          <a:xfrm>
            <a:off x="-83054" y="2537450"/>
            <a:ext cx="4368800"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a:solidFill>
                  <a:schemeClr val="lt1"/>
                </a:solidFill>
                <a:latin typeface="Century Gothic"/>
                <a:ea typeface="Century Gothic"/>
                <a:cs typeface="Century Gothic"/>
                <a:sym typeface="Century Gothic"/>
              </a:rPr>
              <a:t>Initial Analysis</a:t>
            </a:r>
            <a:endParaRPr/>
          </a:p>
        </p:txBody>
      </p:sp>
      <p:sp>
        <p:nvSpPr>
          <p:cNvPr id="571" name="Google Shape;571;p7"/>
          <p:cNvSpPr/>
          <p:nvPr/>
        </p:nvSpPr>
        <p:spPr>
          <a:xfrm>
            <a:off x="4383314" y="-9713"/>
            <a:ext cx="7808686"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72" name="Google Shape;572;p7"/>
          <p:cNvSpPr/>
          <p:nvPr/>
        </p:nvSpPr>
        <p:spPr>
          <a:xfrm rot="10800000" flipH="1">
            <a:off x="4905291" y="1993955"/>
            <a:ext cx="2351313" cy="2568338"/>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D7141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73" name="Google Shape;573;p7"/>
          <p:cNvSpPr/>
          <p:nvPr/>
        </p:nvSpPr>
        <p:spPr>
          <a:xfrm rot="10800000" flipH="1">
            <a:off x="9578894" y="1980720"/>
            <a:ext cx="2351313" cy="2568338"/>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574" name="Google Shape;574;p7"/>
          <p:cNvGrpSpPr/>
          <p:nvPr/>
        </p:nvGrpSpPr>
        <p:grpSpPr>
          <a:xfrm>
            <a:off x="6042476" y="309601"/>
            <a:ext cx="2315938" cy="5312578"/>
            <a:chOff x="6042476" y="309601"/>
            <a:chExt cx="2315938" cy="5312578"/>
          </a:xfrm>
        </p:grpSpPr>
        <p:sp>
          <p:nvSpPr>
            <p:cNvPr id="575" name="Google Shape;575;p7"/>
            <p:cNvSpPr/>
            <p:nvPr/>
          </p:nvSpPr>
          <p:spPr>
            <a:xfrm rot="10800000" flipH="1">
              <a:off x="7952014" y="309601"/>
              <a:ext cx="406400" cy="435777"/>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87AE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76" name="Google Shape;576;p7"/>
            <p:cNvSpPr/>
            <p:nvPr/>
          </p:nvSpPr>
          <p:spPr>
            <a:xfrm rot="10800000" flipH="1">
              <a:off x="6042476" y="5186753"/>
              <a:ext cx="385538" cy="435426"/>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4DABC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grpSp>
        <p:nvGrpSpPr>
          <p:cNvPr id="577" name="Google Shape;577;p7"/>
          <p:cNvGrpSpPr/>
          <p:nvPr/>
        </p:nvGrpSpPr>
        <p:grpSpPr>
          <a:xfrm>
            <a:off x="5056952" y="1064692"/>
            <a:ext cx="6546350" cy="4350905"/>
            <a:chOff x="5191376" y="1882501"/>
            <a:chExt cx="6546350" cy="4350905"/>
          </a:xfrm>
        </p:grpSpPr>
        <p:grpSp>
          <p:nvGrpSpPr>
            <p:cNvPr id="578" name="Google Shape;578;p7"/>
            <p:cNvGrpSpPr/>
            <p:nvPr/>
          </p:nvGrpSpPr>
          <p:grpSpPr>
            <a:xfrm>
              <a:off x="5272885" y="1980720"/>
              <a:ext cx="6464841" cy="4252686"/>
              <a:chOff x="4667618" y="827314"/>
              <a:chExt cx="6464841" cy="4252686"/>
            </a:xfrm>
          </p:grpSpPr>
          <p:sp>
            <p:nvSpPr>
              <p:cNvPr id="579" name="Google Shape;579;p7"/>
              <p:cNvSpPr/>
              <p:nvPr/>
            </p:nvSpPr>
            <p:spPr>
              <a:xfrm rot="10800000" flipH="1">
                <a:off x="4667618" y="1207246"/>
                <a:ext cx="2604039" cy="3466353"/>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80" name="Google Shape;580;p7"/>
              <p:cNvSpPr/>
              <p:nvPr/>
            </p:nvSpPr>
            <p:spPr>
              <a:xfrm rot="10800000" flipH="1">
                <a:off x="6373049" y="1030514"/>
                <a:ext cx="2770952" cy="3831772"/>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581" name="Google Shape;581;p7"/>
              <p:cNvSpPr/>
              <p:nvPr/>
            </p:nvSpPr>
            <p:spPr>
              <a:xfrm rot="10800000" flipH="1">
                <a:off x="8165565" y="827314"/>
                <a:ext cx="2966894" cy="4252686"/>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sp>
          <p:nvSpPr>
            <p:cNvPr id="582" name="Google Shape;582;p7"/>
            <p:cNvSpPr/>
            <p:nvPr/>
          </p:nvSpPr>
          <p:spPr>
            <a:xfrm rot="10800000" flipH="1">
              <a:off x="5191376" y="1882501"/>
              <a:ext cx="6464841" cy="4252686"/>
            </a:xfrm>
            <a:custGeom>
              <a:avLst/>
              <a:gdLst/>
              <a:ahLst/>
              <a:cxnLst/>
              <a:rect l="l" t="t" r="r" b="b"/>
              <a:pathLst>
                <a:path w="6464841" h="4252686" extrusionOk="0">
                  <a:moveTo>
                    <a:pt x="0" y="3872754"/>
                  </a:moveTo>
                  <a:lnTo>
                    <a:pt x="1738482" y="3872754"/>
                  </a:lnTo>
                  <a:lnTo>
                    <a:pt x="2604039" y="2139578"/>
                  </a:lnTo>
                  <a:lnTo>
                    <a:pt x="1738482" y="406401"/>
                  </a:lnTo>
                  <a:lnTo>
                    <a:pt x="0" y="406401"/>
                  </a:lnTo>
                  <a:lnTo>
                    <a:pt x="865558" y="2139578"/>
                  </a:lnTo>
                  <a:close/>
                  <a:moveTo>
                    <a:pt x="1705431" y="4049486"/>
                  </a:moveTo>
                  <a:lnTo>
                    <a:pt x="3555345" y="4049486"/>
                  </a:lnTo>
                  <a:lnTo>
                    <a:pt x="4476383" y="2133600"/>
                  </a:lnTo>
                  <a:lnTo>
                    <a:pt x="3555345" y="217714"/>
                  </a:lnTo>
                  <a:lnTo>
                    <a:pt x="1705431" y="217714"/>
                  </a:lnTo>
                  <a:lnTo>
                    <a:pt x="2626469" y="2133600"/>
                  </a:lnTo>
                  <a:close/>
                  <a:moveTo>
                    <a:pt x="3497947" y="4252686"/>
                  </a:moveTo>
                  <a:lnTo>
                    <a:pt x="5478674" y="4252686"/>
                  </a:lnTo>
                  <a:lnTo>
                    <a:pt x="6464841" y="2126343"/>
                  </a:lnTo>
                  <a:lnTo>
                    <a:pt x="5478674" y="0"/>
                  </a:lnTo>
                  <a:lnTo>
                    <a:pt x="3497947" y="0"/>
                  </a:lnTo>
                  <a:lnTo>
                    <a:pt x="4484114" y="2126343"/>
                  </a:lnTo>
                  <a:close/>
                </a:path>
              </a:pathLst>
            </a:custGeom>
            <a:blipFill rotWithShape="1">
              <a:blip r:embed="rId5">
                <a:alphaModFix amt="25000"/>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74"/>
                                        </p:tgtEl>
                                        <p:attrNameLst>
                                          <p:attrName>style.visibility</p:attrName>
                                        </p:attrNameLst>
                                      </p:cBhvr>
                                      <p:to>
                                        <p:strVal val="visible"/>
                                      </p:to>
                                    </p:set>
                                    <p:anim calcmode="lin" valueType="num">
                                      <p:cBhvr additive="base">
                                        <p:cTn id="7" dur="500"/>
                                        <p:tgtEl>
                                          <p:spTgt spid="574"/>
                                        </p:tgtEl>
                                        <p:attrNameLst>
                                          <p:attrName>ppt_x</p:attrName>
                                        </p:attrNameLst>
                                      </p:cBhvr>
                                      <p:tavLst>
                                        <p:tav tm="0">
                                          <p:val>
                                            <p:strVal val="#ppt_x-1"/>
                                          </p:val>
                                        </p:tav>
                                        <p:tav tm="100000">
                                          <p:val>
                                            <p:strVal val="#ppt_x"/>
                                          </p:val>
                                        </p:tav>
                                      </p:tavLst>
                                    </p:anim>
                                  </p:childTnLst>
                                </p:cTn>
                              </p:par>
                              <p:par>
                                <p:cTn id="8" presetID="10" presetClass="entr" presetSubtype="0" fill="hold" nodeType="withEffect">
                                  <p:stCondLst>
                                    <p:cond delay="0"/>
                                  </p:stCondLst>
                                  <p:childTnLst>
                                    <p:set>
                                      <p:cBhvr>
                                        <p:cTn id="9" dur="1" fill="hold">
                                          <p:stCondLst>
                                            <p:cond delay="0"/>
                                          </p:stCondLst>
                                        </p:cTn>
                                        <p:tgtEl>
                                          <p:spTgt spid="570"/>
                                        </p:tgtEl>
                                        <p:attrNameLst>
                                          <p:attrName>style.visibility</p:attrName>
                                        </p:attrNameLst>
                                      </p:cBhvr>
                                      <p:to>
                                        <p:strVal val="visible"/>
                                      </p:to>
                                    </p:set>
                                    <p:animEffect transition="in" filter="fade">
                                      <p:cBhvr>
                                        <p:cTn id="10" dur="500"/>
                                        <p:tgtEl>
                                          <p:spTgt spid="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8"/>
          <p:cNvSpPr/>
          <p:nvPr/>
        </p:nvSpPr>
        <p:spPr>
          <a:xfrm>
            <a:off x="114485" y="88903"/>
            <a:ext cx="11181379" cy="4023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Initial Analysis – Construct Churns Label and checking successful transaction until issued</a:t>
            </a:r>
            <a:endParaRPr sz="2000" b="1" i="0" u="none" strike="noStrike" cap="none" dirty="0">
              <a:solidFill>
                <a:srgbClr val="FF0000"/>
              </a:solidFill>
              <a:latin typeface="Century Gothic"/>
              <a:ea typeface="Century Gothic"/>
              <a:cs typeface="Century Gothic"/>
              <a:sym typeface="Century Gothic"/>
            </a:endParaRPr>
          </a:p>
        </p:txBody>
      </p:sp>
      <p:cxnSp>
        <p:nvCxnSpPr>
          <p:cNvPr id="591" name="Google Shape;591;p8"/>
          <p:cNvCxnSpPr/>
          <p:nvPr/>
        </p:nvCxnSpPr>
        <p:spPr>
          <a:xfrm>
            <a:off x="2979174" y="938534"/>
            <a:ext cx="8316691" cy="0"/>
          </a:xfrm>
          <a:prstGeom prst="straightConnector1">
            <a:avLst/>
          </a:prstGeom>
          <a:noFill/>
          <a:ln w="9525" cap="flat" cmpd="sng">
            <a:solidFill>
              <a:srgbClr val="FF0000"/>
            </a:solidFill>
            <a:prstDash val="solid"/>
            <a:miter lim="800000"/>
            <a:headEnd type="none" w="sm" len="sm"/>
            <a:tailEnd type="none" w="sm" len="sm"/>
          </a:ln>
        </p:spPr>
      </p:cxnSp>
      <p:sp>
        <p:nvSpPr>
          <p:cNvPr id="592" name="Google Shape;592;p8"/>
          <p:cNvSpPr txBox="1"/>
          <p:nvPr/>
        </p:nvSpPr>
        <p:spPr>
          <a:xfrm>
            <a:off x="6420015" y="589750"/>
            <a:ext cx="14350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F0"/>
              </a:buClr>
              <a:buSzPts val="1800"/>
              <a:buFont typeface="Century Gothic"/>
              <a:buNone/>
            </a:pPr>
            <a:r>
              <a:rPr lang="en-US" sz="1800" b="1" i="0" u="none" strike="noStrike" cap="none" dirty="0">
                <a:solidFill>
                  <a:srgbClr val="FF0000"/>
                </a:solidFill>
                <a:latin typeface="Century Gothic"/>
                <a:ea typeface="Century Gothic"/>
                <a:cs typeface="Century Gothic"/>
                <a:sym typeface="Century Gothic"/>
              </a:rPr>
              <a:t>Description</a:t>
            </a:r>
            <a:endParaRPr dirty="0">
              <a:solidFill>
                <a:srgbClr val="FF0000"/>
              </a:solidFill>
            </a:endParaRPr>
          </a:p>
        </p:txBody>
      </p:sp>
      <p:sp>
        <p:nvSpPr>
          <p:cNvPr id="594" name="Google Shape;594;p8"/>
          <p:cNvSpPr/>
          <p:nvPr/>
        </p:nvSpPr>
        <p:spPr>
          <a:xfrm>
            <a:off x="582427" y="1484085"/>
            <a:ext cx="1582994" cy="2017105"/>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entury Gothic"/>
              <a:buNone/>
            </a:pPr>
            <a:r>
              <a:rPr lang="en-US" sz="1800" b="0" i="0" u="none" strike="noStrike" cap="none" dirty="0">
                <a:solidFill>
                  <a:srgbClr val="FFFFFF"/>
                </a:solidFill>
                <a:latin typeface="Century Gothic"/>
                <a:ea typeface="Century Gothic"/>
                <a:cs typeface="Century Gothic"/>
                <a:sym typeface="Century Gothic"/>
              </a:rPr>
              <a:t>Checking Successful Transactions until Issued</a:t>
            </a:r>
            <a:endParaRPr dirty="0"/>
          </a:p>
        </p:txBody>
      </p:sp>
      <p:sp>
        <p:nvSpPr>
          <p:cNvPr id="595" name="Google Shape;595;p8"/>
          <p:cNvSpPr/>
          <p:nvPr/>
        </p:nvSpPr>
        <p:spPr>
          <a:xfrm>
            <a:off x="512345" y="1357906"/>
            <a:ext cx="275303" cy="285135"/>
          </a:xfrm>
          <a:prstGeom prst="ellipse">
            <a:avLst/>
          </a:prstGeom>
          <a:solidFill>
            <a:srgbClr val="00B0F0"/>
          </a:solidFill>
          <a:ln w="222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dirty="0">
                <a:solidFill>
                  <a:srgbClr val="FFFFFF"/>
                </a:solidFill>
                <a:latin typeface="Calibri"/>
                <a:cs typeface="Calibri"/>
                <a:sym typeface="Calibri"/>
              </a:rPr>
              <a:t>1</a:t>
            </a:r>
            <a:endParaRPr dirty="0"/>
          </a:p>
        </p:txBody>
      </p:sp>
      <p:sp>
        <p:nvSpPr>
          <p:cNvPr id="13" name="Google Shape;604;p9">
            <a:extLst>
              <a:ext uri="{FF2B5EF4-FFF2-40B4-BE49-F238E27FC236}">
                <a16:creationId xmlns:a16="http://schemas.microsoft.com/office/drawing/2014/main" id="{D361328F-6FD5-4378-9467-3F785F9C87AC}"/>
              </a:ext>
            </a:extLst>
          </p:cNvPr>
          <p:cNvSpPr/>
          <p:nvPr/>
        </p:nvSpPr>
        <p:spPr>
          <a:xfrm>
            <a:off x="2835996" y="3218604"/>
            <a:ext cx="1361491" cy="441808"/>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 name="Google Shape;609;p9">
            <a:extLst>
              <a:ext uri="{FF2B5EF4-FFF2-40B4-BE49-F238E27FC236}">
                <a16:creationId xmlns:a16="http://schemas.microsoft.com/office/drawing/2014/main" id="{DA1B3A6F-0291-46AD-9DDE-DF8EE397E852}"/>
              </a:ext>
            </a:extLst>
          </p:cNvPr>
          <p:cNvSpPr/>
          <p:nvPr/>
        </p:nvSpPr>
        <p:spPr>
          <a:xfrm>
            <a:off x="2774280" y="2537212"/>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a:solidFill>
                  <a:schemeClr val="lt1"/>
                </a:solidFill>
                <a:latin typeface="Century Gothic"/>
                <a:ea typeface="Century Gothic"/>
                <a:cs typeface="Century Gothic"/>
                <a:sym typeface="Century Gothic"/>
              </a:rPr>
              <a:t>Overall Population</a:t>
            </a:r>
            <a:endParaRPr dirty="0"/>
          </a:p>
          <a:p>
            <a:pPr marL="0" marR="0" lvl="0" indent="0" algn="ctr" rtl="0">
              <a:spcBef>
                <a:spcPts val="0"/>
              </a:spcBef>
              <a:spcAft>
                <a:spcPts val="0"/>
              </a:spcAft>
              <a:buNone/>
            </a:pPr>
            <a:r>
              <a:rPr lang="en-US" sz="1100" b="1" dirty="0">
                <a:solidFill>
                  <a:schemeClr val="lt1"/>
                </a:solidFill>
                <a:latin typeface="Century Gothic"/>
                <a:ea typeface="Century Gothic"/>
                <a:cs typeface="Century Gothic"/>
                <a:sym typeface="Century Gothic"/>
              </a:rPr>
              <a:t>(278 K)</a:t>
            </a:r>
            <a:endParaRPr dirty="0"/>
          </a:p>
        </p:txBody>
      </p:sp>
      <p:sp>
        <p:nvSpPr>
          <p:cNvPr id="15" name="Google Shape;611;p9">
            <a:extLst>
              <a:ext uri="{FF2B5EF4-FFF2-40B4-BE49-F238E27FC236}">
                <a16:creationId xmlns:a16="http://schemas.microsoft.com/office/drawing/2014/main" id="{BCCF6680-81B0-48B8-9D03-38BA71C526D2}"/>
              </a:ext>
            </a:extLst>
          </p:cNvPr>
          <p:cNvSpPr txBox="1"/>
          <p:nvPr/>
        </p:nvSpPr>
        <p:spPr>
          <a:xfrm>
            <a:off x="2803308" y="3191272"/>
            <a:ext cx="1386918"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Only Booked	</a:t>
            </a:r>
            <a:r>
              <a:rPr lang="en-US" sz="1100" b="1" dirty="0">
                <a:solidFill>
                  <a:schemeClr val="dk1"/>
                </a:solidFill>
                <a:latin typeface="Century Gothic"/>
                <a:ea typeface="Century Gothic"/>
                <a:cs typeface="Century Gothic"/>
                <a:sym typeface="Century Gothic"/>
              </a:rPr>
              <a:t>26%</a:t>
            </a:r>
            <a:endParaRPr dirty="0"/>
          </a:p>
        </p:txBody>
      </p:sp>
      <p:sp>
        <p:nvSpPr>
          <p:cNvPr id="16" name="Google Shape;613;p9">
            <a:extLst>
              <a:ext uri="{FF2B5EF4-FFF2-40B4-BE49-F238E27FC236}">
                <a16:creationId xmlns:a16="http://schemas.microsoft.com/office/drawing/2014/main" id="{12BA9A94-61FA-4C6E-AEF6-47687A6D9EFF}"/>
              </a:ext>
            </a:extLst>
          </p:cNvPr>
          <p:cNvSpPr/>
          <p:nvPr/>
        </p:nvSpPr>
        <p:spPr>
          <a:xfrm>
            <a:off x="4853558" y="1088661"/>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a:solidFill>
                  <a:schemeClr val="lt1"/>
                </a:solidFill>
                <a:latin typeface="Century Gothic"/>
                <a:ea typeface="Century Gothic"/>
                <a:cs typeface="Century Gothic"/>
                <a:sym typeface="Century Gothic"/>
              </a:rPr>
              <a:t>Flight Population</a:t>
            </a:r>
            <a:endParaRPr dirty="0"/>
          </a:p>
          <a:p>
            <a:pPr marL="0" marR="0" lvl="0" indent="0" algn="ctr" rtl="0">
              <a:spcBef>
                <a:spcPts val="0"/>
              </a:spcBef>
              <a:spcAft>
                <a:spcPts val="0"/>
              </a:spcAft>
              <a:buNone/>
            </a:pPr>
            <a:r>
              <a:rPr lang="en-US" sz="1100" b="1" dirty="0">
                <a:solidFill>
                  <a:schemeClr val="lt1"/>
                </a:solidFill>
                <a:latin typeface="Calibri"/>
                <a:ea typeface="Calibri"/>
                <a:cs typeface="Calibri"/>
                <a:sym typeface="Calibri"/>
              </a:rPr>
              <a:t>136 K | 49%</a:t>
            </a:r>
            <a:endParaRPr sz="1100" b="1" dirty="0">
              <a:solidFill>
                <a:schemeClr val="lt1"/>
              </a:solidFill>
              <a:latin typeface="Century Gothic"/>
              <a:ea typeface="Century Gothic"/>
              <a:cs typeface="Century Gothic"/>
              <a:sym typeface="Century Gothic"/>
            </a:endParaRPr>
          </a:p>
        </p:txBody>
      </p:sp>
      <p:sp>
        <p:nvSpPr>
          <p:cNvPr id="17" name="Google Shape;614;p9">
            <a:extLst>
              <a:ext uri="{FF2B5EF4-FFF2-40B4-BE49-F238E27FC236}">
                <a16:creationId xmlns:a16="http://schemas.microsoft.com/office/drawing/2014/main" id="{D54779C8-FB1D-4A54-8395-333F986CED9C}"/>
              </a:ext>
            </a:extLst>
          </p:cNvPr>
          <p:cNvSpPr/>
          <p:nvPr/>
        </p:nvSpPr>
        <p:spPr>
          <a:xfrm>
            <a:off x="4858078" y="2040699"/>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a:solidFill>
                  <a:schemeClr val="lt1"/>
                </a:solidFill>
                <a:latin typeface="Century Gothic"/>
                <a:ea typeface="Century Gothic"/>
                <a:cs typeface="Century Gothic"/>
                <a:sym typeface="Century Gothic"/>
              </a:rPr>
              <a:t>Hotel Population</a:t>
            </a:r>
            <a:endParaRPr dirty="0"/>
          </a:p>
          <a:p>
            <a:pPr marL="0" marR="0" lvl="0" indent="0" algn="ctr" rtl="0">
              <a:spcBef>
                <a:spcPts val="0"/>
              </a:spcBef>
              <a:spcAft>
                <a:spcPts val="0"/>
              </a:spcAft>
              <a:buNone/>
            </a:pPr>
            <a:r>
              <a:rPr lang="en-US" sz="1100" b="1" dirty="0">
                <a:solidFill>
                  <a:schemeClr val="lt1"/>
                </a:solidFill>
                <a:latin typeface="Calibri"/>
                <a:ea typeface="Calibri"/>
                <a:cs typeface="Calibri"/>
                <a:sym typeface="Calibri"/>
              </a:rPr>
              <a:t>93 K | 33%</a:t>
            </a:r>
            <a:endParaRPr sz="1100" b="1" dirty="0">
              <a:solidFill>
                <a:schemeClr val="lt1"/>
              </a:solidFill>
              <a:latin typeface="Century Gothic"/>
              <a:ea typeface="Century Gothic"/>
              <a:cs typeface="Century Gothic"/>
              <a:sym typeface="Century Gothic"/>
            </a:endParaRPr>
          </a:p>
        </p:txBody>
      </p:sp>
      <p:sp>
        <p:nvSpPr>
          <p:cNvPr id="18" name="Google Shape;615;p9">
            <a:extLst>
              <a:ext uri="{FF2B5EF4-FFF2-40B4-BE49-F238E27FC236}">
                <a16:creationId xmlns:a16="http://schemas.microsoft.com/office/drawing/2014/main" id="{2F070608-1E4C-4087-9FF4-9A302B2E7973}"/>
              </a:ext>
            </a:extLst>
          </p:cNvPr>
          <p:cNvSpPr/>
          <p:nvPr/>
        </p:nvSpPr>
        <p:spPr>
          <a:xfrm>
            <a:off x="4853558" y="2992737"/>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a:solidFill>
                  <a:schemeClr val="lt1"/>
                </a:solidFill>
                <a:latin typeface="Century Gothic"/>
                <a:ea typeface="Century Gothic"/>
                <a:cs typeface="Century Gothic"/>
                <a:sym typeface="Century Gothic"/>
              </a:rPr>
              <a:t>Train Population</a:t>
            </a:r>
            <a:endParaRPr dirty="0"/>
          </a:p>
          <a:p>
            <a:pPr marL="0" marR="0" lvl="0" indent="0" algn="ctr" rtl="0">
              <a:spcBef>
                <a:spcPts val="0"/>
              </a:spcBef>
              <a:spcAft>
                <a:spcPts val="0"/>
              </a:spcAft>
              <a:buNone/>
            </a:pPr>
            <a:r>
              <a:rPr lang="en-US" sz="1100" b="1" dirty="0">
                <a:solidFill>
                  <a:schemeClr val="lt1"/>
                </a:solidFill>
                <a:latin typeface="Calibri"/>
                <a:ea typeface="Calibri"/>
                <a:cs typeface="Calibri"/>
                <a:sym typeface="Calibri"/>
              </a:rPr>
              <a:t>42 K | 15%</a:t>
            </a:r>
            <a:endParaRPr sz="1100" b="1" dirty="0">
              <a:solidFill>
                <a:schemeClr val="lt1"/>
              </a:solidFill>
              <a:latin typeface="Century Gothic"/>
              <a:ea typeface="Century Gothic"/>
              <a:cs typeface="Century Gothic"/>
              <a:sym typeface="Century Gothic"/>
            </a:endParaRPr>
          </a:p>
        </p:txBody>
      </p:sp>
      <p:sp>
        <p:nvSpPr>
          <p:cNvPr id="19" name="Google Shape;616;p9">
            <a:extLst>
              <a:ext uri="{FF2B5EF4-FFF2-40B4-BE49-F238E27FC236}">
                <a16:creationId xmlns:a16="http://schemas.microsoft.com/office/drawing/2014/main" id="{C6A4CE81-8569-4DCC-B3A5-A5A80536E581}"/>
              </a:ext>
            </a:extLst>
          </p:cNvPr>
          <p:cNvSpPr/>
          <p:nvPr/>
        </p:nvSpPr>
        <p:spPr>
          <a:xfrm>
            <a:off x="4850240" y="3944775"/>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a:solidFill>
                  <a:schemeClr val="lt1"/>
                </a:solidFill>
                <a:latin typeface="Century Gothic"/>
                <a:ea typeface="Century Gothic"/>
                <a:cs typeface="Century Gothic"/>
                <a:sym typeface="Century Gothic"/>
              </a:rPr>
              <a:t>Trip Population</a:t>
            </a:r>
            <a:endParaRPr dirty="0"/>
          </a:p>
          <a:p>
            <a:pPr marL="0" marR="0" lvl="0" indent="0" algn="ctr" rtl="0">
              <a:spcBef>
                <a:spcPts val="0"/>
              </a:spcBef>
              <a:spcAft>
                <a:spcPts val="0"/>
              </a:spcAft>
              <a:buNone/>
            </a:pPr>
            <a:r>
              <a:rPr lang="en-US" sz="1100" b="1" dirty="0">
                <a:solidFill>
                  <a:schemeClr val="lt1"/>
                </a:solidFill>
                <a:latin typeface="Calibri"/>
                <a:ea typeface="Calibri"/>
                <a:cs typeface="Calibri"/>
                <a:sym typeface="Calibri"/>
              </a:rPr>
              <a:t>6,7 K | 2.41%</a:t>
            </a:r>
            <a:endParaRPr sz="1100" b="1" dirty="0">
              <a:solidFill>
                <a:schemeClr val="lt1"/>
              </a:solidFill>
              <a:latin typeface="Century Gothic"/>
              <a:ea typeface="Century Gothic"/>
              <a:cs typeface="Century Gothic"/>
              <a:sym typeface="Century Gothic"/>
            </a:endParaRPr>
          </a:p>
        </p:txBody>
      </p:sp>
      <p:pic>
        <p:nvPicPr>
          <p:cNvPr id="20" name="Google Shape;618;p9" descr="Airplane">
            <a:extLst>
              <a:ext uri="{FF2B5EF4-FFF2-40B4-BE49-F238E27FC236}">
                <a16:creationId xmlns:a16="http://schemas.microsoft.com/office/drawing/2014/main" id="{D7B0EC67-0F84-4E8F-B21E-21043C97A7FC}"/>
              </a:ext>
            </a:extLst>
          </p:cNvPr>
          <p:cNvPicPr preferRelativeResize="0"/>
          <p:nvPr/>
        </p:nvPicPr>
        <p:blipFill rotWithShape="1">
          <a:blip r:embed="rId3">
            <a:alphaModFix/>
          </a:blip>
          <a:srcRect/>
          <a:stretch/>
        </p:blipFill>
        <p:spPr>
          <a:xfrm>
            <a:off x="4633440" y="1253734"/>
            <a:ext cx="440236" cy="440236"/>
          </a:xfrm>
          <a:prstGeom prst="rect">
            <a:avLst/>
          </a:prstGeom>
          <a:noFill/>
          <a:ln>
            <a:noFill/>
          </a:ln>
        </p:spPr>
      </p:pic>
      <p:pic>
        <p:nvPicPr>
          <p:cNvPr id="21" name="Google Shape;619;p9" descr="Train">
            <a:extLst>
              <a:ext uri="{FF2B5EF4-FFF2-40B4-BE49-F238E27FC236}">
                <a16:creationId xmlns:a16="http://schemas.microsoft.com/office/drawing/2014/main" id="{9067D925-1A5E-4A81-B494-DA36B6846439}"/>
              </a:ext>
            </a:extLst>
          </p:cNvPr>
          <p:cNvPicPr preferRelativeResize="0"/>
          <p:nvPr/>
        </p:nvPicPr>
        <p:blipFill rotWithShape="1">
          <a:blip r:embed="rId4">
            <a:alphaModFix/>
          </a:blip>
          <a:srcRect/>
          <a:stretch/>
        </p:blipFill>
        <p:spPr>
          <a:xfrm>
            <a:off x="4638478" y="2773137"/>
            <a:ext cx="439200" cy="439200"/>
          </a:xfrm>
          <a:prstGeom prst="rect">
            <a:avLst/>
          </a:prstGeom>
          <a:noFill/>
          <a:ln>
            <a:noFill/>
          </a:ln>
        </p:spPr>
      </p:pic>
      <p:pic>
        <p:nvPicPr>
          <p:cNvPr id="22" name="Google Shape;620;p9" descr="Send">
            <a:extLst>
              <a:ext uri="{FF2B5EF4-FFF2-40B4-BE49-F238E27FC236}">
                <a16:creationId xmlns:a16="http://schemas.microsoft.com/office/drawing/2014/main" id="{760940CA-A26D-4D62-A128-8BCC53A40696}"/>
              </a:ext>
            </a:extLst>
          </p:cNvPr>
          <p:cNvPicPr preferRelativeResize="0"/>
          <p:nvPr/>
        </p:nvPicPr>
        <p:blipFill rotWithShape="1">
          <a:blip r:embed="rId5">
            <a:alphaModFix/>
          </a:blip>
          <a:srcRect/>
          <a:stretch/>
        </p:blipFill>
        <p:spPr>
          <a:xfrm>
            <a:off x="4663185" y="3697046"/>
            <a:ext cx="439200" cy="439200"/>
          </a:xfrm>
          <a:prstGeom prst="rect">
            <a:avLst/>
          </a:prstGeom>
          <a:noFill/>
          <a:ln>
            <a:noFill/>
          </a:ln>
        </p:spPr>
      </p:pic>
      <p:pic>
        <p:nvPicPr>
          <p:cNvPr id="23" name="Google Shape;621;p9" descr="Building">
            <a:extLst>
              <a:ext uri="{FF2B5EF4-FFF2-40B4-BE49-F238E27FC236}">
                <a16:creationId xmlns:a16="http://schemas.microsoft.com/office/drawing/2014/main" id="{EB3C3F38-415B-48A0-B1EB-D130F69896A4}"/>
              </a:ext>
            </a:extLst>
          </p:cNvPr>
          <p:cNvPicPr preferRelativeResize="0"/>
          <p:nvPr/>
        </p:nvPicPr>
        <p:blipFill rotWithShape="1">
          <a:blip r:embed="rId6">
            <a:alphaModFix/>
          </a:blip>
          <a:srcRect/>
          <a:stretch/>
        </p:blipFill>
        <p:spPr>
          <a:xfrm>
            <a:off x="4634476" y="1781131"/>
            <a:ext cx="439200" cy="439200"/>
          </a:xfrm>
          <a:prstGeom prst="rect">
            <a:avLst/>
          </a:prstGeom>
          <a:noFill/>
          <a:ln>
            <a:noFill/>
          </a:ln>
        </p:spPr>
      </p:pic>
      <p:cxnSp>
        <p:nvCxnSpPr>
          <p:cNvPr id="24" name="Google Shape;622;p9">
            <a:extLst>
              <a:ext uri="{FF2B5EF4-FFF2-40B4-BE49-F238E27FC236}">
                <a16:creationId xmlns:a16="http://schemas.microsoft.com/office/drawing/2014/main" id="{9A796C17-5B7C-4B61-A9AE-7BF534223298}"/>
              </a:ext>
            </a:extLst>
          </p:cNvPr>
          <p:cNvCxnSpPr>
            <a:stCxn id="14" idx="3"/>
            <a:endCxn id="16" idx="1"/>
          </p:cNvCxnSpPr>
          <p:nvPr/>
        </p:nvCxnSpPr>
        <p:spPr>
          <a:xfrm flipV="1">
            <a:off x="4226514" y="1388832"/>
            <a:ext cx="627044" cy="1448551"/>
          </a:xfrm>
          <a:prstGeom prst="bentConnector3">
            <a:avLst>
              <a:gd name="adj1" fmla="val 50000"/>
            </a:avLst>
          </a:prstGeom>
          <a:noFill/>
          <a:ln w="9525" cap="flat" cmpd="sng">
            <a:solidFill>
              <a:srgbClr val="FF0000"/>
            </a:solidFill>
            <a:prstDash val="solid"/>
            <a:miter lim="800000"/>
            <a:headEnd type="none" w="sm" len="sm"/>
            <a:tailEnd type="triangle" w="med" len="med"/>
          </a:ln>
        </p:spPr>
      </p:cxnSp>
      <p:cxnSp>
        <p:nvCxnSpPr>
          <p:cNvPr id="25" name="Google Shape;623;p9">
            <a:extLst>
              <a:ext uri="{FF2B5EF4-FFF2-40B4-BE49-F238E27FC236}">
                <a16:creationId xmlns:a16="http://schemas.microsoft.com/office/drawing/2014/main" id="{28E8660B-7655-427F-9834-37A83541489E}"/>
              </a:ext>
            </a:extLst>
          </p:cNvPr>
          <p:cNvCxnSpPr>
            <a:stCxn id="14" idx="3"/>
            <a:endCxn id="17" idx="1"/>
          </p:cNvCxnSpPr>
          <p:nvPr/>
        </p:nvCxnSpPr>
        <p:spPr>
          <a:xfrm flipV="1">
            <a:off x="4226514" y="2340870"/>
            <a:ext cx="631564" cy="496513"/>
          </a:xfrm>
          <a:prstGeom prst="bentConnector3">
            <a:avLst>
              <a:gd name="adj1" fmla="val 50000"/>
            </a:avLst>
          </a:prstGeom>
          <a:noFill/>
          <a:ln w="9525" cap="flat" cmpd="sng">
            <a:solidFill>
              <a:srgbClr val="FF0000"/>
            </a:solidFill>
            <a:prstDash val="solid"/>
            <a:miter lim="800000"/>
            <a:headEnd type="none" w="sm" len="sm"/>
            <a:tailEnd type="triangle" w="med" len="med"/>
          </a:ln>
        </p:spPr>
      </p:cxnSp>
      <p:cxnSp>
        <p:nvCxnSpPr>
          <p:cNvPr id="26" name="Google Shape;624;p9">
            <a:extLst>
              <a:ext uri="{FF2B5EF4-FFF2-40B4-BE49-F238E27FC236}">
                <a16:creationId xmlns:a16="http://schemas.microsoft.com/office/drawing/2014/main" id="{13E38839-A4C4-4D1E-97E8-8339617A9C9F}"/>
              </a:ext>
            </a:extLst>
          </p:cNvPr>
          <p:cNvCxnSpPr>
            <a:stCxn id="14" idx="3"/>
            <a:endCxn id="19" idx="1"/>
          </p:cNvCxnSpPr>
          <p:nvPr/>
        </p:nvCxnSpPr>
        <p:spPr>
          <a:xfrm>
            <a:off x="4226514" y="2837383"/>
            <a:ext cx="623726" cy="1407563"/>
          </a:xfrm>
          <a:prstGeom prst="bentConnector3">
            <a:avLst>
              <a:gd name="adj1" fmla="val 50000"/>
            </a:avLst>
          </a:prstGeom>
          <a:noFill/>
          <a:ln w="9525" cap="flat" cmpd="sng">
            <a:solidFill>
              <a:srgbClr val="FF0000"/>
            </a:solidFill>
            <a:prstDash val="solid"/>
            <a:miter lim="800000"/>
            <a:headEnd type="none" w="sm" len="sm"/>
            <a:tailEnd type="triangle" w="med" len="med"/>
          </a:ln>
        </p:spPr>
      </p:cxnSp>
      <p:cxnSp>
        <p:nvCxnSpPr>
          <p:cNvPr id="27" name="Google Shape;625;p9">
            <a:extLst>
              <a:ext uri="{FF2B5EF4-FFF2-40B4-BE49-F238E27FC236}">
                <a16:creationId xmlns:a16="http://schemas.microsoft.com/office/drawing/2014/main" id="{9FB707FF-1C28-49B7-AE88-94D6BDE89D11}"/>
              </a:ext>
            </a:extLst>
          </p:cNvPr>
          <p:cNvCxnSpPr>
            <a:stCxn id="14" idx="3"/>
            <a:endCxn id="18" idx="1"/>
          </p:cNvCxnSpPr>
          <p:nvPr/>
        </p:nvCxnSpPr>
        <p:spPr>
          <a:xfrm>
            <a:off x="4226514" y="2837383"/>
            <a:ext cx="627044" cy="455525"/>
          </a:xfrm>
          <a:prstGeom prst="bentConnector3">
            <a:avLst>
              <a:gd name="adj1" fmla="val 50000"/>
            </a:avLst>
          </a:prstGeom>
          <a:noFill/>
          <a:ln w="9525" cap="flat" cmpd="sng">
            <a:solidFill>
              <a:srgbClr val="FF0000"/>
            </a:solidFill>
            <a:prstDash val="solid"/>
            <a:miter lim="800000"/>
            <a:headEnd type="none" w="sm" len="sm"/>
            <a:tailEnd type="triangle" w="med" len="med"/>
          </a:ln>
        </p:spPr>
      </p:cxnSp>
      <p:sp>
        <p:nvSpPr>
          <p:cNvPr id="28" name="Google Shape;626;p9">
            <a:extLst>
              <a:ext uri="{FF2B5EF4-FFF2-40B4-BE49-F238E27FC236}">
                <a16:creationId xmlns:a16="http://schemas.microsoft.com/office/drawing/2014/main" id="{23E9DCBA-253D-4A37-8092-09FB34CABCA7}"/>
              </a:ext>
            </a:extLst>
          </p:cNvPr>
          <p:cNvSpPr txBox="1"/>
          <p:nvPr/>
        </p:nvSpPr>
        <p:spPr>
          <a:xfrm>
            <a:off x="2803308" y="3398801"/>
            <a:ext cx="1386918"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Finish </a:t>
            </a:r>
            <a:r>
              <a:rPr lang="en-US" sz="1100" dirty="0" err="1">
                <a:solidFill>
                  <a:schemeClr val="dk1"/>
                </a:solidFill>
                <a:latin typeface="Century Gothic"/>
                <a:ea typeface="Century Gothic"/>
                <a:cs typeface="Century Gothic"/>
                <a:sym typeface="Century Gothic"/>
              </a:rPr>
              <a:t>Trx</a:t>
            </a:r>
            <a:r>
              <a:rPr lang="en-US" sz="1100" dirty="0">
                <a:solidFill>
                  <a:schemeClr val="dk1"/>
                </a:solidFill>
                <a:latin typeface="Century Gothic"/>
                <a:ea typeface="Century Gothic"/>
                <a:cs typeface="Century Gothic"/>
                <a:sym typeface="Century Gothic"/>
              </a:rPr>
              <a:t>	</a:t>
            </a:r>
            <a:r>
              <a:rPr lang="en-US" sz="1100" b="1" dirty="0">
                <a:solidFill>
                  <a:schemeClr val="dk1"/>
                </a:solidFill>
                <a:latin typeface="Century Gothic"/>
                <a:ea typeface="Century Gothic"/>
                <a:cs typeface="Century Gothic"/>
                <a:sym typeface="Century Gothic"/>
              </a:rPr>
              <a:t>74%</a:t>
            </a:r>
            <a:endParaRPr dirty="0"/>
          </a:p>
        </p:txBody>
      </p:sp>
      <p:sp>
        <p:nvSpPr>
          <p:cNvPr id="29" name="Google Shape;627;p9">
            <a:extLst>
              <a:ext uri="{FF2B5EF4-FFF2-40B4-BE49-F238E27FC236}">
                <a16:creationId xmlns:a16="http://schemas.microsoft.com/office/drawing/2014/main" id="{7368794C-83BD-49BF-901D-07581A333F97}"/>
              </a:ext>
            </a:extLst>
          </p:cNvPr>
          <p:cNvSpPr/>
          <p:nvPr/>
        </p:nvSpPr>
        <p:spPr>
          <a:xfrm>
            <a:off x="6374539" y="1143905"/>
            <a:ext cx="1361491" cy="441808"/>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 name="Google Shape;628;p9">
            <a:extLst>
              <a:ext uri="{FF2B5EF4-FFF2-40B4-BE49-F238E27FC236}">
                <a16:creationId xmlns:a16="http://schemas.microsoft.com/office/drawing/2014/main" id="{C0FE97EF-E250-4586-9BE7-09FEB1FBA097}"/>
              </a:ext>
            </a:extLst>
          </p:cNvPr>
          <p:cNvSpPr txBox="1"/>
          <p:nvPr/>
        </p:nvSpPr>
        <p:spPr>
          <a:xfrm>
            <a:off x="6341851" y="1116573"/>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Only Booked 	</a:t>
            </a:r>
            <a:r>
              <a:rPr lang="en-US" sz="1100" b="1" dirty="0">
                <a:solidFill>
                  <a:schemeClr val="dk1"/>
                </a:solidFill>
                <a:latin typeface="Century Gothic"/>
                <a:ea typeface="Century Gothic"/>
                <a:cs typeface="Century Gothic"/>
                <a:sym typeface="Century Gothic"/>
              </a:rPr>
              <a:t>24%</a:t>
            </a:r>
            <a:endParaRPr dirty="0"/>
          </a:p>
        </p:txBody>
      </p:sp>
      <p:sp>
        <p:nvSpPr>
          <p:cNvPr id="31" name="Google Shape;629;p9">
            <a:extLst>
              <a:ext uri="{FF2B5EF4-FFF2-40B4-BE49-F238E27FC236}">
                <a16:creationId xmlns:a16="http://schemas.microsoft.com/office/drawing/2014/main" id="{676B2738-C2CE-4046-AFCA-55D4B0DE2A66}"/>
              </a:ext>
            </a:extLst>
          </p:cNvPr>
          <p:cNvSpPr txBox="1"/>
          <p:nvPr/>
        </p:nvSpPr>
        <p:spPr>
          <a:xfrm>
            <a:off x="6341851" y="1324102"/>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Finish </a:t>
            </a:r>
            <a:r>
              <a:rPr lang="en-US" sz="1100" dirty="0" err="1">
                <a:solidFill>
                  <a:schemeClr val="dk1"/>
                </a:solidFill>
                <a:latin typeface="Century Gothic"/>
                <a:ea typeface="Century Gothic"/>
                <a:cs typeface="Century Gothic"/>
                <a:sym typeface="Century Gothic"/>
              </a:rPr>
              <a:t>Trx</a:t>
            </a:r>
            <a:r>
              <a:rPr lang="en-US" sz="1100" dirty="0">
                <a:solidFill>
                  <a:schemeClr val="dk1"/>
                </a:solidFill>
                <a:latin typeface="Century Gothic"/>
                <a:ea typeface="Century Gothic"/>
                <a:cs typeface="Century Gothic"/>
                <a:sym typeface="Century Gothic"/>
              </a:rPr>
              <a:t> 	</a:t>
            </a:r>
            <a:r>
              <a:rPr lang="en-US" sz="1100" b="1" dirty="0">
                <a:solidFill>
                  <a:schemeClr val="dk1"/>
                </a:solidFill>
                <a:latin typeface="Century Gothic"/>
                <a:ea typeface="Century Gothic"/>
                <a:cs typeface="Century Gothic"/>
                <a:sym typeface="Century Gothic"/>
              </a:rPr>
              <a:t>76%</a:t>
            </a:r>
            <a:endParaRPr dirty="0"/>
          </a:p>
        </p:txBody>
      </p:sp>
      <p:sp>
        <p:nvSpPr>
          <p:cNvPr id="32" name="Google Shape;630;p9">
            <a:extLst>
              <a:ext uri="{FF2B5EF4-FFF2-40B4-BE49-F238E27FC236}">
                <a16:creationId xmlns:a16="http://schemas.microsoft.com/office/drawing/2014/main" id="{6D54B875-77FA-4395-8527-E70D8629CE5F}"/>
              </a:ext>
            </a:extLst>
          </p:cNvPr>
          <p:cNvSpPr/>
          <p:nvPr/>
        </p:nvSpPr>
        <p:spPr>
          <a:xfrm>
            <a:off x="6402645" y="2102220"/>
            <a:ext cx="1361491" cy="441808"/>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 name="Google Shape;631;p9">
            <a:extLst>
              <a:ext uri="{FF2B5EF4-FFF2-40B4-BE49-F238E27FC236}">
                <a16:creationId xmlns:a16="http://schemas.microsoft.com/office/drawing/2014/main" id="{AB8CC525-5C6A-484D-BB06-2CB035CF097B}"/>
              </a:ext>
            </a:extLst>
          </p:cNvPr>
          <p:cNvSpPr txBox="1"/>
          <p:nvPr/>
        </p:nvSpPr>
        <p:spPr>
          <a:xfrm>
            <a:off x="6369957" y="2074888"/>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Only Booked 	</a:t>
            </a:r>
            <a:r>
              <a:rPr lang="en-US" sz="1100" b="1" dirty="0">
                <a:solidFill>
                  <a:schemeClr val="dk1"/>
                </a:solidFill>
                <a:latin typeface="Century Gothic"/>
                <a:ea typeface="Century Gothic"/>
                <a:cs typeface="Century Gothic"/>
                <a:sym typeface="Century Gothic"/>
              </a:rPr>
              <a:t>29%</a:t>
            </a:r>
            <a:endParaRPr dirty="0"/>
          </a:p>
        </p:txBody>
      </p:sp>
      <p:sp>
        <p:nvSpPr>
          <p:cNvPr id="34" name="Google Shape;632;p9">
            <a:extLst>
              <a:ext uri="{FF2B5EF4-FFF2-40B4-BE49-F238E27FC236}">
                <a16:creationId xmlns:a16="http://schemas.microsoft.com/office/drawing/2014/main" id="{A7E4CF13-E4C6-46DF-A127-2A6EB08A504A}"/>
              </a:ext>
            </a:extLst>
          </p:cNvPr>
          <p:cNvSpPr txBox="1"/>
          <p:nvPr/>
        </p:nvSpPr>
        <p:spPr>
          <a:xfrm>
            <a:off x="6369957" y="2282417"/>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Finish </a:t>
            </a:r>
            <a:r>
              <a:rPr lang="en-US" sz="1100" dirty="0" err="1">
                <a:solidFill>
                  <a:schemeClr val="dk1"/>
                </a:solidFill>
                <a:latin typeface="Century Gothic"/>
                <a:ea typeface="Century Gothic"/>
                <a:cs typeface="Century Gothic"/>
                <a:sym typeface="Century Gothic"/>
              </a:rPr>
              <a:t>Trx</a:t>
            </a:r>
            <a:r>
              <a:rPr lang="en-US" sz="1100" dirty="0">
                <a:solidFill>
                  <a:schemeClr val="dk1"/>
                </a:solidFill>
                <a:latin typeface="Century Gothic"/>
                <a:ea typeface="Century Gothic"/>
                <a:cs typeface="Century Gothic"/>
                <a:sym typeface="Century Gothic"/>
              </a:rPr>
              <a:t> 	</a:t>
            </a:r>
            <a:r>
              <a:rPr lang="en-US" sz="1100" b="1" dirty="0">
                <a:solidFill>
                  <a:schemeClr val="dk1"/>
                </a:solidFill>
                <a:latin typeface="Century Gothic"/>
                <a:ea typeface="Century Gothic"/>
                <a:cs typeface="Century Gothic"/>
                <a:sym typeface="Century Gothic"/>
              </a:rPr>
              <a:t>71%</a:t>
            </a:r>
            <a:endParaRPr dirty="0"/>
          </a:p>
        </p:txBody>
      </p:sp>
      <p:sp>
        <p:nvSpPr>
          <p:cNvPr id="35" name="Google Shape;633;p9">
            <a:extLst>
              <a:ext uri="{FF2B5EF4-FFF2-40B4-BE49-F238E27FC236}">
                <a16:creationId xmlns:a16="http://schemas.microsoft.com/office/drawing/2014/main" id="{884FAF4E-0CE4-4F85-8585-91C0191E2D9E}"/>
              </a:ext>
            </a:extLst>
          </p:cNvPr>
          <p:cNvSpPr/>
          <p:nvPr/>
        </p:nvSpPr>
        <p:spPr>
          <a:xfrm>
            <a:off x="6380994" y="3059383"/>
            <a:ext cx="1361491" cy="441808"/>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 name="Google Shape;634;p9">
            <a:extLst>
              <a:ext uri="{FF2B5EF4-FFF2-40B4-BE49-F238E27FC236}">
                <a16:creationId xmlns:a16="http://schemas.microsoft.com/office/drawing/2014/main" id="{B54BF113-7138-40A0-8D92-6BF455911D26}"/>
              </a:ext>
            </a:extLst>
          </p:cNvPr>
          <p:cNvSpPr txBox="1"/>
          <p:nvPr/>
        </p:nvSpPr>
        <p:spPr>
          <a:xfrm>
            <a:off x="6348306" y="3032051"/>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Only Booked 	</a:t>
            </a:r>
            <a:r>
              <a:rPr lang="en-US" sz="1100" b="1" dirty="0">
                <a:solidFill>
                  <a:schemeClr val="dk1"/>
                </a:solidFill>
                <a:latin typeface="Century Gothic"/>
                <a:ea typeface="Century Gothic"/>
                <a:cs typeface="Century Gothic"/>
                <a:sym typeface="Century Gothic"/>
              </a:rPr>
              <a:t>22%</a:t>
            </a:r>
            <a:endParaRPr dirty="0"/>
          </a:p>
        </p:txBody>
      </p:sp>
      <p:sp>
        <p:nvSpPr>
          <p:cNvPr id="37" name="Google Shape;635;p9">
            <a:extLst>
              <a:ext uri="{FF2B5EF4-FFF2-40B4-BE49-F238E27FC236}">
                <a16:creationId xmlns:a16="http://schemas.microsoft.com/office/drawing/2014/main" id="{4DF19F35-1B58-4ED1-BAED-0075B4131A8B}"/>
              </a:ext>
            </a:extLst>
          </p:cNvPr>
          <p:cNvSpPr txBox="1"/>
          <p:nvPr/>
        </p:nvSpPr>
        <p:spPr>
          <a:xfrm>
            <a:off x="6348306" y="3239580"/>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Finish </a:t>
            </a:r>
            <a:r>
              <a:rPr lang="en-US" sz="1100" dirty="0" err="1">
                <a:solidFill>
                  <a:schemeClr val="dk1"/>
                </a:solidFill>
                <a:latin typeface="Century Gothic"/>
                <a:ea typeface="Century Gothic"/>
                <a:cs typeface="Century Gothic"/>
                <a:sym typeface="Century Gothic"/>
              </a:rPr>
              <a:t>Trx</a:t>
            </a:r>
            <a:r>
              <a:rPr lang="en-US" sz="1100" dirty="0">
                <a:solidFill>
                  <a:schemeClr val="dk1"/>
                </a:solidFill>
                <a:latin typeface="Century Gothic"/>
                <a:ea typeface="Century Gothic"/>
                <a:cs typeface="Century Gothic"/>
                <a:sym typeface="Century Gothic"/>
              </a:rPr>
              <a:t> 	</a:t>
            </a:r>
            <a:r>
              <a:rPr lang="en-US" sz="1100" b="1" dirty="0">
                <a:solidFill>
                  <a:schemeClr val="dk1"/>
                </a:solidFill>
                <a:latin typeface="Century Gothic"/>
                <a:ea typeface="Century Gothic"/>
                <a:cs typeface="Century Gothic"/>
                <a:sym typeface="Century Gothic"/>
              </a:rPr>
              <a:t>78%</a:t>
            </a:r>
            <a:endParaRPr dirty="0"/>
          </a:p>
        </p:txBody>
      </p:sp>
      <p:sp>
        <p:nvSpPr>
          <p:cNvPr id="38" name="Google Shape;636;p9">
            <a:extLst>
              <a:ext uri="{FF2B5EF4-FFF2-40B4-BE49-F238E27FC236}">
                <a16:creationId xmlns:a16="http://schemas.microsoft.com/office/drawing/2014/main" id="{580B305C-730E-4557-8BC1-FC12F31EBA24}"/>
              </a:ext>
            </a:extLst>
          </p:cNvPr>
          <p:cNvSpPr/>
          <p:nvPr/>
        </p:nvSpPr>
        <p:spPr>
          <a:xfrm>
            <a:off x="6398410" y="3997663"/>
            <a:ext cx="1361491" cy="441808"/>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 name="Google Shape;637;p9">
            <a:extLst>
              <a:ext uri="{FF2B5EF4-FFF2-40B4-BE49-F238E27FC236}">
                <a16:creationId xmlns:a16="http://schemas.microsoft.com/office/drawing/2014/main" id="{2D5A3530-31AF-4881-9F03-43D67314083E}"/>
              </a:ext>
            </a:extLst>
          </p:cNvPr>
          <p:cNvSpPr txBox="1"/>
          <p:nvPr/>
        </p:nvSpPr>
        <p:spPr>
          <a:xfrm>
            <a:off x="6365722" y="3970331"/>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Only Booked 	</a:t>
            </a:r>
            <a:r>
              <a:rPr lang="en-US" sz="1100" b="1" dirty="0">
                <a:solidFill>
                  <a:schemeClr val="dk1"/>
                </a:solidFill>
                <a:latin typeface="Century Gothic"/>
                <a:ea typeface="Century Gothic"/>
                <a:cs typeface="Century Gothic"/>
                <a:sym typeface="Century Gothic"/>
              </a:rPr>
              <a:t>44%</a:t>
            </a:r>
            <a:endParaRPr dirty="0"/>
          </a:p>
        </p:txBody>
      </p:sp>
      <p:sp>
        <p:nvSpPr>
          <p:cNvPr id="40" name="Google Shape;638;p9">
            <a:extLst>
              <a:ext uri="{FF2B5EF4-FFF2-40B4-BE49-F238E27FC236}">
                <a16:creationId xmlns:a16="http://schemas.microsoft.com/office/drawing/2014/main" id="{ECEFACD2-D168-475E-ABEF-074BA364AA12}"/>
              </a:ext>
            </a:extLst>
          </p:cNvPr>
          <p:cNvSpPr txBox="1"/>
          <p:nvPr/>
        </p:nvSpPr>
        <p:spPr>
          <a:xfrm>
            <a:off x="6365722" y="4177860"/>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Finish </a:t>
            </a:r>
            <a:r>
              <a:rPr lang="en-US" sz="1100" dirty="0" err="1">
                <a:solidFill>
                  <a:schemeClr val="dk1"/>
                </a:solidFill>
                <a:latin typeface="Century Gothic"/>
                <a:ea typeface="Century Gothic"/>
                <a:cs typeface="Century Gothic"/>
                <a:sym typeface="Century Gothic"/>
              </a:rPr>
              <a:t>Trx</a:t>
            </a:r>
            <a:r>
              <a:rPr lang="en-US" sz="1100" dirty="0">
                <a:solidFill>
                  <a:schemeClr val="dk1"/>
                </a:solidFill>
                <a:latin typeface="Century Gothic"/>
                <a:ea typeface="Century Gothic"/>
                <a:cs typeface="Century Gothic"/>
                <a:sym typeface="Century Gothic"/>
              </a:rPr>
              <a:t> 	</a:t>
            </a:r>
            <a:r>
              <a:rPr lang="en-US" sz="1100" b="1" dirty="0">
                <a:solidFill>
                  <a:schemeClr val="dk1"/>
                </a:solidFill>
                <a:latin typeface="Century Gothic"/>
                <a:ea typeface="Century Gothic"/>
                <a:cs typeface="Century Gothic"/>
                <a:sym typeface="Century Gothic"/>
              </a:rPr>
              <a:t>56%</a:t>
            </a:r>
            <a:endParaRPr dirty="0"/>
          </a:p>
        </p:txBody>
      </p:sp>
      <p:sp>
        <p:nvSpPr>
          <p:cNvPr id="48" name="Google Shape;617;p9">
            <a:extLst>
              <a:ext uri="{FF2B5EF4-FFF2-40B4-BE49-F238E27FC236}">
                <a16:creationId xmlns:a16="http://schemas.microsoft.com/office/drawing/2014/main" id="{968B5482-EE4C-420B-85B4-63154F5DE88D}"/>
              </a:ext>
            </a:extLst>
          </p:cNvPr>
          <p:cNvSpPr txBox="1"/>
          <p:nvPr/>
        </p:nvSpPr>
        <p:spPr>
          <a:xfrm>
            <a:off x="8070176" y="1103984"/>
            <a:ext cx="3539014" cy="14465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Explain:</a:t>
            </a:r>
            <a:endParaRPr dirty="0"/>
          </a:p>
          <a:p>
            <a:pPr marL="228600" marR="0" lvl="0" indent="-228600" algn="l" rtl="0">
              <a:spcBef>
                <a:spcPts val="0"/>
              </a:spcBef>
              <a:spcAft>
                <a:spcPts val="0"/>
              </a:spcAft>
              <a:buClr>
                <a:schemeClr val="dk1"/>
              </a:buClr>
              <a:buSzPts val="1100"/>
              <a:buFont typeface="Century Gothic"/>
              <a:buAutoNum type="arabicParenR"/>
            </a:pPr>
            <a:r>
              <a:rPr lang="en-US" sz="1100" dirty="0">
                <a:solidFill>
                  <a:schemeClr val="dk1"/>
                </a:solidFill>
                <a:latin typeface="Century Gothic"/>
                <a:ea typeface="Century Gothic"/>
                <a:cs typeface="Century Gothic"/>
                <a:sym typeface="Century Gothic"/>
              </a:rPr>
              <a:t>The overall Success transaction until issued payment is about </a:t>
            </a:r>
            <a:r>
              <a:rPr lang="en-US" sz="1100" b="1" dirty="0">
                <a:solidFill>
                  <a:schemeClr val="dk1"/>
                </a:solidFill>
                <a:latin typeface="Century Gothic"/>
                <a:ea typeface="Century Gothic"/>
                <a:cs typeface="Century Gothic"/>
                <a:sym typeface="Century Gothic"/>
              </a:rPr>
              <a:t>74%</a:t>
            </a:r>
            <a:r>
              <a:rPr lang="en-US" sz="1100" dirty="0">
                <a:solidFill>
                  <a:schemeClr val="dk1"/>
                </a:solidFill>
                <a:latin typeface="Century Gothic"/>
                <a:ea typeface="Century Gothic"/>
                <a:cs typeface="Century Gothic"/>
                <a:sym typeface="Century Gothic"/>
              </a:rPr>
              <a:t>, it is quite good as the proportion success is </a:t>
            </a:r>
            <a:r>
              <a:rPr lang="en-US" sz="1100" dirty="0" err="1">
                <a:solidFill>
                  <a:schemeClr val="dk1"/>
                </a:solidFill>
                <a:latin typeface="Century Gothic"/>
                <a:ea typeface="Century Gothic"/>
                <a:cs typeface="Century Gothic"/>
                <a:sym typeface="Century Gothic"/>
              </a:rPr>
              <a:t>stil</a:t>
            </a:r>
            <a:r>
              <a:rPr lang="en-US" sz="1100" dirty="0">
                <a:solidFill>
                  <a:schemeClr val="dk1"/>
                </a:solidFill>
                <a:latin typeface="Century Gothic"/>
                <a:ea typeface="Century Gothic"/>
                <a:cs typeface="Century Gothic"/>
                <a:sym typeface="Century Gothic"/>
              </a:rPr>
              <a:t> more than </a:t>
            </a:r>
            <a:r>
              <a:rPr lang="en-US" sz="1100" b="1" dirty="0">
                <a:solidFill>
                  <a:schemeClr val="dk1"/>
                </a:solidFill>
                <a:latin typeface="Century Gothic"/>
                <a:ea typeface="Century Gothic"/>
                <a:cs typeface="Century Gothic"/>
                <a:sym typeface="Century Gothic"/>
              </a:rPr>
              <a:t>70%</a:t>
            </a:r>
            <a:endParaRPr b="1" dirty="0"/>
          </a:p>
          <a:p>
            <a:pPr marL="228600" marR="0" lvl="0" indent="-228600" algn="l" rtl="0">
              <a:spcBef>
                <a:spcPts val="0"/>
              </a:spcBef>
              <a:spcAft>
                <a:spcPts val="0"/>
              </a:spcAft>
              <a:buClr>
                <a:schemeClr val="dk1"/>
              </a:buClr>
              <a:buSzPts val="1100"/>
              <a:buFont typeface="Century Gothic"/>
              <a:buAutoNum type="arabicParenR"/>
            </a:pPr>
            <a:r>
              <a:rPr lang="en-US" sz="1100" dirty="0">
                <a:solidFill>
                  <a:schemeClr val="dk1"/>
                </a:solidFill>
                <a:latin typeface="Century Gothic"/>
                <a:ea typeface="Century Gothic"/>
                <a:cs typeface="Century Gothic"/>
                <a:sym typeface="Century Gothic"/>
              </a:rPr>
              <a:t>Product Trip(</a:t>
            </a:r>
            <a:r>
              <a:rPr lang="en-US" sz="1100" b="1" dirty="0">
                <a:solidFill>
                  <a:schemeClr val="dk1"/>
                </a:solidFill>
                <a:latin typeface="Century Gothic"/>
                <a:ea typeface="Century Gothic"/>
                <a:cs typeface="Century Gothic"/>
                <a:sym typeface="Century Gothic"/>
              </a:rPr>
              <a:t>56%</a:t>
            </a:r>
            <a:r>
              <a:rPr lang="en-US" sz="1100" dirty="0">
                <a:solidFill>
                  <a:schemeClr val="dk1"/>
                </a:solidFill>
                <a:latin typeface="Century Gothic"/>
                <a:ea typeface="Century Gothic"/>
                <a:cs typeface="Century Gothic"/>
                <a:sym typeface="Century Gothic"/>
              </a:rPr>
              <a:t>) is the most only booked compared to other product that are still more than </a:t>
            </a:r>
            <a:r>
              <a:rPr lang="en-US" sz="1100" b="1" dirty="0">
                <a:solidFill>
                  <a:schemeClr val="dk1"/>
                </a:solidFill>
                <a:latin typeface="Century Gothic"/>
                <a:ea typeface="Century Gothic"/>
                <a:cs typeface="Century Gothic"/>
                <a:sym typeface="Century Gothic"/>
              </a:rPr>
              <a:t>70% </a:t>
            </a:r>
            <a:r>
              <a:rPr lang="en-US" sz="1100" dirty="0">
                <a:solidFill>
                  <a:schemeClr val="dk1"/>
                </a:solidFill>
                <a:latin typeface="Century Gothic"/>
                <a:ea typeface="Century Gothic"/>
                <a:cs typeface="Century Gothic"/>
                <a:sym typeface="Century Gothic"/>
              </a:rPr>
              <a:t>that means for drop the recorded data row which doesn’t have last issued time</a:t>
            </a:r>
            <a:endParaRPr sz="1100" dirty="0">
              <a:solidFill>
                <a:schemeClr val="dk1"/>
              </a:solidFill>
              <a:latin typeface="Century Gothic"/>
              <a:ea typeface="Century Gothic"/>
              <a:cs typeface="Century Gothic"/>
              <a:sym typeface="Century Gothic"/>
            </a:endParaRPr>
          </a:p>
        </p:txBody>
      </p:sp>
      <p:sp>
        <p:nvSpPr>
          <p:cNvPr id="41" name="Google Shape;589;p8">
            <a:extLst>
              <a:ext uri="{FF2B5EF4-FFF2-40B4-BE49-F238E27FC236}">
                <a16:creationId xmlns:a16="http://schemas.microsoft.com/office/drawing/2014/main" id="{842DF137-BDBD-4473-9AC6-CEEF3165E44D}"/>
              </a:ext>
            </a:extLst>
          </p:cNvPr>
          <p:cNvSpPr/>
          <p:nvPr/>
        </p:nvSpPr>
        <p:spPr>
          <a:xfrm>
            <a:off x="603359" y="4910050"/>
            <a:ext cx="1582994" cy="845574"/>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entury Gothic"/>
              <a:buNone/>
            </a:pPr>
            <a:r>
              <a:rPr lang="en-US" sz="1800" b="0" i="0" u="none" strike="noStrike" cap="none" dirty="0">
                <a:solidFill>
                  <a:srgbClr val="FFFFFF"/>
                </a:solidFill>
                <a:latin typeface="Century Gothic"/>
                <a:ea typeface="Century Gothic"/>
                <a:cs typeface="Century Gothic"/>
                <a:sym typeface="Century Gothic"/>
              </a:rPr>
              <a:t>Churns Label</a:t>
            </a:r>
            <a:endParaRPr dirty="0"/>
          </a:p>
        </p:txBody>
      </p:sp>
      <p:sp>
        <p:nvSpPr>
          <p:cNvPr id="42" name="Google Shape;596;p8">
            <a:extLst>
              <a:ext uri="{FF2B5EF4-FFF2-40B4-BE49-F238E27FC236}">
                <a16:creationId xmlns:a16="http://schemas.microsoft.com/office/drawing/2014/main" id="{24EE5858-2251-4E97-BD81-175C18AD91AC}"/>
              </a:ext>
            </a:extLst>
          </p:cNvPr>
          <p:cNvSpPr txBox="1"/>
          <p:nvPr/>
        </p:nvSpPr>
        <p:spPr>
          <a:xfrm>
            <a:off x="2661007" y="4926636"/>
            <a:ext cx="9306033" cy="138495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Noto Sans Symbols"/>
              <a:buChar char="▪"/>
            </a:pPr>
            <a:r>
              <a:rPr lang="en-US" sz="1400" dirty="0">
                <a:solidFill>
                  <a:schemeClr val="dk1"/>
                </a:solidFill>
                <a:latin typeface="Century Gothic"/>
                <a:ea typeface="Century Gothic"/>
                <a:cs typeface="Century Gothic"/>
                <a:sym typeface="Century Gothic"/>
              </a:rPr>
              <a:t>Customer Churns 	  : Customer who haven’t bought in the last one year from ‘last updated date’ in the dataset</a:t>
            </a:r>
            <a:endParaRPr dirty="0"/>
          </a:p>
          <a:p>
            <a:pPr marL="285750" marR="0" lvl="0" indent="-285750" algn="l" rtl="0">
              <a:spcBef>
                <a:spcPts val="0"/>
              </a:spcBef>
              <a:spcAft>
                <a:spcPts val="0"/>
              </a:spcAft>
              <a:buClr>
                <a:schemeClr val="dk1"/>
              </a:buClr>
              <a:buSzPts val="1400"/>
              <a:buFont typeface="Noto Sans Symbols"/>
              <a:buChar char="▪"/>
            </a:pPr>
            <a:r>
              <a:rPr lang="en-US" sz="1400" dirty="0">
                <a:solidFill>
                  <a:schemeClr val="dk1"/>
                </a:solidFill>
                <a:latin typeface="Century Gothic"/>
                <a:ea typeface="Century Gothic"/>
                <a:cs typeface="Century Gothic"/>
                <a:sym typeface="Century Gothic"/>
              </a:rPr>
              <a:t>Last updated date </a:t>
            </a:r>
            <a:r>
              <a:rPr lang="en-US" sz="1400" b="1" dirty="0">
                <a:solidFill>
                  <a:schemeClr val="dk1"/>
                </a:solidFill>
                <a:latin typeface="Century Gothic"/>
                <a:ea typeface="Century Gothic"/>
                <a:cs typeface="Century Gothic"/>
                <a:sym typeface="Century Gothic"/>
              </a:rPr>
              <a:t>: </a:t>
            </a:r>
            <a:r>
              <a:rPr lang="en-US" sz="1400" dirty="0">
                <a:solidFill>
                  <a:schemeClr val="dk1"/>
                </a:solidFill>
                <a:latin typeface="Century Gothic"/>
                <a:ea typeface="Century Gothic"/>
                <a:cs typeface="Century Gothic"/>
                <a:sym typeface="Century Gothic"/>
              </a:rPr>
              <a:t>2019-02-01</a:t>
            </a:r>
          </a:p>
          <a:p>
            <a:pPr marL="285750" marR="0" lvl="0" indent="-285750" algn="l" rtl="0">
              <a:spcBef>
                <a:spcPts val="0"/>
              </a:spcBef>
              <a:spcAft>
                <a:spcPts val="0"/>
              </a:spcAft>
              <a:buClr>
                <a:schemeClr val="dk1"/>
              </a:buClr>
              <a:buSzPts val="1400"/>
              <a:buFont typeface="Noto Sans Symbols"/>
              <a:buChar char="▪"/>
            </a:pPr>
            <a:r>
              <a:rPr lang="en-US" dirty="0">
                <a:solidFill>
                  <a:schemeClr val="dk1"/>
                </a:solidFill>
                <a:latin typeface="Century Gothic"/>
                <a:sym typeface="Century Gothic"/>
              </a:rPr>
              <a:t>Drop row that has </a:t>
            </a:r>
            <a:r>
              <a:rPr lang="en-US" b="1" dirty="0">
                <a:solidFill>
                  <a:schemeClr val="dk1"/>
                </a:solidFill>
                <a:latin typeface="Century Gothic"/>
                <a:sym typeface="Century Gothic"/>
              </a:rPr>
              <a:t>transactions only booked</a:t>
            </a:r>
            <a:endParaRPr b="1" dirty="0"/>
          </a:p>
          <a:p>
            <a:pPr marL="285750" marR="0" lvl="0" indent="-285750" algn="l" rtl="0">
              <a:spcBef>
                <a:spcPts val="0"/>
              </a:spcBef>
              <a:spcAft>
                <a:spcPts val="0"/>
              </a:spcAft>
              <a:buClr>
                <a:schemeClr val="dk1"/>
              </a:buClr>
              <a:buSzPts val="1400"/>
              <a:buFont typeface="Noto Sans Symbols"/>
              <a:buChar char="▪"/>
            </a:pPr>
            <a:r>
              <a:rPr lang="en-US" sz="1400" dirty="0">
                <a:solidFill>
                  <a:schemeClr val="dk1"/>
                </a:solidFill>
                <a:latin typeface="Century Gothic"/>
                <a:ea typeface="Century Gothic"/>
                <a:cs typeface="Century Gothic"/>
                <a:sym typeface="Century Gothic"/>
              </a:rPr>
              <a:t>Target days : last updated date – last issued time date, this features is formed to give flag churns label, if target days &gt; 365 then ‘churns’</a:t>
            </a:r>
            <a:endParaRPr dirty="0"/>
          </a:p>
        </p:txBody>
      </p:sp>
      <p:sp>
        <p:nvSpPr>
          <p:cNvPr id="43" name="Google Shape;595;p8">
            <a:extLst>
              <a:ext uri="{FF2B5EF4-FFF2-40B4-BE49-F238E27FC236}">
                <a16:creationId xmlns:a16="http://schemas.microsoft.com/office/drawing/2014/main" id="{45F668C4-2837-4C69-895A-77EC98A8DEB6}"/>
              </a:ext>
            </a:extLst>
          </p:cNvPr>
          <p:cNvSpPr/>
          <p:nvPr/>
        </p:nvSpPr>
        <p:spPr>
          <a:xfrm>
            <a:off x="512345" y="4784068"/>
            <a:ext cx="275303" cy="285135"/>
          </a:xfrm>
          <a:prstGeom prst="ellipse">
            <a:avLst/>
          </a:prstGeom>
          <a:solidFill>
            <a:srgbClr val="00B0F0"/>
          </a:solidFill>
          <a:ln w="222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strike="noStrike" cap="none" dirty="0">
                <a:solidFill>
                  <a:srgbClr val="FFFFFF"/>
                </a:solidFill>
                <a:latin typeface="Calibri"/>
                <a:ea typeface="Calibri"/>
                <a:cs typeface="Calibri"/>
                <a:sym typeface="Calibri"/>
              </a:rPr>
              <a:t>2</a:t>
            </a:r>
            <a:endParaRPr dirty="0"/>
          </a:p>
        </p:txBody>
      </p:sp>
      <p:cxnSp>
        <p:nvCxnSpPr>
          <p:cNvPr id="44" name="Google Shape;593;p8">
            <a:extLst>
              <a:ext uri="{FF2B5EF4-FFF2-40B4-BE49-F238E27FC236}">
                <a16:creationId xmlns:a16="http://schemas.microsoft.com/office/drawing/2014/main" id="{F406250F-F521-44B2-AEB4-AC3CE6BC0929}"/>
              </a:ext>
            </a:extLst>
          </p:cNvPr>
          <p:cNvCxnSpPr/>
          <p:nvPr/>
        </p:nvCxnSpPr>
        <p:spPr>
          <a:xfrm>
            <a:off x="2958110" y="4790738"/>
            <a:ext cx="8337755" cy="0"/>
          </a:xfrm>
          <a:prstGeom prst="straightConnector1">
            <a:avLst/>
          </a:prstGeom>
          <a:noFill/>
          <a:ln w="12700" cap="flat" cmpd="sng">
            <a:solidFill>
              <a:srgbClr val="A5A5A5"/>
            </a:solidFill>
            <a:prstDash val="dash"/>
            <a:miter lim="800000"/>
            <a:headEnd type="none" w="sm" len="sm"/>
            <a:tailEnd type="none" w="sm" len="sm"/>
          </a:ln>
        </p:spPr>
      </p:cxnSp>
    </p:spTree>
    <p:extLst>
      <p:ext uri="{BB962C8B-B14F-4D97-AF65-F5344CB8AC3E}">
        <p14:creationId xmlns:p14="http://schemas.microsoft.com/office/powerpoint/2010/main" val="2491573357"/>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9"/>
          <p:cNvSpPr/>
          <p:nvPr/>
        </p:nvSpPr>
        <p:spPr>
          <a:xfrm>
            <a:off x="370198" y="4024339"/>
            <a:ext cx="1361491" cy="441808"/>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5" name="Google Shape;605;p9"/>
          <p:cNvSpPr/>
          <p:nvPr/>
        </p:nvSpPr>
        <p:spPr>
          <a:xfrm>
            <a:off x="9094898" y="565459"/>
            <a:ext cx="254305" cy="25356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lt1"/>
                </a:solidFill>
                <a:latin typeface="Calibri"/>
                <a:ea typeface="Calibri"/>
                <a:cs typeface="Calibri"/>
                <a:sym typeface="Calibri"/>
              </a:rPr>
              <a:t>1</a:t>
            </a:r>
            <a:endParaRPr/>
          </a:p>
        </p:txBody>
      </p:sp>
      <p:sp>
        <p:nvSpPr>
          <p:cNvPr id="606" name="Google Shape;606;p9"/>
          <p:cNvSpPr txBox="1"/>
          <p:nvPr/>
        </p:nvSpPr>
        <p:spPr>
          <a:xfrm>
            <a:off x="9349203" y="584241"/>
            <a:ext cx="92365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rgbClr val="FF0000"/>
                </a:solidFill>
                <a:latin typeface="Century Gothic"/>
                <a:ea typeface="Century Gothic"/>
                <a:cs typeface="Century Gothic"/>
                <a:sym typeface="Century Gothic"/>
              </a:rPr>
              <a:t>Population</a:t>
            </a:r>
            <a:endParaRPr dirty="0">
              <a:solidFill>
                <a:srgbClr val="FF0000"/>
              </a:solidFill>
            </a:endParaRPr>
          </a:p>
        </p:txBody>
      </p:sp>
      <p:sp>
        <p:nvSpPr>
          <p:cNvPr id="607" name="Google Shape;607;p9"/>
          <p:cNvSpPr/>
          <p:nvPr/>
        </p:nvSpPr>
        <p:spPr>
          <a:xfrm>
            <a:off x="10561589" y="588935"/>
            <a:ext cx="254305" cy="25356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lt1"/>
                </a:solidFill>
                <a:latin typeface="Calibri"/>
                <a:ea typeface="Calibri"/>
                <a:cs typeface="Calibri"/>
                <a:sym typeface="Calibri"/>
              </a:rPr>
              <a:t>2</a:t>
            </a:r>
            <a:endParaRPr/>
          </a:p>
        </p:txBody>
      </p:sp>
      <p:sp>
        <p:nvSpPr>
          <p:cNvPr id="608" name="Google Shape;608;p9"/>
          <p:cNvSpPr txBox="1"/>
          <p:nvPr/>
        </p:nvSpPr>
        <p:spPr>
          <a:xfrm>
            <a:off x="10794832" y="586557"/>
            <a:ext cx="1140056"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rgbClr val="BFBFBF"/>
                </a:solidFill>
                <a:latin typeface="Century Gothic"/>
                <a:ea typeface="Century Gothic"/>
                <a:cs typeface="Century Gothic"/>
                <a:sym typeface="Century Gothic"/>
              </a:rPr>
              <a:t>Proportion (%)</a:t>
            </a:r>
            <a:endParaRPr dirty="0"/>
          </a:p>
        </p:txBody>
      </p:sp>
      <p:sp>
        <p:nvSpPr>
          <p:cNvPr id="609" name="Google Shape;609;p9"/>
          <p:cNvSpPr/>
          <p:nvPr/>
        </p:nvSpPr>
        <p:spPr>
          <a:xfrm>
            <a:off x="308482" y="3342947"/>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a:solidFill>
                  <a:schemeClr val="lt1"/>
                </a:solidFill>
                <a:latin typeface="Century Gothic"/>
                <a:ea typeface="Century Gothic"/>
                <a:cs typeface="Century Gothic"/>
                <a:sym typeface="Century Gothic"/>
              </a:rPr>
              <a:t>Overall Population</a:t>
            </a:r>
            <a:endParaRPr dirty="0"/>
          </a:p>
          <a:p>
            <a:pPr marL="0" marR="0" lvl="0" indent="0" algn="ctr" rtl="0">
              <a:spcBef>
                <a:spcPts val="0"/>
              </a:spcBef>
              <a:spcAft>
                <a:spcPts val="0"/>
              </a:spcAft>
              <a:buNone/>
            </a:pPr>
            <a:r>
              <a:rPr lang="en-US" sz="1100" b="1" dirty="0">
                <a:solidFill>
                  <a:schemeClr val="lt1"/>
                </a:solidFill>
                <a:latin typeface="Century Gothic"/>
                <a:ea typeface="Century Gothic"/>
                <a:cs typeface="Century Gothic"/>
                <a:sym typeface="Century Gothic"/>
              </a:rPr>
              <a:t>(206 K)</a:t>
            </a:r>
            <a:endParaRPr dirty="0"/>
          </a:p>
        </p:txBody>
      </p:sp>
      <p:sp>
        <p:nvSpPr>
          <p:cNvPr id="610" name="Google Shape;610;p9"/>
          <p:cNvSpPr txBox="1"/>
          <p:nvPr/>
        </p:nvSpPr>
        <p:spPr>
          <a:xfrm>
            <a:off x="205940" y="359686"/>
            <a:ext cx="9710140" cy="276999"/>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1800"/>
              <a:buFont typeface="Century Gothic"/>
              <a:buNone/>
            </a:pPr>
            <a:r>
              <a:rPr lang="en-US" sz="1800" b="1" dirty="0">
                <a:solidFill>
                  <a:srgbClr val="FF0000"/>
                </a:solidFill>
                <a:latin typeface="Century Gothic"/>
                <a:ea typeface="Century Gothic"/>
                <a:cs typeface="Century Gothic"/>
                <a:sym typeface="Century Gothic"/>
              </a:rPr>
              <a:t>Initial Analysis – Proportion Churns  (Product Market Fit)</a:t>
            </a:r>
            <a:endParaRPr sz="1800" b="1" i="0" u="none" strike="noStrike" cap="none" dirty="0">
              <a:solidFill>
                <a:srgbClr val="FF0000"/>
              </a:solidFill>
              <a:latin typeface="Century Gothic"/>
              <a:ea typeface="Century Gothic"/>
              <a:cs typeface="Century Gothic"/>
              <a:sym typeface="Century Gothic"/>
            </a:endParaRPr>
          </a:p>
        </p:txBody>
      </p:sp>
      <p:sp>
        <p:nvSpPr>
          <p:cNvPr id="611" name="Google Shape;611;p9"/>
          <p:cNvSpPr txBox="1"/>
          <p:nvPr/>
        </p:nvSpPr>
        <p:spPr>
          <a:xfrm>
            <a:off x="337510" y="3997007"/>
            <a:ext cx="1386918"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Churns	</a:t>
            </a:r>
            <a:r>
              <a:rPr lang="en-US" sz="1100" b="1" dirty="0">
                <a:solidFill>
                  <a:schemeClr val="dk1"/>
                </a:solidFill>
                <a:latin typeface="Century Gothic"/>
                <a:ea typeface="Century Gothic"/>
                <a:cs typeface="Century Gothic"/>
                <a:sym typeface="Century Gothic"/>
              </a:rPr>
              <a:t>40%</a:t>
            </a:r>
            <a:endParaRPr dirty="0"/>
          </a:p>
        </p:txBody>
      </p:sp>
      <p:sp>
        <p:nvSpPr>
          <p:cNvPr id="613" name="Google Shape;613;p9"/>
          <p:cNvSpPr/>
          <p:nvPr/>
        </p:nvSpPr>
        <p:spPr>
          <a:xfrm>
            <a:off x="2387760" y="1894396"/>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a:solidFill>
                  <a:schemeClr val="lt1"/>
                </a:solidFill>
                <a:latin typeface="Century Gothic"/>
                <a:ea typeface="Century Gothic"/>
                <a:cs typeface="Century Gothic"/>
                <a:sym typeface="Century Gothic"/>
              </a:rPr>
              <a:t>Flight Population</a:t>
            </a:r>
            <a:endParaRPr dirty="0"/>
          </a:p>
          <a:p>
            <a:pPr marL="0" marR="0" lvl="0" indent="0" algn="ctr" rtl="0">
              <a:spcBef>
                <a:spcPts val="0"/>
              </a:spcBef>
              <a:spcAft>
                <a:spcPts val="0"/>
              </a:spcAft>
              <a:buNone/>
            </a:pPr>
            <a:r>
              <a:rPr lang="en-US" sz="1100" b="1" dirty="0">
                <a:solidFill>
                  <a:schemeClr val="lt1"/>
                </a:solidFill>
                <a:latin typeface="Calibri"/>
                <a:ea typeface="Calibri"/>
                <a:cs typeface="Calibri"/>
                <a:sym typeface="Calibri"/>
              </a:rPr>
              <a:t>103 K | 50%</a:t>
            </a:r>
            <a:endParaRPr sz="1100" b="1" dirty="0">
              <a:solidFill>
                <a:schemeClr val="lt1"/>
              </a:solidFill>
              <a:latin typeface="Century Gothic"/>
              <a:ea typeface="Century Gothic"/>
              <a:cs typeface="Century Gothic"/>
              <a:sym typeface="Century Gothic"/>
            </a:endParaRPr>
          </a:p>
        </p:txBody>
      </p:sp>
      <p:sp>
        <p:nvSpPr>
          <p:cNvPr id="614" name="Google Shape;614;p9"/>
          <p:cNvSpPr/>
          <p:nvPr/>
        </p:nvSpPr>
        <p:spPr>
          <a:xfrm>
            <a:off x="2392280" y="2846434"/>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a:solidFill>
                  <a:schemeClr val="lt1"/>
                </a:solidFill>
                <a:latin typeface="Century Gothic"/>
                <a:ea typeface="Century Gothic"/>
                <a:cs typeface="Century Gothic"/>
                <a:sym typeface="Century Gothic"/>
              </a:rPr>
              <a:t>Hotel Population</a:t>
            </a:r>
            <a:endParaRPr dirty="0"/>
          </a:p>
          <a:p>
            <a:pPr marL="0" marR="0" lvl="0" indent="0" algn="ctr" rtl="0">
              <a:spcBef>
                <a:spcPts val="0"/>
              </a:spcBef>
              <a:spcAft>
                <a:spcPts val="0"/>
              </a:spcAft>
              <a:buNone/>
            </a:pPr>
            <a:r>
              <a:rPr lang="en-US" sz="1100" b="1" dirty="0">
                <a:solidFill>
                  <a:schemeClr val="lt1"/>
                </a:solidFill>
                <a:latin typeface="Calibri"/>
                <a:ea typeface="Calibri"/>
                <a:cs typeface="Calibri"/>
                <a:sym typeface="Calibri"/>
              </a:rPr>
              <a:t>66 K | 32%</a:t>
            </a:r>
            <a:endParaRPr sz="1100" b="1" dirty="0">
              <a:solidFill>
                <a:schemeClr val="lt1"/>
              </a:solidFill>
              <a:latin typeface="Century Gothic"/>
              <a:ea typeface="Century Gothic"/>
              <a:cs typeface="Century Gothic"/>
              <a:sym typeface="Century Gothic"/>
            </a:endParaRPr>
          </a:p>
        </p:txBody>
      </p:sp>
      <p:sp>
        <p:nvSpPr>
          <p:cNvPr id="615" name="Google Shape;615;p9"/>
          <p:cNvSpPr/>
          <p:nvPr/>
        </p:nvSpPr>
        <p:spPr>
          <a:xfrm>
            <a:off x="2387760" y="3798472"/>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a:solidFill>
                  <a:schemeClr val="lt1"/>
                </a:solidFill>
                <a:latin typeface="Century Gothic"/>
                <a:ea typeface="Century Gothic"/>
                <a:cs typeface="Century Gothic"/>
                <a:sym typeface="Century Gothic"/>
              </a:rPr>
              <a:t>Train Population</a:t>
            </a:r>
            <a:endParaRPr dirty="0"/>
          </a:p>
          <a:p>
            <a:pPr marL="0" marR="0" lvl="0" indent="0" algn="ctr" rtl="0">
              <a:spcBef>
                <a:spcPts val="0"/>
              </a:spcBef>
              <a:spcAft>
                <a:spcPts val="0"/>
              </a:spcAft>
              <a:buNone/>
            </a:pPr>
            <a:r>
              <a:rPr lang="en-US" sz="1100" b="1" dirty="0">
                <a:solidFill>
                  <a:schemeClr val="lt1"/>
                </a:solidFill>
                <a:latin typeface="Calibri"/>
                <a:ea typeface="Calibri"/>
                <a:cs typeface="Calibri"/>
                <a:sym typeface="Calibri"/>
              </a:rPr>
              <a:t>32,6 K | 16%</a:t>
            </a:r>
            <a:endParaRPr sz="1100" b="1" dirty="0">
              <a:solidFill>
                <a:schemeClr val="lt1"/>
              </a:solidFill>
              <a:latin typeface="Century Gothic"/>
              <a:ea typeface="Century Gothic"/>
              <a:cs typeface="Century Gothic"/>
              <a:sym typeface="Century Gothic"/>
            </a:endParaRPr>
          </a:p>
        </p:txBody>
      </p:sp>
      <p:sp>
        <p:nvSpPr>
          <p:cNvPr id="616" name="Google Shape;616;p9"/>
          <p:cNvSpPr/>
          <p:nvPr/>
        </p:nvSpPr>
        <p:spPr>
          <a:xfrm>
            <a:off x="2384442" y="4750510"/>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a:solidFill>
                  <a:schemeClr val="lt1"/>
                </a:solidFill>
                <a:latin typeface="Century Gothic"/>
                <a:ea typeface="Century Gothic"/>
                <a:cs typeface="Century Gothic"/>
                <a:sym typeface="Century Gothic"/>
              </a:rPr>
              <a:t>Trip Population</a:t>
            </a:r>
            <a:endParaRPr dirty="0"/>
          </a:p>
          <a:p>
            <a:pPr marL="0" marR="0" lvl="0" indent="0" algn="ctr" rtl="0">
              <a:spcBef>
                <a:spcPts val="0"/>
              </a:spcBef>
              <a:spcAft>
                <a:spcPts val="0"/>
              </a:spcAft>
              <a:buNone/>
            </a:pPr>
            <a:r>
              <a:rPr lang="en-US" sz="1100" b="1" dirty="0">
                <a:solidFill>
                  <a:schemeClr val="lt1"/>
                </a:solidFill>
                <a:latin typeface="Calibri"/>
                <a:ea typeface="Calibri"/>
                <a:cs typeface="Calibri"/>
                <a:sym typeface="Calibri"/>
              </a:rPr>
              <a:t>3,7 K | 1.8%</a:t>
            </a:r>
            <a:endParaRPr sz="1100" b="1" dirty="0">
              <a:solidFill>
                <a:schemeClr val="lt1"/>
              </a:solidFill>
              <a:latin typeface="Century Gothic"/>
              <a:ea typeface="Century Gothic"/>
              <a:cs typeface="Century Gothic"/>
              <a:sym typeface="Century Gothic"/>
            </a:endParaRPr>
          </a:p>
        </p:txBody>
      </p:sp>
      <p:sp>
        <p:nvSpPr>
          <p:cNvPr id="617" name="Google Shape;617;p9"/>
          <p:cNvSpPr txBox="1"/>
          <p:nvPr/>
        </p:nvSpPr>
        <p:spPr>
          <a:xfrm>
            <a:off x="7207146" y="2704591"/>
            <a:ext cx="4479552" cy="16157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Explain:</a:t>
            </a:r>
            <a:endParaRPr dirty="0"/>
          </a:p>
          <a:p>
            <a:pPr marL="228600" marR="0" lvl="0" indent="-228600" algn="l" rtl="0">
              <a:spcBef>
                <a:spcPts val="0"/>
              </a:spcBef>
              <a:spcAft>
                <a:spcPts val="0"/>
              </a:spcAft>
              <a:buClr>
                <a:schemeClr val="dk1"/>
              </a:buClr>
              <a:buSzPts val="1100"/>
              <a:buFont typeface="Century Gothic"/>
              <a:buAutoNum type="arabicParenR"/>
            </a:pPr>
            <a:r>
              <a:rPr lang="en-US" sz="1100" dirty="0">
                <a:solidFill>
                  <a:schemeClr val="dk1"/>
                </a:solidFill>
                <a:latin typeface="Century Gothic"/>
                <a:ea typeface="Century Gothic"/>
                <a:cs typeface="Century Gothic"/>
                <a:sym typeface="Century Gothic"/>
              </a:rPr>
              <a:t>The overall churn is about </a:t>
            </a:r>
            <a:r>
              <a:rPr lang="en-US" sz="1100" b="1" dirty="0">
                <a:solidFill>
                  <a:schemeClr val="dk1"/>
                </a:solidFill>
                <a:latin typeface="Century Gothic"/>
                <a:ea typeface="Century Gothic"/>
                <a:cs typeface="Century Gothic"/>
                <a:sym typeface="Century Gothic"/>
              </a:rPr>
              <a:t>40%</a:t>
            </a:r>
            <a:r>
              <a:rPr lang="en-US" sz="1100" dirty="0">
                <a:solidFill>
                  <a:schemeClr val="dk1"/>
                </a:solidFill>
                <a:latin typeface="Century Gothic"/>
                <a:ea typeface="Century Gothic"/>
                <a:cs typeface="Century Gothic"/>
                <a:sym typeface="Century Gothic"/>
              </a:rPr>
              <a:t>, it is very badly for the company due to many churners, but it doesn't mean all product are badly let it breakdown churners for every product types to find out which product has the most churners</a:t>
            </a:r>
            <a:endParaRPr dirty="0"/>
          </a:p>
          <a:p>
            <a:pPr marL="228600" marR="0" lvl="0" indent="-228600" algn="l" rtl="0">
              <a:spcBef>
                <a:spcPts val="0"/>
              </a:spcBef>
              <a:spcAft>
                <a:spcPts val="0"/>
              </a:spcAft>
              <a:buClr>
                <a:schemeClr val="dk1"/>
              </a:buClr>
              <a:buSzPts val="1100"/>
              <a:buFont typeface="Century Gothic"/>
              <a:buAutoNum type="arabicParenR"/>
            </a:pPr>
            <a:r>
              <a:rPr lang="en-US" sz="1100" b="1" dirty="0">
                <a:solidFill>
                  <a:schemeClr val="dk1"/>
                </a:solidFill>
                <a:latin typeface="Century Gothic"/>
                <a:ea typeface="Century Gothic"/>
                <a:cs typeface="Century Gothic"/>
                <a:sym typeface="Century Gothic"/>
              </a:rPr>
              <a:t>Product Flight(47%)</a:t>
            </a:r>
            <a:r>
              <a:rPr lang="en-US" sz="1100" dirty="0">
                <a:solidFill>
                  <a:schemeClr val="dk1"/>
                </a:solidFill>
                <a:latin typeface="Century Gothic"/>
                <a:ea typeface="Century Gothic"/>
                <a:cs typeface="Century Gothic"/>
                <a:sym typeface="Century Gothic"/>
              </a:rPr>
              <a:t> is the most churns followed with </a:t>
            </a:r>
            <a:r>
              <a:rPr lang="en-US" sz="1100" b="1" dirty="0">
                <a:solidFill>
                  <a:schemeClr val="dk1"/>
                </a:solidFill>
                <a:latin typeface="Century Gothic"/>
                <a:ea typeface="Century Gothic"/>
                <a:cs typeface="Century Gothic"/>
                <a:sym typeface="Century Gothic"/>
              </a:rPr>
              <a:t>Hotel (40%)</a:t>
            </a:r>
            <a:r>
              <a:rPr lang="en-US" sz="1100" dirty="0">
                <a:solidFill>
                  <a:schemeClr val="dk1"/>
                </a:solidFill>
                <a:latin typeface="Century Gothic"/>
                <a:ea typeface="Century Gothic"/>
                <a:cs typeface="Century Gothic"/>
                <a:sym typeface="Century Gothic"/>
              </a:rPr>
              <a:t> that means product flight and hotel is not product market fit unlike Train and Trip</a:t>
            </a:r>
            <a:endParaRPr sz="1100" dirty="0">
              <a:solidFill>
                <a:schemeClr val="dk1"/>
              </a:solidFill>
              <a:latin typeface="Century Gothic"/>
              <a:ea typeface="Century Gothic"/>
              <a:cs typeface="Century Gothic"/>
              <a:sym typeface="Century Gothic"/>
            </a:endParaRPr>
          </a:p>
        </p:txBody>
      </p:sp>
      <p:pic>
        <p:nvPicPr>
          <p:cNvPr id="618" name="Google Shape;618;p9" descr="Airplane"/>
          <p:cNvPicPr preferRelativeResize="0"/>
          <p:nvPr/>
        </p:nvPicPr>
        <p:blipFill rotWithShape="1">
          <a:blip r:embed="rId3">
            <a:alphaModFix/>
          </a:blip>
          <a:srcRect/>
          <a:stretch/>
        </p:blipFill>
        <p:spPr>
          <a:xfrm>
            <a:off x="2167642" y="1689601"/>
            <a:ext cx="440236" cy="440236"/>
          </a:xfrm>
          <a:prstGeom prst="rect">
            <a:avLst/>
          </a:prstGeom>
          <a:noFill/>
          <a:ln>
            <a:noFill/>
          </a:ln>
        </p:spPr>
      </p:pic>
      <p:pic>
        <p:nvPicPr>
          <p:cNvPr id="619" name="Google Shape;619;p9" descr="Train"/>
          <p:cNvPicPr preferRelativeResize="0"/>
          <p:nvPr/>
        </p:nvPicPr>
        <p:blipFill rotWithShape="1">
          <a:blip r:embed="rId4">
            <a:alphaModFix/>
          </a:blip>
          <a:srcRect/>
          <a:stretch/>
        </p:blipFill>
        <p:spPr>
          <a:xfrm>
            <a:off x="2172680" y="3578872"/>
            <a:ext cx="439200" cy="439200"/>
          </a:xfrm>
          <a:prstGeom prst="rect">
            <a:avLst/>
          </a:prstGeom>
          <a:noFill/>
          <a:ln>
            <a:noFill/>
          </a:ln>
        </p:spPr>
      </p:pic>
      <p:pic>
        <p:nvPicPr>
          <p:cNvPr id="620" name="Google Shape;620;p9" descr="Send"/>
          <p:cNvPicPr preferRelativeResize="0"/>
          <p:nvPr/>
        </p:nvPicPr>
        <p:blipFill rotWithShape="1">
          <a:blip r:embed="rId5">
            <a:alphaModFix/>
          </a:blip>
          <a:srcRect/>
          <a:stretch/>
        </p:blipFill>
        <p:spPr>
          <a:xfrm>
            <a:off x="2197387" y="4502781"/>
            <a:ext cx="439200" cy="439200"/>
          </a:xfrm>
          <a:prstGeom prst="rect">
            <a:avLst/>
          </a:prstGeom>
          <a:noFill/>
          <a:ln>
            <a:noFill/>
          </a:ln>
        </p:spPr>
      </p:pic>
      <p:pic>
        <p:nvPicPr>
          <p:cNvPr id="621" name="Google Shape;621;p9" descr="Building"/>
          <p:cNvPicPr preferRelativeResize="0"/>
          <p:nvPr/>
        </p:nvPicPr>
        <p:blipFill rotWithShape="1">
          <a:blip r:embed="rId6">
            <a:alphaModFix/>
          </a:blip>
          <a:srcRect/>
          <a:stretch/>
        </p:blipFill>
        <p:spPr>
          <a:xfrm>
            <a:off x="2168678" y="2586866"/>
            <a:ext cx="439200" cy="439200"/>
          </a:xfrm>
          <a:prstGeom prst="rect">
            <a:avLst/>
          </a:prstGeom>
          <a:noFill/>
          <a:ln>
            <a:noFill/>
          </a:ln>
        </p:spPr>
      </p:pic>
      <p:cxnSp>
        <p:nvCxnSpPr>
          <p:cNvPr id="622" name="Google Shape;622;p9"/>
          <p:cNvCxnSpPr>
            <a:stCxn id="609" idx="3"/>
            <a:endCxn id="613" idx="1"/>
          </p:cNvCxnSpPr>
          <p:nvPr/>
        </p:nvCxnSpPr>
        <p:spPr>
          <a:xfrm flipV="1">
            <a:off x="1760716" y="2194567"/>
            <a:ext cx="627044" cy="1448551"/>
          </a:xfrm>
          <a:prstGeom prst="bentConnector3">
            <a:avLst>
              <a:gd name="adj1" fmla="val 50000"/>
            </a:avLst>
          </a:prstGeom>
          <a:noFill/>
          <a:ln w="9525" cap="flat" cmpd="sng">
            <a:solidFill>
              <a:srgbClr val="FF0000"/>
            </a:solidFill>
            <a:prstDash val="solid"/>
            <a:miter lim="800000"/>
            <a:headEnd type="none" w="sm" len="sm"/>
            <a:tailEnd type="triangle" w="med" len="med"/>
          </a:ln>
        </p:spPr>
      </p:cxnSp>
      <p:cxnSp>
        <p:nvCxnSpPr>
          <p:cNvPr id="623" name="Google Shape;623;p9"/>
          <p:cNvCxnSpPr>
            <a:stCxn id="609" idx="3"/>
            <a:endCxn id="614" idx="1"/>
          </p:cNvCxnSpPr>
          <p:nvPr/>
        </p:nvCxnSpPr>
        <p:spPr>
          <a:xfrm flipV="1">
            <a:off x="1760716" y="3146605"/>
            <a:ext cx="631564" cy="496513"/>
          </a:xfrm>
          <a:prstGeom prst="bentConnector3">
            <a:avLst>
              <a:gd name="adj1" fmla="val 50000"/>
            </a:avLst>
          </a:prstGeom>
          <a:noFill/>
          <a:ln w="9525" cap="flat" cmpd="sng">
            <a:solidFill>
              <a:srgbClr val="FF0000"/>
            </a:solidFill>
            <a:prstDash val="solid"/>
            <a:miter lim="800000"/>
            <a:headEnd type="none" w="sm" len="sm"/>
            <a:tailEnd type="triangle" w="med" len="med"/>
          </a:ln>
        </p:spPr>
      </p:cxnSp>
      <p:cxnSp>
        <p:nvCxnSpPr>
          <p:cNvPr id="624" name="Google Shape;624;p9"/>
          <p:cNvCxnSpPr>
            <a:stCxn id="609" idx="3"/>
            <a:endCxn id="616" idx="1"/>
          </p:cNvCxnSpPr>
          <p:nvPr/>
        </p:nvCxnSpPr>
        <p:spPr>
          <a:xfrm>
            <a:off x="1760716" y="3643118"/>
            <a:ext cx="623726" cy="1407563"/>
          </a:xfrm>
          <a:prstGeom prst="bentConnector3">
            <a:avLst>
              <a:gd name="adj1" fmla="val 50000"/>
            </a:avLst>
          </a:prstGeom>
          <a:noFill/>
          <a:ln w="9525" cap="flat" cmpd="sng">
            <a:solidFill>
              <a:srgbClr val="FF0000"/>
            </a:solidFill>
            <a:prstDash val="solid"/>
            <a:miter lim="800000"/>
            <a:headEnd type="none" w="sm" len="sm"/>
            <a:tailEnd type="triangle" w="med" len="med"/>
          </a:ln>
        </p:spPr>
      </p:cxnSp>
      <p:cxnSp>
        <p:nvCxnSpPr>
          <p:cNvPr id="625" name="Google Shape;625;p9"/>
          <p:cNvCxnSpPr>
            <a:stCxn id="609" idx="3"/>
            <a:endCxn id="615" idx="1"/>
          </p:cNvCxnSpPr>
          <p:nvPr/>
        </p:nvCxnSpPr>
        <p:spPr>
          <a:xfrm>
            <a:off x="1760716" y="3643118"/>
            <a:ext cx="627044" cy="455525"/>
          </a:xfrm>
          <a:prstGeom prst="bentConnector3">
            <a:avLst>
              <a:gd name="adj1" fmla="val 50000"/>
            </a:avLst>
          </a:prstGeom>
          <a:noFill/>
          <a:ln w="9525" cap="flat" cmpd="sng">
            <a:solidFill>
              <a:srgbClr val="FF0000"/>
            </a:solidFill>
            <a:prstDash val="solid"/>
            <a:miter lim="800000"/>
            <a:headEnd type="none" w="sm" len="sm"/>
            <a:tailEnd type="triangle" w="med" len="med"/>
          </a:ln>
        </p:spPr>
      </p:cxnSp>
      <p:sp>
        <p:nvSpPr>
          <p:cNvPr id="626" name="Google Shape;626;p9"/>
          <p:cNvSpPr txBox="1"/>
          <p:nvPr/>
        </p:nvSpPr>
        <p:spPr>
          <a:xfrm>
            <a:off x="337510" y="4204536"/>
            <a:ext cx="1386918"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Non Churns	</a:t>
            </a:r>
            <a:r>
              <a:rPr lang="en-US" sz="1100" b="1" dirty="0">
                <a:solidFill>
                  <a:schemeClr val="dk1"/>
                </a:solidFill>
                <a:latin typeface="Century Gothic"/>
                <a:ea typeface="Century Gothic"/>
                <a:cs typeface="Century Gothic"/>
                <a:sym typeface="Century Gothic"/>
              </a:rPr>
              <a:t>60%</a:t>
            </a:r>
            <a:endParaRPr dirty="0"/>
          </a:p>
        </p:txBody>
      </p:sp>
      <p:sp>
        <p:nvSpPr>
          <p:cNvPr id="627" name="Google Shape;627;p9"/>
          <p:cNvSpPr/>
          <p:nvPr/>
        </p:nvSpPr>
        <p:spPr>
          <a:xfrm>
            <a:off x="3908741" y="1949640"/>
            <a:ext cx="1361491" cy="441808"/>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8" name="Google Shape;628;p9"/>
          <p:cNvSpPr txBox="1"/>
          <p:nvPr/>
        </p:nvSpPr>
        <p:spPr>
          <a:xfrm>
            <a:off x="3876053" y="1922308"/>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Churns	</a:t>
            </a:r>
            <a:r>
              <a:rPr lang="en-US" sz="1100" b="1" dirty="0">
                <a:solidFill>
                  <a:schemeClr val="dk1"/>
                </a:solidFill>
                <a:latin typeface="Century Gothic"/>
                <a:ea typeface="Century Gothic"/>
                <a:cs typeface="Century Gothic"/>
                <a:sym typeface="Century Gothic"/>
              </a:rPr>
              <a:t>44%</a:t>
            </a:r>
            <a:endParaRPr dirty="0"/>
          </a:p>
        </p:txBody>
      </p:sp>
      <p:sp>
        <p:nvSpPr>
          <p:cNvPr id="629" name="Google Shape;629;p9"/>
          <p:cNvSpPr txBox="1"/>
          <p:nvPr/>
        </p:nvSpPr>
        <p:spPr>
          <a:xfrm>
            <a:off x="3876053" y="2129837"/>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Non Churns	</a:t>
            </a:r>
            <a:r>
              <a:rPr lang="en-US" sz="1100" b="1" dirty="0">
                <a:solidFill>
                  <a:schemeClr val="dk1"/>
                </a:solidFill>
                <a:latin typeface="Century Gothic"/>
                <a:ea typeface="Century Gothic"/>
                <a:cs typeface="Century Gothic"/>
                <a:sym typeface="Century Gothic"/>
              </a:rPr>
              <a:t>56%</a:t>
            </a:r>
            <a:endParaRPr dirty="0"/>
          </a:p>
        </p:txBody>
      </p:sp>
      <p:sp>
        <p:nvSpPr>
          <p:cNvPr id="630" name="Google Shape;630;p9"/>
          <p:cNvSpPr/>
          <p:nvPr/>
        </p:nvSpPr>
        <p:spPr>
          <a:xfrm>
            <a:off x="3936847" y="2907955"/>
            <a:ext cx="1361491" cy="441808"/>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1" name="Google Shape;631;p9"/>
          <p:cNvSpPr txBox="1"/>
          <p:nvPr/>
        </p:nvSpPr>
        <p:spPr>
          <a:xfrm>
            <a:off x="3904159" y="2880623"/>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Churns	</a:t>
            </a:r>
            <a:r>
              <a:rPr lang="en-US" sz="1100" b="1" dirty="0">
                <a:solidFill>
                  <a:schemeClr val="dk1"/>
                </a:solidFill>
                <a:latin typeface="Century Gothic"/>
                <a:ea typeface="Century Gothic"/>
                <a:cs typeface="Century Gothic"/>
                <a:sym typeface="Century Gothic"/>
              </a:rPr>
              <a:t>39%</a:t>
            </a:r>
            <a:endParaRPr dirty="0"/>
          </a:p>
        </p:txBody>
      </p:sp>
      <p:sp>
        <p:nvSpPr>
          <p:cNvPr id="632" name="Google Shape;632;p9"/>
          <p:cNvSpPr txBox="1"/>
          <p:nvPr/>
        </p:nvSpPr>
        <p:spPr>
          <a:xfrm>
            <a:off x="3904159" y="3088152"/>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Non Churns	</a:t>
            </a:r>
            <a:r>
              <a:rPr lang="en-US" sz="1100" b="1" dirty="0">
                <a:solidFill>
                  <a:schemeClr val="dk1"/>
                </a:solidFill>
                <a:latin typeface="Century Gothic"/>
                <a:ea typeface="Century Gothic"/>
                <a:cs typeface="Century Gothic"/>
                <a:sym typeface="Century Gothic"/>
              </a:rPr>
              <a:t>61%</a:t>
            </a:r>
            <a:endParaRPr dirty="0"/>
          </a:p>
        </p:txBody>
      </p:sp>
      <p:sp>
        <p:nvSpPr>
          <p:cNvPr id="633" name="Google Shape;633;p9"/>
          <p:cNvSpPr/>
          <p:nvPr/>
        </p:nvSpPr>
        <p:spPr>
          <a:xfrm>
            <a:off x="3915196" y="3865118"/>
            <a:ext cx="1361491" cy="441808"/>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4" name="Google Shape;634;p9"/>
          <p:cNvSpPr txBox="1"/>
          <p:nvPr/>
        </p:nvSpPr>
        <p:spPr>
          <a:xfrm>
            <a:off x="3882508" y="3837786"/>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Churns	</a:t>
            </a:r>
            <a:r>
              <a:rPr lang="en-US" sz="1100" b="1" dirty="0">
                <a:solidFill>
                  <a:schemeClr val="dk1"/>
                </a:solidFill>
                <a:latin typeface="Century Gothic"/>
                <a:ea typeface="Century Gothic"/>
                <a:cs typeface="Century Gothic"/>
                <a:sym typeface="Century Gothic"/>
              </a:rPr>
              <a:t>27%</a:t>
            </a:r>
            <a:endParaRPr dirty="0"/>
          </a:p>
        </p:txBody>
      </p:sp>
      <p:sp>
        <p:nvSpPr>
          <p:cNvPr id="635" name="Google Shape;635;p9"/>
          <p:cNvSpPr txBox="1"/>
          <p:nvPr/>
        </p:nvSpPr>
        <p:spPr>
          <a:xfrm>
            <a:off x="3882508" y="4045315"/>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Non Churns	</a:t>
            </a:r>
            <a:r>
              <a:rPr lang="en-US" sz="1100" b="1" dirty="0">
                <a:solidFill>
                  <a:schemeClr val="dk1"/>
                </a:solidFill>
                <a:latin typeface="Century Gothic"/>
                <a:ea typeface="Century Gothic"/>
                <a:cs typeface="Century Gothic"/>
                <a:sym typeface="Century Gothic"/>
              </a:rPr>
              <a:t>73%</a:t>
            </a:r>
            <a:endParaRPr dirty="0"/>
          </a:p>
        </p:txBody>
      </p:sp>
      <p:sp>
        <p:nvSpPr>
          <p:cNvPr id="636" name="Google Shape;636;p9"/>
          <p:cNvSpPr/>
          <p:nvPr/>
        </p:nvSpPr>
        <p:spPr>
          <a:xfrm>
            <a:off x="3932612" y="4803398"/>
            <a:ext cx="1361491" cy="441808"/>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7" name="Google Shape;637;p9"/>
          <p:cNvSpPr txBox="1"/>
          <p:nvPr/>
        </p:nvSpPr>
        <p:spPr>
          <a:xfrm>
            <a:off x="3899924" y="4776066"/>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Churns	</a:t>
            </a:r>
            <a:r>
              <a:rPr lang="en-US" sz="1100" b="1" dirty="0">
                <a:solidFill>
                  <a:schemeClr val="dk1"/>
                </a:solidFill>
                <a:latin typeface="Century Gothic"/>
                <a:ea typeface="Century Gothic"/>
                <a:cs typeface="Century Gothic"/>
                <a:sym typeface="Century Gothic"/>
              </a:rPr>
              <a:t>28%</a:t>
            </a:r>
            <a:endParaRPr dirty="0"/>
          </a:p>
        </p:txBody>
      </p:sp>
      <p:sp>
        <p:nvSpPr>
          <p:cNvPr id="638" name="Google Shape;638;p9"/>
          <p:cNvSpPr txBox="1"/>
          <p:nvPr/>
        </p:nvSpPr>
        <p:spPr>
          <a:xfrm>
            <a:off x="3899924" y="4983595"/>
            <a:ext cx="150554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Century Gothic"/>
                <a:ea typeface="Century Gothic"/>
                <a:cs typeface="Century Gothic"/>
                <a:sym typeface="Century Gothic"/>
              </a:rPr>
              <a:t>Non Churns	</a:t>
            </a:r>
            <a:r>
              <a:rPr lang="en-US" sz="1100" b="1" dirty="0">
                <a:solidFill>
                  <a:schemeClr val="dk1"/>
                </a:solidFill>
                <a:latin typeface="Century Gothic"/>
                <a:ea typeface="Century Gothic"/>
                <a:cs typeface="Century Gothic"/>
                <a:sym typeface="Century Gothic"/>
              </a:rPr>
              <a:t>72%</a:t>
            </a:r>
            <a:endParaRPr dirty="0"/>
          </a:p>
        </p:txBody>
      </p:sp>
      <p:sp>
        <p:nvSpPr>
          <p:cNvPr id="639" name="Google Shape;639;p9"/>
          <p:cNvSpPr/>
          <p:nvPr/>
        </p:nvSpPr>
        <p:spPr>
          <a:xfrm rot="10800000">
            <a:off x="5388048" y="2058094"/>
            <a:ext cx="413435" cy="1126396"/>
          </a:xfrm>
          <a:prstGeom prst="leftBrace">
            <a:avLst>
              <a:gd name="adj1" fmla="val 8333"/>
              <a:gd name="adj2" fmla="val 50000"/>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40" name="Google Shape;640;p9"/>
          <p:cNvSpPr/>
          <p:nvPr/>
        </p:nvSpPr>
        <p:spPr>
          <a:xfrm rot="10800000">
            <a:off x="5346818" y="3947127"/>
            <a:ext cx="413435" cy="1126396"/>
          </a:xfrm>
          <a:prstGeom prst="leftBrace">
            <a:avLst>
              <a:gd name="adj1" fmla="val 8333"/>
              <a:gd name="adj2" fmla="val 50000"/>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42" name="Google Shape;642;p9"/>
          <p:cNvSpPr/>
          <p:nvPr/>
        </p:nvSpPr>
        <p:spPr>
          <a:xfrm>
            <a:off x="5935437" y="2410181"/>
            <a:ext cx="778141" cy="369332"/>
          </a:xfrm>
          <a:prstGeom prst="rect">
            <a:avLst/>
          </a:prstGeom>
          <a:solidFill>
            <a:srgbClr val="FF0000"/>
          </a:solidFill>
          <a:ln w="254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4" name="Google Shape;644;p9"/>
          <p:cNvSpPr/>
          <p:nvPr/>
        </p:nvSpPr>
        <p:spPr>
          <a:xfrm>
            <a:off x="5904169" y="4320378"/>
            <a:ext cx="778141" cy="369332"/>
          </a:xfrm>
          <a:prstGeom prst="rect">
            <a:avLst/>
          </a:prstGeom>
          <a:solidFill>
            <a:srgbClr val="FF0000"/>
          </a:solidFill>
          <a:ln w="254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82" name="Google Shape;643;p9">
            <a:extLst>
              <a:ext uri="{FF2B5EF4-FFF2-40B4-BE49-F238E27FC236}">
                <a16:creationId xmlns:a16="http://schemas.microsoft.com/office/drawing/2014/main" id="{178B4F2A-22AF-4CD0-B6AC-793723E9A724}"/>
              </a:ext>
            </a:extLst>
          </p:cNvPr>
          <p:cNvSpPr txBox="1"/>
          <p:nvPr/>
        </p:nvSpPr>
        <p:spPr>
          <a:xfrm>
            <a:off x="5888031" y="4398814"/>
            <a:ext cx="825547" cy="253916"/>
          </a:xfrm>
          <a:prstGeom prst="rect">
            <a:avLst/>
          </a:prstGeom>
          <a:noFill/>
          <a:ln>
            <a:noFill/>
          </a:ln>
        </p:spPr>
        <p:txBody>
          <a:bodyPr spcFirstLastPara="1" wrap="square" lIns="0" tIns="0" rIns="0" bIns="0" anchor="t" anchorCtr="0">
            <a:noAutofit/>
          </a:bodyPr>
          <a:lstStyle/>
          <a:p>
            <a:pPr marR="0" lvl="0" algn="ctr" rtl="0">
              <a:lnSpc>
                <a:spcPct val="100000"/>
              </a:lnSpc>
              <a:spcBef>
                <a:spcPts val="0"/>
              </a:spcBef>
              <a:spcAft>
                <a:spcPts val="0"/>
              </a:spcAft>
              <a:buClr>
                <a:srgbClr val="00B0F0"/>
              </a:buClr>
              <a:buSzPts val="1400"/>
            </a:pPr>
            <a:r>
              <a:rPr lang="en-US" sz="1400" b="1" dirty="0">
                <a:solidFill>
                  <a:schemeClr val="bg1"/>
                </a:solidFill>
                <a:latin typeface="Century Gothic"/>
                <a:ea typeface="Century Gothic"/>
                <a:cs typeface="Century Gothic"/>
                <a:sym typeface="Century Gothic"/>
              </a:rPr>
              <a:t>Fit</a:t>
            </a:r>
            <a:endParaRPr lang="en-US" sz="1400" b="1" i="0" u="none" strike="noStrike" cap="none" dirty="0">
              <a:solidFill>
                <a:schemeClr val="bg1"/>
              </a:solidFill>
              <a:latin typeface="Century Gothic"/>
              <a:ea typeface="Century Gothic"/>
              <a:cs typeface="Century Gothic"/>
              <a:sym typeface="Century Gothic"/>
            </a:endParaRPr>
          </a:p>
        </p:txBody>
      </p:sp>
      <p:sp>
        <p:nvSpPr>
          <p:cNvPr id="84" name="Google Shape;643;p9">
            <a:extLst>
              <a:ext uri="{FF2B5EF4-FFF2-40B4-BE49-F238E27FC236}">
                <a16:creationId xmlns:a16="http://schemas.microsoft.com/office/drawing/2014/main" id="{EB41C1B9-1221-4D99-8BAE-CDA690F2451A}"/>
              </a:ext>
            </a:extLst>
          </p:cNvPr>
          <p:cNvSpPr txBox="1"/>
          <p:nvPr/>
        </p:nvSpPr>
        <p:spPr>
          <a:xfrm>
            <a:off x="5895098" y="2481344"/>
            <a:ext cx="825547" cy="253916"/>
          </a:xfrm>
          <a:prstGeom prst="rect">
            <a:avLst/>
          </a:prstGeom>
          <a:noFill/>
          <a:ln>
            <a:noFill/>
          </a:ln>
        </p:spPr>
        <p:txBody>
          <a:bodyPr spcFirstLastPara="1" wrap="square" lIns="0" tIns="0" rIns="0" bIns="0" anchor="t" anchorCtr="0">
            <a:noAutofit/>
          </a:bodyPr>
          <a:lstStyle/>
          <a:p>
            <a:pPr marR="0" lvl="0" algn="ctr" rtl="0">
              <a:lnSpc>
                <a:spcPct val="100000"/>
              </a:lnSpc>
              <a:spcBef>
                <a:spcPts val="0"/>
              </a:spcBef>
              <a:spcAft>
                <a:spcPts val="0"/>
              </a:spcAft>
              <a:buClr>
                <a:srgbClr val="00B0F0"/>
              </a:buClr>
              <a:buSzPts val="1400"/>
            </a:pPr>
            <a:r>
              <a:rPr lang="en-US" sz="1400" b="1" dirty="0">
                <a:solidFill>
                  <a:schemeClr val="bg1"/>
                </a:solidFill>
                <a:latin typeface="Century Gothic"/>
                <a:ea typeface="Century Gothic"/>
                <a:cs typeface="Century Gothic"/>
                <a:sym typeface="Century Gothic"/>
              </a:rPr>
              <a:t>Not Fit</a:t>
            </a:r>
            <a:endParaRPr lang="en-US" sz="1400" b="1" i="0" u="none" strike="noStrike" cap="none" dirty="0">
              <a:solidFill>
                <a:schemeClr val="bg1"/>
              </a:solidFill>
              <a:latin typeface="Century Gothic"/>
              <a:ea typeface="Century Gothic"/>
              <a:cs typeface="Century Gothic"/>
              <a:sym typeface="Century Gothic"/>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10" name="Google Shape;610;p9"/>
          <p:cNvSpPr txBox="1"/>
          <p:nvPr/>
        </p:nvSpPr>
        <p:spPr>
          <a:xfrm>
            <a:off x="205940" y="154607"/>
            <a:ext cx="11475777" cy="553998"/>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1800"/>
              <a:buFont typeface="Century Gothic"/>
              <a:buNone/>
            </a:pPr>
            <a:r>
              <a:rPr lang="en-US" sz="1800" b="1" dirty="0">
                <a:solidFill>
                  <a:srgbClr val="FF0000"/>
                </a:solidFill>
                <a:latin typeface="Century Gothic"/>
                <a:ea typeface="Century Gothic"/>
                <a:cs typeface="Century Gothic"/>
                <a:sym typeface="Century Gothic"/>
              </a:rPr>
              <a:t>Initial Analysis (Cohort All Product) – Checking definition customer churns is already suitable for Traveloka business that haven’t bought in one last year??</a:t>
            </a:r>
            <a:endParaRPr sz="1800" b="1" i="0" u="none" strike="noStrike" cap="none" dirty="0">
              <a:solidFill>
                <a:srgbClr val="FF0000"/>
              </a:solidFill>
              <a:latin typeface="Century Gothic"/>
              <a:ea typeface="Century Gothic"/>
              <a:cs typeface="Century Gothic"/>
              <a:sym typeface="Century Gothic"/>
            </a:endParaRPr>
          </a:p>
        </p:txBody>
      </p:sp>
      <p:pic>
        <p:nvPicPr>
          <p:cNvPr id="3" name="Picture 2">
            <a:extLst>
              <a:ext uri="{FF2B5EF4-FFF2-40B4-BE49-F238E27FC236}">
                <a16:creationId xmlns:a16="http://schemas.microsoft.com/office/drawing/2014/main" id="{DFBFE00C-05E2-48A3-9BB6-C0457C79C283}"/>
              </a:ext>
            </a:extLst>
          </p:cNvPr>
          <p:cNvPicPr>
            <a:picLocks noChangeAspect="1"/>
          </p:cNvPicPr>
          <p:nvPr/>
        </p:nvPicPr>
        <p:blipFill>
          <a:blip r:embed="rId3"/>
          <a:stretch>
            <a:fillRect/>
          </a:stretch>
        </p:blipFill>
        <p:spPr>
          <a:xfrm>
            <a:off x="0" y="850803"/>
            <a:ext cx="5994519" cy="3061597"/>
          </a:xfrm>
          <a:prstGeom prst="rect">
            <a:avLst/>
          </a:prstGeom>
        </p:spPr>
      </p:pic>
      <p:pic>
        <p:nvPicPr>
          <p:cNvPr id="5" name="Picture 4">
            <a:extLst>
              <a:ext uri="{FF2B5EF4-FFF2-40B4-BE49-F238E27FC236}">
                <a16:creationId xmlns:a16="http://schemas.microsoft.com/office/drawing/2014/main" id="{4F563B02-9F26-406D-987A-0122319FA5A5}"/>
              </a:ext>
            </a:extLst>
          </p:cNvPr>
          <p:cNvPicPr>
            <a:picLocks noChangeAspect="1"/>
          </p:cNvPicPr>
          <p:nvPr/>
        </p:nvPicPr>
        <p:blipFill>
          <a:blip r:embed="rId4"/>
          <a:stretch>
            <a:fillRect/>
          </a:stretch>
        </p:blipFill>
        <p:spPr>
          <a:xfrm>
            <a:off x="6363558" y="787981"/>
            <a:ext cx="5597784" cy="3122248"/>
          </a:xfrm>
          <a:prstGeom prst="rect">
            <a:avLst/>
          </a:prstGeom>
        </p:spPr>
      </p:pic>
      <p:sp>
        <p:nvSpPr>
          <p:cNvPr id="46" name="Google Shape;617;p9">
            <a:extLst>
              <a:ext uri="{FF2B5EF4-FFF2-40B4-BE49-F238E27FC236}">
                <a16:creationId xmlns:a16="http://schemas.microsoft.com/office/drawing/2014/main" id="{8E7C29B2-9FD2-40CF-846E-57DA2B881C35}"/>
              </a:ext>
            </a:extLst>
          </p:cNvPr>
          <p:cNvSpPr txBox="1"/>
          <p:nvPr/>
        </p:nvSpPr>
        <p:spPr>
          <a:xfrm>
            <a:off x="428161" y="4052427"/>
            <a:ext cx="9709254" cy="20312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dirty="0">
                <a:solidFill>
                  <a:schemeClr val="dk1"/>
                </a:solidFill>
                <a:latin typeface="Century Gothic"/>
                <a:ea typeface="Century Gothic"/>
                <a:cs typeface="Century Gothic"/>
                <a:sym typeface="Century Gothic"/>
              </a:rPr>
              <a:t>Explain:</a:t>
            </a:r>
          </a:p>
          <a:p>
            <a:pPr marL="228600" marR="0" lvl="0" indent="-228600" algn="l" rtl="0">
              <a:spcBef>
                <a:spcPts val="0"/>
              </a:spcBef>
              <a:spcAft>
                <a:spcPts val="0"/>
              </a:spcAft>
              <a:buClr>
                <a:schemeClr val="dk1"/>
              </a:buClr>
              <a:buSzPts val="1100"/>
              <a:buFont typeface="Century Gothic"/>
              <a:buAutoNum type="arabicParenR"/>
            </a:pPr>
            <a:r>
              <a:rPr lang="en-US" dirty="0">
                <a:solidFill>
                  <a:schemeClr val="dk1"/>
                </a:solidFill>
                <a:latin typeface="Century Gothic"/>
                <a:ea typeface="Century Gothic"/>
                <a:cs typeface="Century Gothic"/>
                <a:sym typeface="Century Gothic"/>
              </a:rPr>
              <a:t>Dari </a:t>
            </a:r>
            <a:r>
              <a:rPr lang="en-US" dirty="0" err="1">
                <a:solidFill>
                  <a:schemeClr val="dk1"/>
                </a:solidFill>
                <a:latin typeface="Century Gothic"/>
                <a:ea typeface="Century Gothic"/>
                <a:cs typeface="Century Gothic"/>
                <a:sym typeface="Century Gothic"/>
              </a:rPr>
              <a:t>hasil</a:t>
            </a:r>
            <a:r>
              <a:rPr lang="en-US" dirty="0">
                <a:solidFill>
                  <a:schemeClr val="dk1"/>
                </a:solidFill>
                <a:latin typeface="Century Gothic"/>
                <a:ea typeface="Century Gothic"/>
                <a:cs typeface="Century Gothic"/>
                <a:sym typeface="Century Gothic"/>
              </a:rPr>
              <a:t> cohort analysis </a:t>
            </a:r>
            <a:r>
              <a:rPr lang="en-US" dirty="0" err="1">
                <a:solidFill>
                  <a:schemeClr val="dk1"/>
                </a:solidFill>
                <a:latin typeface="Century Gothic"/>
                <a:ea typeface="Century Gothic"/>
                <a:cs typeface="Century Gothic"/>
                <a:sym typeface="Century Gothic"/>
              </a:rPr>
              <a:t>terlihat</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bahwa</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tidak</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ada</a:t>
            </a:r>
            <a:r>
              <a:rPr lang="en-US" dirty="0">
                <a:solidFill>
                  <a:schemeClr val="dk1"/>
                </a:solidFill>
                <a:latin typeface="Century Gothic"/>
                <a:ea typeface="Century Gothic"/>
                <a:cs typeface="Century Gothic"/>
                <a:sym typeface="Century Gothic"/>
              </a:rPr>
              <a:t> churn yang </a:t>
            </a:r>
            <a:r>
              <a:rPr lang="en-US" dirty="0" err="1">
                <a:solidFill>
                  <a:schemeClr val="dk1"/>
                </a:solidFill>
                <a:latin typeface="Century Gothic"/>
                <a:ea typeface="Century Gothic"/>
                <a:cs typeface="Century Gothic"/>
                <a:sym typeface="Century Gothic"/>
              </a:rPr>
              <a:t>signifikan</a:t>
            </a:r>
            <a:r>
              <a:rPr lang="en-US" dirty="0">
                <a:solidFill>
                  <a:schemeClr val="dk1"/>
                </a:solidFill>
                <a:latin typeface="Century Gothic"/>
                <a:ea typeface="Century Gothic"/>
                <a:cs typeface="Century Gothic"/>
                <a:sym typeface="Century Gothic"/>
              </a:rPr>
              <a:t> dan </a:t>
            </a:r>
            <a:r>
              <a:rPr lang="en-US" dirty="0" err="1">
                <a:solidFill>
                  <a:schemeClr val="dk1"/>
                </a:solidFill>
                <a:latin typeface="Century Gothic"/>
                <a:ea typeface="Century Gothic"/>
                <a:cs typeface="Century Gothic"/>
                <a:sym typeface="Century Gothic"/>
              </a:rPr>
              <a:t>selalu</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ada</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peningkatan</a:t>
            </a:r>
            <a:r>
              <a:rPr lang="en-US" dirty="0">
                <a:solidFill>
                  <a:schemeClr val="dk1"/>
                </a:solidFill>
                <a:latin typeface="Century Gothic"/>
                <a:ea typeface="Century Gothic"/>
                <a:cs typeface="Century Gothic"/>
                <a:sym typeface="Century Gothic"/>
              </a:rPr>
              <a:t> di </a:t>
            </a:r>
            <a:r>
              <a:rPr lang="en-US" dirty="0" err="1">
                <a:solidFill>
                  <a:schemeClr val="dk1"/>
                </a:solidFill>
                <a:latin typeface="Century Gothic"/>
                <a:ea typeface="Century Gothic"/>
                <a:cs typeface="Century Gothic"/>
                <a:sym typeface="Century Gothic"/>
              </a:rPr>
              <a:t>setiap</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bulan</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Titik</a:t>
            </a:r>
            <a:r>
              <a:rPr lang="en-US" dirty="0">
                <a:solidFill>
                  <a:schemeClr val="dk1"/>
                </a:solidFill>
                <a:latin typeface="Century Gothic"/>
                <a:ea typeface="Century Gothic"/>
                <a:cs typeface="Century Gothic"/>
                <a:sym typeface="Century Gothic"/>
              </a:rPr>
              <a:t> yang </a:t>
            </a:r>
            <a:r>
              <a:rPr lang="en-US" dirty="0" err="1">
                <a:solidFill>
                  <a:schemeClr val="dk1"/>
                </a:solidFill>
                <a:latin typeface="Century Gothic"/>
                <a:ea typeface="Century Gothic"/>
                <a:cs typeface="Century Gothic"/>
                <a:sym typeface="Century Gothic"/>
              </a:rPr>
              <a:t>dilingkarin</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terjadi</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penurunan</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tajam</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dikarenakan</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kekurangan</a:t>
            </a:r>
            <a:r>
              <a:rPr lang="en-US" dirty="0">
                <a:solidFill>
                  <a:schemeClr val="dk1"/>
                </a:solidFill>
                <a:latin typeface="Century Gothic"/>
                <a:ea typeface="Century Gothic"/>
                <a:cs typeface="Century Gothic"/>
                <a:sym typeface="Century Gothic"/>
              </a:rPr>
              <a:t> data di </a:t>
            </a:r>
            <a:r>
              <a:rPr lang="en-US" dirty="0" err="1">
                <a:solidFill>
                  <a:schemeClr val="dk1"/>
                </a:solidFill>
                <a:latin typeface="Century Gothic"/>
                <a:ea typeface="Century Gothic"/>
                <a:cs typeface="Century Gothic"/>
                <a:sym typeface="Century Gothic"/>
              </a:rPr>
              <a:t>bulan</a:t>
            </a:r>
            <a:r>
              <a:rPr lang="en-US" dirty="0">
                <a:solidFill>
                  <a:schemeClr val="dk1"/>
                </a:solidFill>
                <a:latin typeface="Century Gothic"/>
                <a:ea typeface="Century Gothic"/>
                <a:cs typeface="Century Gothic"/>
                <a:sym typeface="Century Gothic"/>
              </a:rPr>
              <a:t> February.</a:t>
            </a:r>
          </a:p>
          <a:p>
            <a:pPr marL="228600" marR="0" lvl="0" indent="-228600" algn="l" rtl="0">
              <a:spcBef>
                <a:spcPts val="0"/>
              </a:spcBef>
              <a:spcAft>
                <a:spcPts val="0"/>
              </a:spcAft>
              <a:buClr>
                <a:schemeClr val="dk1"/>
              </a:buClr>
              <a:buSzPts val="1100"/>
              <a:buFont typeface="Century Gothic"/>
              <a:buAutoNum type="arabicParenR"/>
            </a:pPr>
            <a:r>
              <a:rPr lang="en-US" dirty="0" err="1">
                <a:solidFill>
                  <a:schemeClr val="dk1"/>
                </a:solidFill>
                <a:latin typeface="Century Gothic"/>
                <a:ea typeface="Century Gothic"/>
                <a:cs typeface="Century Gothic"/>
                <a:sym typeface="Century Gothic"/>
              </a:rPr>
              <a:t>Diperkuat</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dengan</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bukti</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bahwa</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ada</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banyak</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akuisis</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aktif</a:t>
            </a:r>
            <a:r>
              <a:rPr lang="en-US" dirty="0">
                <a:solidFill>
                  <a:schemeClr val="dk1"/>
                </a:solidFill>
                <a:latin typeface="Century Gothic"/>
                <a:ea typeface="Century Gothic"/>
                <a:cs typeface="Century Gothic"/>
                <a:sym typeface="Century Gothic"/>
              </a:rPr>
              <a:t> user yang </a:t>
            </a:r>
            <a:r>
              <a:rPr lang="en-US" dirty="0" err="1">
                <a:solidFill>
                  <a:schemeClr val="dk1"/>
                </a:solidFill>
                <a:latin typeface="Century Gothic"/>
                <a:ea typeface="Century Gothic"/>
                <a:cs typeface="Century Gothic"/>
                <a:sym typeface="Century Gothic"/>
              </a:rPr>
              <a:t>baru</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bahkan</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sampai</a:t>
            </a:r>
            <a:r>
              <a:rPr lang="en-US" dirty="0">
                <a:solidFill>
                  <a:schemeClr val="dk1"/>
                </a:solidFill>
                <a:latin typeface="Century Gothic"/>
                <a:ea typeface="Century Gothic"/>
                <a:cs typeface="Century Gothic"/>
                <a:sym typeface="Century Gothic"/>
              </a:rPr>
              <a:t> January 2019 </a:t>
            </a:r>
            <a:r>
              <a:rPr lang="en-US" dirty="0" err="1">
                <a:solidFill>
                  <a:schemeClr val="dk1"/>
                </a:solidFill>
                <a:latin typeface="Century Gothic"/>
                <a:ea typeface="Century Gothic"/>
                <a:cs typeface="Century Gothic"/>
                <a:sym typeface="Century Gothic"/>
              </a:rPr>
              <a:t>dengan</a:t>
            </a:r>
            <a:r>
              <a:rPr lang="en-US" dirty="0">
                <a:solidFill>
                  <a:schemeClr val="dk1"/>
                </a:solidFill>
                <a:latin typeface="Century Gothic"/>
                <a:ea typeface="Century Gothic"/>
                <a:cs typeface="Century Gothic"/>
                <a:sym typeface="Century Gothic"/>
              </a:rPr>
              <a:t> trend yang </a:t>
            </a:r>
            <a:r>
              <a:rPr lang="en-US" dirty="0" err="1">
                <a:solidFill>
                  <a:schemeClr val="dk1"/>
                </a:solidFill>
                <a:latin typeface="Century Gothic"/>
                <a:ea typeface="Century Gothic"/>
                <a:cs typeface="Century Gothic"/>
                <a:sym typeface="Century Gothic"/>
              </a:rPr>
              <a:t>cenderung</a:t>
            </a:r>
            <a:r>
              <a:rPr lang="en-US" dirty="0">
                <a:solidFill>
                  <a:schemeClr val="dk1"/>
                </a:solidFill>
                <a:latin typeface="Century Gothic"/>
                <a:ea typeface="Century Gothic"/>
                <a:cs typeface="Century Gothic"/>
                <a:sym typeface="Century Gothic"/>
              </a:rPr>
              <a:t> naik, </a:t>
            </a:r>
            <a:r>
              <a:rPr lang="en-US" dirty="0" err="1">
                <a:solidFill>
                  <a:schemeClr val="dk1"/>
                </a:solidFill>
                <a:latin typeface="Century Gothic"/>
                <a:ea typeface="Century Gothic"/>
                <a:cs typeface="Century Gothic"/>
                <a:sym typeface="Century Gothic"/>
              </a:rPr>
              <a:t>hal</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ini</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membuktikan</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kalo</a:t>
            </a:r>
            <a:r>
              <a:rPr lang="en-US" dirty="0">
                <a:solidFill>
                  <a:schemeClr val="dk1"/>
                </a:solidFill>
                <a:latin typeface="Century Gothic"/>
                <a:ea typeface="Century Gothic"/>
                <a:cs typeface="Century Gothic"/>
                <a:sym typeface="Century Gothic"/>
              </a:rPr>
              <a:t> </a:t>
            </a:r>
            <a:r>
              <a:rPr lang="en-US" dirty="0" err="1">
                <a:solidFill>
                  <a:schemeClr val="dk1"/>
                </a:solidFill>
                <a:latin typeface="Century Gothic"/>
                <a:ea typeface="Century Gothic"/>
                <a:cs typeface="Century Gothic"/>
                <a:sym typeface="Century Gothic"/>
              </a:rPr>
              <a:t>bahwa</a:t>
            </a:r>
            <a:r>
              <a:rPr lang="en-US" dirty="0">
                <a:solidFill>
                  <a:schemeClr val="dk1"/>
                </a:solidFill>
                <a:latin typeface="Century Gothic"/>
                <a:ea typeface="Century Gothic"/>
                <a:cs typeface="Century Gothic"/>
                <a:sym typeface="Century Gothic"/>
              </a:rPr>
              <a:t> cohort </a:t>
            </a:r>
            <a:r>
              <a:rPr lang="en-US" dirty="0" err="1">
                <a:solidFill>
                  <a:schemeClr val="dk1"/>
                </a:solidFill>
                <a:latin typeface="Century Gothic"/>
                <a:ea typeface="Century Gothic"/>
                <a:cs typeface="Century Gothic"/>
                <a:sym typeface="Century Gothic"/>
              </a:rPr>
              <a:t>transaksi</a:t>
            </a:r>
            <a:r>
              <a:rPr lang="en-US" dirty="0">
                <a:solidFill>
                  <a:schemeClr val="dk1"/>
                </a:solidFill>
                <a:latin typeface="Century Gothic"/>
                <a:ea typeface="Century Gothic"/>
                <a:cs typeface="Century Gothic"/>
                <a:sym typeface="Century Gothic"/>
              </a:rPr>
              <a:t> </a:t>
            </a:r>
            <a:r>
              <a:rPr lang="en-US" err="1">
                <a:solidFill>
                  <a:schemeClr val="dk1"/>
                </a:solidFill>
                <a:latin typeface="Century Gothic"/>
                <a:ea typeface="Century Gothic"/>
                <a:cs typeface="Century Gothic"/>
                <a:sym typeface="Century Gothic"/>
              </a:rPr>
              <a:t>sehat</a:t>
            </a:r>
            <a:r>
              <a:rPr lang="en-US">
                <a:solidFill>
                  <a:schemeClr val="dk1"/>
                </a:solidFill>
                <a:latin typeface="Century Gothic"/>
                <a:ea typeface="Century Gothic"/>
                <a:cs typeface="Century Gothic"/>
                <a:sym typeface="Century Gothic"/>
              </a:rPr>
              <a:t>.</a:t>
            </a:r>
          </a:p>
          <a:p>
            <a:pPr marL="228600" marR="0" lvl="0" indent="-228600" algn="l" rtl="0">
              <a:spcBef>
                <a:spcPts val="0"/>
              </a:spcBef>
              <a:spcAft>
                <a:spcPts val="0"/>
              </a:spcAft>
              <a:buClr>
                <a:schemeClr val="dk1"/>
              </a:buClr>
              <a:buSzPts val="1100"/>
              <a:buFont typeface="Century Gothic"/>
              <a:buAutoNum type="arabicParenR"/>
            </a:pPr>
            <a:r>
              <a:rPr lang="en-US">
                <a:solidFill>
                  <a:schemeClr val="dk1"/>
                </a:solidFill>
                <a:latin typeface="Century Gothic"/>
                <a:ea typeface="Century Gothic"/>
                <a:cs typeface="Century Gothic"/>
                <a:sym typeface="Century Gothic"/>
              </a:rPr>
              <a:t>Karena retention masih dalam angka yang sehat, sehingga definisi customer churn yang tidak belanja kurang dari setahun kurang tepat dan bisa dibentuk label churn bulanan.</a:t>
            </a:r>
          </a:p>
          <a:p>
            <a:pPr marL="228600" marR="0" lvl="0" indent="-228600" algn="l" rtl="0">
              <a:spcBef>
                <a:spcPts val="0"/>
              </a:spcBef>
              <a:spcAft>
                <a:spcPts val="0"/>
              </a:spcAft>
              <a:buClr>
                <a:schemeClr val="dk1"/>
              </a:buClr>
              <a:buSzPts val="1100"/>
              <a:buFont typeface="Century Gothic"/>
              <a:buAutoNum type="arabicParenR"/>
            </a:pPr>
            <a:endParaRPr lang="en-US" dirty="0">
              <a:solidFill>
                <a:schemeClr val="dk1"/>
              </a:solidFill>
              <a:latin typeface="Century Gothic"/>
              <a:ea typeface="Century Gothic"/>
              <a:cs typeface="Century Gothic"/>
              <a:sym typeface="Century Gothic"/>
            </a:endParaRPr>
          </a:p>
        </p:txBody>
      </p:sp>
      <p:sp>
        <p:nvSpPr>
          <p:cNvPr id="6" name="Oval 5">
            <a:extLst>
              <a:ext uri="{FF2B5EF4-FFF2-40B4-BE49-F238E27FC236}">
                <a16:creationId xmlns:a16="http://schemas.microsoft.com/office/drawing/2014/main" id="{37F4B182-DD68-4170-9F2D-DF02251E308C}"/>
              </a:ext>
            </a:extLst>
          </p:cNvPr>
          <p:cNvSpPr/>
          <p:nvPr/>
        </p:nvSpPr>
        <p:spPr>
          <a:xfrm>
            <a:off x="11023133" y="850803"/>
            <a:ext cx="503340" cy="276485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8" name="Oval 47">
            <a:extLst>
              <a:ext uri="{FF2B5EF4-FFF2-40B4-BE49-F238E27FC236}">
                <a16:creationId xmlns:a16="http://schemas.microsoft.com/office/drawing/2014/main" id="{E5E53987-0BA1-4E6C-B03F-9BAE1090E0EC}"/>
              </a:ext>
            </a:extLst>
          </p:cNvPr>
          <p:cNvSpPr/>
          <p:nvPr/>
        </p:nvSpPr>
        <p:spPr>
          <a:xfrm>
            <a:off x="10277513" y="3238151"/>
            <a:ext cx="374067" cy="6001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1505264048"/>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10" name="Google Shape;610;p9"/>
          <p:cNvSpPr txBox="1"/>
          <p:nvPr/>
        </p:nvSpPr>
        <p:spPr>
          <a:xfrm>
            <a:off x="205940" y="154607"/>
            <a:ext cx="11475777" cy="553998"/>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1800"/>
              <a:buFont typeface="Century Gothic"/>
              <a:buNone/>
            </a:pPr>
            <a:r>
              <a:rPr lang="en-US" sz="1800" b="1" dirty="0">
                <a:solidFill>
                  <a:srgbClr val="FF0000"/>
                </a:solidFill>
                <a:latin typeface="Century Gothic"/>
                <a:ea typeface="Century Gothic"/>
                <a:cs typeface="Century Gothic"/>
                <a:sym typeface="Century Gothic"/>
              </a:rPr>
              <a:t>Initial Analysis (Cohort Product) – Checking definition customer churns is already suitable for Traveloka business that haven’t bought in one last year??</a:t>
            </a:r>
            <a:endParaRPr sz="1800" b="1" i="0" u="none" strike="noStrike" cap="none" dirty="0">
              <a:solidFill>
                <a:srgbClr val="FF0000"/>
              </a:solidFill>
              <a:latin typeface="Century Gothic"/>
              <a:ea typeface="Century Gothic"/>
              <a:cs typeface="Century Gothic"/>
              <a:sym typeface="Century Gothic"/>
            </a:endParaRPr>
          </a:p>
        </p:txBody>
      </p:sp>
      <p:pic>
        <p:nvPicPr>
          <p:cNvPr id="3" name="Picture 2">
            <a:extLst>
              <a:ext uri="{FF2B5EF4-FFF2-40B4-BE49-F238E27FC236}">
                <a16:creationId xmlns:a16="http://schemas.microsoft.com/office/drawing/2014/main" id="{5C0FD803-E7F1-4725-BC19-83681AE10FD0}"/>
              </a:ext>
            </a:extLst>
          </p:cNvPr>
          <p:cNvPicPr>
            <a:picLocks noChangeAspect="1"/>
          </p:cNvPicPr>
          <p:nvPr/>
        </p:nvPicPr>
        <p:blipFill>
          <a:blip r:embed="rId3"/>
          <a:stretch>
            <a:fillRect/>
          </a:stretch>
        </p:blipFill>
        <p:spPr>
          <a:xfrm>
            <a:off x="510283" y="816346"/>
            <a:ext cx="4512858" cy="2764334"/>
          </a:xfrm>
          <a:prstGeom prst="rect">
            <a:avLst/>
          </a:prstGeom>
        </p:spPr>
      </p:pic>
      <p:pic>
        <p:nvPicPr>
          <p:cNvPr id="5" name="Picture 4">
            <a:extLst>
              <a:ext uri="{FF2B5EF4-FFF2-40B4-BE49-F238E27FC236}">
                <a16:creationId xmlns:a16="http://schemas.microsoft.com/office/drawing/2014/main" id="{FA5ABF54-B1E6-42D3-90BF-11EEA4DAEA26}"/>
              </a:ext>
            </a:extLst>
          </p:cNvPr>
          <p:cNvPicPr>
            <a:picLocks noChangeAspect="1"/>
          </p:cNvPicPr>
          <p:nvPr/>
        </p:nvPicPr>
        <p:blipFill>
          <a:blip r:embed="rId4"/>
          <a:stretch>
            <a:fillRect/>
          </a:stretch>
        </p:blipFill>
        <p:spPr>
          <a:xfrm>
            <a:off x="6999143" y="490521"/>
            <a:ext cx="4682574" cy="2902625"/>
          </a:xfrm>
          <a:prstGeom prst="rect">
            <a:avLst/>
          </a:prstGeom>
        </p:spPr>
      </p:pic>
      <p:sp>
        <p:nvSpPr>
          <p:cNvPr id="7" name="Google Shape;990;p14">
            <a:extLst>
              <a:ext uri="{FF2B5EF4-FFF2-40B4-BE49-F238E27FC236}">
                <a16:creationId xmlns:a16="http://schemas.microsoft.com/office/drawing/2014/main" id="{30B0DB21-70FE-4B6E-92DD-FFFEAF45EC4B}"/>
              </a:ext>
            </a:extLst>
          </p:cNvPr>
          <p:cNvSpPr/>
          <p:nvPr/>
        </p:nvSpPr>
        <p:spPr>
          <a:xfrm>
            <a:off x="2101382" y="962736"/>
            <a:ext cx="959264" cy="434550"/>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0" i="0" dirty="0">
                <a:solidFill>
                  <a:srgbClr val="292929"/>
                </a:solidFill>
                <a:latin typeface="Century Gothic"/>
                <a:ea typeface="Century Gothic"/>
                <a:cs typeface="Century Gothic"/>
                <a:sym typeface="Century Gothic"/>
              </a:rPr>
              <a:t>Flight</a:t>
            </a:r>
            <a:endParaRPr sz="2000" dirty="0">
              <a:solidFill>
                <a:schemeClr val="lt1"/>
              </a:solidFill>
              <a:latin typeface="Century Gothic"/>
              <a:ea typeface="Century Gothic"/>
              <a:cs typeface="Century Gothic"/>
              <a:sym typeface="Century Gothic"/>
            </a:endParaRPr>
          </a:p>
        </p:txBody>
      </p:sp>
      <p:sp>
        <p:nvSpPr>
          <p:cNvPr id="8" name="Google Shape;990;p14">
            <a:extLst>
              <a:ext uri="{FF2B5EF4-FFF2-40B4-BE49-F238E27FC236}">
                <a16:creationId xmlns:a16="http://schemas.microsoft.com/office/drawing/2014/main" id="{F824E6BE-CE3E-4CF0-A2DB-80AA23D9DFF1}"/>
              </a:ext>
            </a:extLst>
          </p:cNvPr>
          <p:cNvSpPr/>
          <p:nvPr/>
        </p:nvSpPr>
        <p:spPr>
          <a:xfrm>
            <a:off x="8798534" y="708605"/>
            <a:ext cx="959264" cy="434550"/>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0" i="0" dirty="0">
                <a:solidFill>
                  <a:srgbClr val="292929"/>
                </a:solidFill>
                <a:latin typeface="Century Gothic"/>
                <a:ea typeface="Century Gothic"/>
                <a:cs typeface="Century Gothic"/>
                <a:sym typeface="Century Gothic"/>
              </a:rPr>
              <a:t>Hotel</a:t>
            </a:r>
            <a:endParaRPr sz="2000" dirty="0">
              <a:solidFill>
                <a:schemeClr val="lt1"/>
              </a:solidFill>
              <a:latin typeface="Century Gothic"/>
              <a:ea typeface="Century Gothic"/>
              <a:cs typeface="Century Gothic"/>
              <a:sym typeface="Century Gothic"/>
            </a:endParaRPr>
          </a:p>
        </p:txBody>
      </p:sp>
      <p:pic>
        <p:nvPicPr>
          <p:cNvPr id="11" name="Picture 10">
            <a:extLst>
              <a:ext uri="{FF2B5EF4-FFF2-40B4-BE49-F238E27FC236}">
                <a16:creationId xmlns:a16="http://schemas.microsoft.com/office/drawing/2014/main" id="{ECEAB2FB-26D4-40AD-BAA0-9E386934F930}"/>
              </a:ext>
            </a:extLst>
          </p:cNvPr>
          <p:cNvPicPr>
            <a:picLocks noChangeAspect="1"/>
          </p:cNvPicPr>
          <p:nvPr/>
        </p:nvPicPr>
        <p:blipFill>
          <a:blip r:embed="rId5"/>
          <a:stretch>
            <a:fillRect/>
          </a:stretch>
        </p:blipFill>
        <p:spPr>
          <a:xfrm>
            <a:off x="510284" y="3682611"/>
            <a:ext cx="4512858" cy="2802372"/>
          </a:xfrm>
          <a:prstGeom prst="rect">
            <a:avLst/>
          </a:prstGeom>
        </p:spPr>
      </p:pic>
      <p:sp>
        <p:nvSpPr>
          <p:cNvPr id="13" name="Google Shape;990;p14">
            <a:extLst>
              <a:ext uri="{FF2B5EF4-FFF2-40B4-BE49-F238E27FC236}">
                <a16:creationId xmlns:a16="http://schemas.microsoft.com/office/drawing/2014/main" id="{F8CEE961-2B66-4325-AD7D-CEB41E2E5409}"/>
              </a:ext>
            </a:extLst>
          </p:cNvPr>
          <p:cNvSpPr/>
          <p:nvPr/>
        </p:nvSpPr>
        <p:spPr>
          <a:xfrm>
            <a:off x="2101382" y="4020552"/>
            <a:ext cx="959264" cy="434550"/>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0" i="0" dirty="0">
                <a:solidFill>
                  <a:srgbClr val="292929"/>
                </a:solidFill>
                <a:latin typeface="Century Gothic"/>
                <a:ea typeface="Century Gothic"/>
                <a:cs typeface="Century Gothic"/>
                <a:sym typeface="Century Gothic"/>
              </a:rPr>
              <a:t>Train</a:t>
            </a:r>
            <a:endParaRPr sz="2000" dirty="0">
              <a:solidFill>
                <a:schemeClr val="lt1"/>
              </a:solidFill>
              <a:latin typeface="Century Gothic"/>
              <a:ea typeface="Century Gothic"/>
              <a:cs typeface="Century Gothic"/>
              <a:sym typeface="Century Gothic"/>
            </a:endParaRPr>
          </a:p>
        </p:txBody>
      </p:sp>
      <p:pic>
        <p:nvPicPr>
          <p:cNvPr id="14" name="Picture 13">
            <a:extLst>
              <a:ext uri="{FF2B5EF4-FFF2-40B4-BE49-F238E27FC236}">
                <a16:creationId xmlns:a16="http://schemas.microsoft.com/office/drawing/2014/main" id="{521F5C04-F98D-4BFE-AE4A-F8F1EAD9F8FF}"/>
              </a:ext>
            </a:extLst>
          </p:cNvPr>
          <p:cNvPicPr>
            <a:picLocks noChangeAspect="1"/>
          </p:cNvPicPr>
          <p:nvPr/>
        </p:nvPicPr>
        <p:blipFill>
          <a:blip r:embed="rId6"/>
          <a:stretch>
            <a:fillRect/>
          </a:stretch>
        </p:blipFill>
        <p:spPr>
          <a:xfrm>
            <a:off x="7231578" y="3683046"/>
            <a:ext cx="4450138" cy="2801938"/>
          </a:xfrm>
          <a:prstGeom prst="rect">
            <a:avLst/>
          </a:prstGeom>
        </p:spPr>
      </p:pic>
      <p:sp>
        <p:nvSpPr>
          <p:cNvPr id="16" name="Google Shape;990;p14">
            <a:extLst>
              <a:ext uri="{FF2B5EF4-FFF2-40B4-BE49-F238E27FC236}">
                <a16:creationId xmlns:a16="http://schemas.microsoft.com/office/drawing/2014/main" id="{01A0B569-41D5-463A-9CB0-B14FBA863652}"/>
              </a:ext>
            </a:extLst>
          </p:cNvPr>
          <p:cNvSpPr/>
          <p:nvPr/>
        </p:nvSpPr>
        <p:spPr>
          <a:xfrm>
            <a:off x="8977015" y="3866316"/>
            <a:ext cx="959264" cy="434550"/>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0" i="0" dirty="0">
                <a:solidFill>
                  <a:srgbClr val="292929"/>
                </a:solidFill>
                <a:latin typeface="Century Gothic"/>
                <a:ea typeface="Century Gothic"/>
                <a:cs typeface="Century Gothic"/>
                <a:sym typeface="Century Gothic"/>
              </a:rPr>
              <a:t>Trip</a:t>
            </a:r>
          </a:p>
        </p:txBody>
      </p:sp>
    </p:spTree>
    <p:extLst>
      <p:ext uri="{BB962C8B-B14F-4D97-AF65-F5344CB8AC3E}">
        <p14:creationId xmlns:p14="http://schemas.microsoft.com/office/powerpoint/2010/main" val="1458548560"/>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11"/>
          <p:cNvSpPr/>
          <p:nvPr/>
        </p:nvSpPr>
        <p:spPr>
          <a:xfrm>
            <a:off x="0" y="0"/>
            <a:ext cx="4383314" cy="6858000"/>
          </a:xfrm>
          <a:prstGeom prst="rect">
            <a:avLst/>
          </a:prstGeom>
          <a:solidFill>
            <a:srgbClr val="222A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0000"/>
              </a:solidFill>
              <a:latin typeface="Calibri"/>
              <a:ea typeface="Calibri"/>
              <a:cs typeface="Calibri"/>
              <a:sym typeface="Calibri"/>
            </a:endParaRPr>
          </a:p>
        </p:txBody>
      </p:sp>
      <p:sp>
        <p:nvSpPr>
          <p:cNvPr id="782" name="Google Shape;782;p11"/>
          <p:cNvSpPr txBox="1"/>
          <p:nvPr/>
        </p:nvSpPr>
        <p:spPr>
          <a:xfrm>
            <a:off x="-83054" y="2537450"/>
            <a:ext cx="4368800" cy="280076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dirty="0">
                <a:solidFill>
                  <a:schemeClr val="lt1"/>
                </a:solidFill>
                <a:latin typeface="Century Gothic"/>
                <a:ea typeface="Century Gothic"/>
                <a:cs typeface="Century Gothic"/>
                <a:sym typeface="Century Gothic"/>
              </a:rPr>
              <a:t>Advance Analysis and Feature Building</a:t>
            </a:r>
            <a:endParaRPr dirty="0"/>
          </a:p>
        </p:txBody>
      </p:sp>
      <p:sp>
        <p:nvSpPr>
          <p:cNvPr id="783" name="Google Shape;783;p11"/>
          <p:cNvSpPr/>
          <p:nvPr/>
        </p:nvSpPr>
        <p:spPr>
          <a:xfrm>
            <a:off x="4383314" y="-9713"/>
            <a:ext cx="7808686"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784" name="Google Shape;784;p11"/>
          <p:cNvSpPr/>
          <p:nvPr/>
        </p:nvSpPr>
        <p:spPr>
          <a:xfrm rot="10800000" flipH="1">
            <a:off x="4905291" y="1993955"/>
            <a:ext cx="2351313" cy="2568338"/>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D7141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785" name="Google Shape;785;p11"/>
          <p:cNvSpPr/>
          <p:nvPr/>
        </p:nvSpPr>
        <p:spPr>
          <a:xfrm rot="10800000" flipH="1">
            <a:off x="9578894" y="1980720"/>
            <a:ext cx="2351313" cy="2568338"/>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786" name="Google Shape;786;p11"/>
          <p:cNvGrpSpPr/>
          <p:nvPr/>
        </p:nvGrpSpPr>
        <p:grpSpPr>
          <a:xfrm>
            <a:off x="6042476" y="309601"/>
            <a:ext cx="2315938" cy="5312578"/>
            <a:chOff x="6042476" y="309601"/>
            <a:chExt cx="2315938" cy="5312578"/>
          </a:xfrm>
        </p:grpSpPr>
        <p:sp>
          <p:nvSpPr>
            <p:cNvPr id="787" name="Google Shape;787;p11"/>
            <p:cNvSpPr/>
            <p:nvPr/>
          </p:nvSpPr>
          <p:spPr>
            <a:xfrm rot="10800000" flipH="1">
              <a:off x="7952014" y="309601"/>
              <a:ext cx="406400" cy="435777"/>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87AE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788" name="Google Shape;788;p11"/>
            <p:cNvSpPr/>
            <p:nvPr/>
          </p:nvSpPr>
          <p:spPr>
            <a:xfrm rot="10800000" flipH="1">
              <a:off x="6042476" y="5186753"/>
              <a:ext cx="385538" cy="435426"/>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4DABC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grpSp>
        <p:nvGrpSpPr>
          <p:cNvPr id="789" name="Google Shape;789;p11"/>
          <p:cNvGrpSpPr/>
          <p:nvPr/>
        </p:nvGrpSpPr>
        <p:grpSpPr>
          <a:xfrm>
            <a:off x="5056952" y="1064692"/>
            <a:ext cx="6546350" cy="4350905"/>
            <a:chOff x="5191376" y="1882501"/>
            <a:chExt cx="6546350" cy="4350905"/>
          </a:xfrm>
        </p:grpSpPr>
        <p:grpSp>
          <p:nvGrpSpPr>
            <p:cNvPr id="790" name="Google Shape;790;p11"/>
            <p:cNvGrpSpPr/>
            <p:nvPr/>
          </p:nvGrpSpPr>
          <p:grpSpPr>
            <a:xfrm>
              <a:off x="5272885" y="1980720"/>
              <a:ext cx="6464841" cy="4252686"/>
              <a:chOff x="4667618" y="827314"/>
              <a:chExt cx="6464841" cy="4252686"/>
            </a:xfrm>
          </p:grpSpPr>
          <p:sp>
            <p:nvSpPr>
              <p:cNvPr id="791" name="Google Shape;791;p11"/>
              <p:cNvSpPr/>
              <p:nvPr/>
            </p:nvSpPr>
            <p:spPr>
              <a:xfrm rot="10800000" flipH="1">
                <a:off x="4667618" y="1207246"/>
                <a:ext cx="2604039" cy="3466353"/>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792" name="Google Shape;792;p11"/>
              <p:cNvSpPr/>
              <p:nvPr/>
            </p:nvSpPr>
            <p:spPr>
              <a:xfrm rot="10800000" flipH="1">
                <a:off x="6373049" y="1030514"/>
                <a:ext cx="2770952" cy="3831772"/>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793" name="Google Shape;793;p11"/>
              <p:cNvSpPr/>
              <p:nvPr/>
            </p:nvSpPr>
            <p:spPr>
              <a:xfrm rot="10800000" flipH="1">
                <a:off x="8165565" y="827314"/>
                <a:ext cx="2966894" cy="4252686"/>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sp>
          <p:nvSpPr>
            <p:cNvPr id="794" name="Google Shape;794;p11"/>
            <p:cNvSpPr/>
            <p:nvPr/>
          </p:nvSpPr>
          <p:spPr>
            <a:xfrm rot="10800000" flipH="1">
              <a:off x="5191376" y="1882501"/>
              <a:ext cx="6464841" cy="4252686"/>
            </a:xfrm>
            <a:custGeom>
              <a:avLst/>
              <a:gdLst/>
              <a:ahLst/>
              <a:cxnLst/>
              <a:rect l="l" t="t" r="r" b="b"/>
              <a:pathLst>
                <a:path w="6464841" h="4252686" extrusionOk="0">
                  <a:moveTo>
                    <a:pt x="0" y="3872754"/>
                  </a:moveTo>
                  <a:lnTo>
                    <a:pt x="1738482" y="3872754"/>
                  </a:lnTo>
                  <a:lnTo>
                    <a:pt x="2604039" y="2139578"/>
                  </a:lnTo>
                  <a:lnTo>
                    <a:pt x="1738482" y="406401"/>
                  </a:lnTo>
                  <a:lnTo>
                    <a:pt x="0" y="406401"/>
                  </a:lnTo>
                  <a:lnTo>
                    <a:pt x="865558" y="2139578"/>
                  </a:lnTo>
                  <a:close/>
                  <a:moveTo>
                    <a:pt x="1705431" y="4049486"/>
                  </a:moveTo>
                  <a:lnTo>
                    <a:pt x="3555345" y="4049486"/>
                  </a:lnTo>
                  <a:lnTo>
                    <a:pt x="4476383" y="2133600"/>
                  </a:lnTo>
                  <a:lnTo>
                    <a:pt x="3555345" y="217714"/>
                  </a:lnTo>
                  <a:lnTo>
                    <a:pt x="1705431" y="217714"/>
                  </a:lnTo>
                  <a:lnTo>
                    <a:pt x="2626469" y="2133600"/>
                  </a:lnTo>
                  <a:close/>
                  <a:moveTo>
                    <a:pt x="3497947" y="4252686"/>
                  </a:moveTo>
                  <a:lnTo>
                    <a:pt x="5478674" y="4252686"/>
                  </a:lnTo>
                  <a:lnTo>
                    <a:pt x="6464841" y="2126343"/>
                  </a:lnTo>
                  <a:lnTo>
                    <a:pt x="5478674" y="0"/>
                  </a:lnTo>
                  <a:lnTo>
                    <a:pt x="3497947" y="0"/>
                  </a:lnTo>
                  <a:lnTo>
                    <a:pt x="4484114" y="2126343"/>
                  </a:lnTo>
                  <a:close/>
                </a:path>
              </a:pathLst>
            </a:custGeom>
            <a:blipFill rotWithShape="1">
              <a:blip r:embed="rId5">
                <a:alphaModFix amt="25000"/>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82"/>
                                        </p:tgtEl>
                                        <p:attrNameLst>
                                          <p:attrName>style.visibility</p:attrName>
                                        </p:attrNameLst>
                                      </p:cBhvr>
                                      <p:to>
                                        <p:strVal val="visible"/>
                                      </p:to>
                                    </p:set>
                                    <p:animEffect transition="in" filter="fade">
                                      <p:cBhvr>
                                        <p:cTn id="7" dur="500"/>
                                        <p:tgtEl>
                                          <p:spTgt spid="7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10"/>
          <p:cNvSpPr/>
          <p:nvPr/>
        </p:nvSpPr>
        <p:spPr>
          <a:xfrm>
            <a:off x="114486" y="88904"/>
            <a:ext cx="945716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Advanced Analysis and Feature Building – Summary </a:t>
            </a:r>
            <a:r>
              <a:rPr lang="en-US" sz="2000" b="1" dirty="0" err="1">
                <a:solidFill>
                  <a:srgbClr val="FF0000"/>
                </a:solidFill>
                <a:latin typeface="Century Gothic"/>
                <a:ea typeface="Century Gothic"/>
                <a:cs typeface="Century Gothic"/>
                <a:sym typeface="Century Gothic"/>
              </a:rPr>
              <a:t>Originial</a:t>
            </a:r>
            <a:r>
              <a:rPr lang="en-US" sz="2000" b="1" dirty="0">
                <a:solidFill>
                  <a:srgbClr val="FF0000"/>
                </a:solidFill>
                <a:latin typeface="Century Gothic"/>
                <a:ea typeface="Century Gothic"/>
                <a:cs typeface="Century Gothic"/>
                <a:sym typeface="Century Gothic"/>
              </a:rPr>
              <a:t> Features</a:t>
            </a:r>
            <a:endParaRPr sz="2000" b="1" i="0" u="none" strike="noStrike" cap="none" dirty="0">
              <a:solidFill>
                <a:srgbClr val="FF0000"/>
              </a:solidFill>
              <a:latin typeface="Century Gothic"/>
              <a:ea typeface="Century Gothic"/>
              <a:cs typeface="Century Gothic"/>
              <a:sym typeface="Century Gothic"/>
            </a:endParaRPr>
          </a:p>
        </p:txBody>
      </p:sp>
      <p:pic>
        <p:nvPicPr>
          <p:cNvPr id="658" name="Google Shape;658;p10" descr="Airplane"/>
          <p:cNvPicPr preferRelativeResize="0"/>
          <p:nvPr/>
        </p:nvPicPr>
        <p:blipFill rotWithShape="1">
          <a:blip r:embed="rId3">
            <a:alphaModFix/>
          </a:blip>
          <a:srcRect/>
          <a:stretch/>
        </p:blipFill>
        <p:spPr>
          <a:xfrm>
            <a:off x="3495203" y="1268842"/>
            <a:ext cx="360000" cy="360000"/>
          </a:xfrm>
          <a:prstGeom prst="rect">
            <a:avLst/>
          </a:prstGeom>
          <a:noFill/>
          <a:ln>
            <a:noFill/>
          </a:ln>
        </p:spPr>
      </p:pic>
      <p:pic>
        <p:nvPicPr>
          <p:cNvPr id="659" name="Google Shape;659;p10" descr="Train"/>
          <p:cNvPicPr preferRelativeResize="0"/>
          <p:nvPr/>
        </p:nvPicPr>
        <p:blipFill rotWithShape="1">
          <a:blip r:embed="rId4">
            <a:alphaModFix/>
          </a:blip>
          <a:srcRect/>
          <a:stretch/>
        </p:blipFill>
        <p:spPr>
          <a:xfrm>
            <a:off x="6772812" y="1253852"/>
            <a:ext cx="360000" cy="360000"/>
          </a:xfrm>
          <a:prstGeom prst="rect">
            <a:avLst/>
          </a:prstGeom>
          <a:noFill/>
          <a:ln>
            <a:noFill/>
          </a:ln>
        </p:spPr>
      </p:pic>
      <p:pic>
        <p:nvPicPr>
          <p:cNvPr id="660" name="Google Shape;660;p10" descr="Send"/>
          <p:cNvPicPr preferRelativeResize="0"/>
          <p:nvPr/>
        </p:nvPicPr>
        <p:blipFill rotWithShape="1">
          <a:blip r:embed="rId5">
            <a:alphaModFix/>
          </a:blip>
          <a:srcRect/>
          <a:stretch/>
        </p:blipFill>
        <p:spPr>
          <a:xfrm>
            <a:off x="8428863" y="1268842"/>
            <a:ext cx="360000" cy="360000"/>
          </a:xfrm>
          <a:prstGeom prst="rect">
            <a:avLst/>
          </a:prstGeom>
          <a:noFill/>
          <a:ln>
            <a:noFill/>
          </a:ln>
        </p:spPr>
      </p:pic>
      <p:pic>
        <p:nvPicPr>
          <p:cNvPr id="661" name="Google Shape;661;p10" descr="Building"/>
          <p:cNvPicPr preferRelativeResize="0"/>
          <p:nvPr/>
        </p:nvPicPr>
        <p:blipFill rotWithShape="1">
          <a:blip r:embed="rId6">
            <a:alphaModFix/>
          </a:blip>
          <a:srcRect/>
          <a:stretch/>
        </p:blipFill>
        <p:spPr>
          <a:xfrm>
            <a:off x="5103637" y="1271993"/>
            <a:ext cx="360000" cy="360000"/>
          </a:xfrm>
          <a:prstGeom prst="rect">
            <a:avLst/>
          </a:prstGeom>
          <a:noFill/>
          <a:ln>
            <a:noFill/>
          </a:ln>
        </p:spPr>
      </p:pic>
      <p:cxnSp>
        <p:nvCxnSpPr>
          <p:cNvPr id="662" name="Google Shape;662;p10"/>
          <p:cNvCxnSpPr/>
          <p:nvPr/>
        </p:nvCxnSpPr>
        <p:spPr>
          <a:xfrm>
            <a:off x="2985991" y="1821094"/>
            <a:ext cx="1442313" cy="0"/>
          </a:xfrm>
          <a:prstGeom prst="straightConnector1">
            <a:avLst/>
          </a:prstGeom>
          <a:noFill/>
          <a:ln w="9525" cap="flat" cmpd="sng">
            <a:solidFill>
              <a:srgbClr val="FF0000"/>
            </a:solidFill>
            <a:prstDash val="solid"/>
            <a:miter lim="800000"/>
            <a:headEnd type="none" w="sm" len="sm"/>
            <a:tailEnd type="none" w="sm" len="sm"/>
          </a:ln>
        </p:spPr>
      </p:cxnSp>
      <p:sp>
        <p:nvSpPr>
          <p:cNvPr id="663" name="Google Shape;663;p10"/>
          <p:cNvSpPr txBox="1"/>
          <p:nvPr/>
        </p:nvSpPr>
        <p:spPr>
          <a:xfrm>
            <a:off x="3262430" y="1597514"/>
            <a:ext cx="825547" cy="250884"/>
          </a:xfrm>
          <a:prstGeom prst="rect">
            <a:avLst/>
          </a:prstGeom>
          <a:noFill/>
          <a:ln>
            <a:noFill/>
          </a:ln>
        </p:spPr>
        <p:txBody>
          <a:bodyPr spcFirstLastPara="1" wrap="square" lIns="0" tIns="0" rIns="0" bIns="0" anchor="t" anchorCtr="0">
            <a:noAutofit/>
          </a:bodyPr>
          <a:lstStyle/>
          <a:p>
            <a:pPr marL="0" marR="0" lvl="0" indent="-76200" algn="ctr" rtl="0">
              <a:lnSpc>
                <a:spcPct val="100000"/>
              </a:lnSpc>
              <a:spcBef>
                <a:spcPts val="0"/>
              </a:spcBef>
              <a:spcAft>
                <a:spcPts val="0"/>
              </a:spcAft>
              <a:buClr>
                <a:srgbClr val="00B0F0"/>
              </a:buClr>
              <a:buSzPts val="1200"/>
              <a:buFont typeface="Quattrocento Sans"/>
              <a:buChar char="​"/>
            </a:pPr>
            <a:r>
              <a:rPr lang="en-US" sz="1200" b="1" i="0" u="none" strike="noStrike" cap="none" dirty="0">
                <a:solidFill>
                  <a:srgbClr val="FF0000"/>
                </a:solidFill>
                <a:latin typeface="Century Gothic"/>
                <a:ea typeface="Century Gothic"/>
                <a:cs typeface="Century Gothic"/>
                <a:sym typeface="Century Gothic"/>
              </a:rPr>
              <a:t>Flight</a:t>
            </a:r>
            <a:endParaRPr dirty="0">
              <a:solidFill>
                <a:srgbClr val="FF0000"/>
              </a:solidFill>
            </a:endParaRPr>
          </a:p>
        </p:txBody>
      </p:sp>
      <p:sp>
        <p:nvSpPr>
          <p:cNvPr id="664" name="Google Shape;664;p10"/>
          <p:cNvSpPr txBox="1"/>
          <p:nvPr/>
        </p:nvSpPr>
        <p:spPr>
          <a:xfrm>
            <a:off x="2892554" y="1820040"/>
            <a:ext cx="48122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Churns</a:t>
            </a:r>
            <a:endParaRPr dirty="0">
              <a:solidFill>
                <a:srgbClr val="FF0000"/>
              </a:solidFill>
            </a:endParaRPr>
          </a:p>
        </p:txBody>
      </p:sp>
      <p:sp>
        <p:nvSpPr>
          <p:cNvPr id="665" name="Google Shape;665;p10"/>
          <p:cNvSpPr txBox="1"/>
          <p:nvPr/>
        </p:nvSpPr>
        <p:spPr>
          <a:xfrm>
            <a:off x="3317800" y="1816982"/>
            <a:ext cx="71480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Non-churns</a:t>
            </a:r>
            <a:endParaRPr dirty="0">
              <a:solidFill>
                <a:srgbClr val="FF0000"/>
              </a:solidFill>
            </a:endParaRPr>
          </a:p>
        </p:txBody>
      </p:sp>
      <p:sp>
        <p:nvSpPr>
          <p:cNvPr id="666" name="Google Shape;666;p10"/>
          <p:cNvSpPr txBox="1"/>
          <p:nvPr/>
        </p:nvSpPr>
        <p:spPr>
          <a:xfrm>
            <a:off x="3921284" y="1816982"/>
            <a:ext cx="46839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diff(%)</a:t>
            </a:r>
            <a:endParaRPr dirty="0">
              <a:solidFill>
                <a:srgbClr val="FF0000"/>
              </a:solidFill>
            </a:endParaRPr>
          </a:p>
        </p:txBody>
      </p:sp>
      <p:sp>
        <p:nvSpPr>
          <p:cNvPr id="667" name="Google Shape;667;p10"/>
          <p:cNvSpPr txBox="1"/>
          <p:nvPr/>
        </p:nvSpPr>
        <p:spPr>
          <a:xfrm>
            <a:off x="67822" y="1514162"/>
            <a:ext cx="75854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rgbClr val="FF0000"/>
                </a:solidFill>
                <a:latin typeface="Century Gothic"/>
                <a:ea typeface="Century Gothic"/>
                <a:cs typeface="Century Gothic"/>
                <a:sym typeface="Century Gothic"/>
              </a:rPr>
              <a:t>Features</a:t>
            </a:r>
            <a:endParaRPr dirty="0">
              <a:solidFill>
                <a:srgbClr val="FF0000"/>
              </a:solidFill>
            </a:endParaRPr>
          </a:p>
        </p:txBody>
      </p:sp>
      <p:sp>
        <p:nvSpPr>
          <p:cNvPr id="668" name="Google Shape;668;p10"/>
          <p:cNvSpPr txBox="1"/>
          <p:nvPr/>
        </p:nvSpPr>
        <p:spPr>
          <a:xfrm>
            <a:off x="2192880" y="1767496"/>
            <a:ext cx="436338"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rgbClr val="FF0000"/>
                </a:solidFill>
                <a:latin typeface="Calibri"/>
                <a:ea typeface="Calibri"/>
                <a:cs typeface="Calibri"/>
                <a:sym typeface="Calibri"/>
              </a:rPr>
              <a:t>Unit</a:t>
            </a:r>
            <a:endParaRPr dirty="0">
              <a:solidFill>
                <a:srgbClr val="FF0000"/>
              </a:solidFill>
            </a:endParaRPr>
          </a:p>
        </p:txBody>
      </p:sp>
      <p:sp>
        <p:nvSpPr>
          <p:cNvPr id="669" name="Google Shape;669;p10"/>
          <p:cNvSpPr txBox="1"/>
          <p:nvPr/>
        </p:nvSpPr>
        <p:spPr>
          <a:xfrm>
            <a:off x="84996" y="2137791"/>
            <a:ext cx="1773094" cy="25391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Avg booking</a:t>
            </a:r>
            <a:r>
              <a:rPr lang="en-US" sz="800" b="1" dirty="0">
                <a:solidFill>
                  <a:srgbClr val="FF0000"/>
                </a:solidFill>
                <a:latin typeface="Century Gothic"/>
                <a:ea typeface="Century Gothic"/>
                <a:cs typeface="Century Gothic"/>
                <a:sym typeface="Century Gothic"/>
              </a:rPr>
              <a:t> </a:t>
            </a:r>
            <a:r>
              <a:rPr lang="en-US" sz="800" b="1" i="0" u="none" strike="noStrike" cap="none" dirty="0">
                <a:solidFill>
                  <a:srgbClr val="FF0000"/>
                </a:solidFill>
                <a:latin typeface="Century Gothic"/>
                <a:ea typeface="Century Gothic"/>
                <a:cs typeface="Century Gothic"/>
                <a:sym typeface="Century Gothic"/>
              </a:rPr>
              <a:t>invoice</a:t>
            </a:r>
            <a:r>
              <a:rPr lang="en-US" sz="800" b="1" dirty="0">
                <a:solidFill>
                  <a:srgbClr val="FF0000"/>
                </a:solidFill>
                <a:latin typeface="Century Gothic"/>
                <a:ea typeface="Century Gothic"/>
                <a:cs typeface="Century Gothic"/>
                <a:sym typeface="Century Gothic"/>
              </a:rPr>
              <a:t> </a:t>
            </a:r>
            <a:r>
              <a:rPr lang="en-US" sz="800" b="1" i="0" u="none" strike="noStrike" cap="none" dirty="0">
                <a:solidFill>
                  <a:srgbClr val="FF0000"/>
                </a:solidFill>
                <a:latin typeface="Century Gothic"/>
                <a:ea typeface="Century Gothic"/>
                <a:cs typeface="Century Gothic"/>
                <a:sym typeface="Century Gothic"/>
              </a:rPr>
              <a:t>amount</a:t>
            </a:r>
            <a:r>
              <a:rPr lang="en-US" sz="800" b="1" dirty="0">
                <a:solidFill>
                  <a:srgbClr val="FF0000"/>
                </a:solidFill>
                <a:latin typeface="Century Gothic"/>
                <a:ea typeface="Century Gothic"/>
                <a:cs typeface="Century Gothic"/>
                <a:sym typeface="Century Gothic"/>
              </a:rPr>
              <a:t> </a:t>
            </a:r>
            <a:r>
              <a:rPr lang="en-US" sz="800" b="1" i="0" u="none" strike="noStrike" cap="none" dirty="0">
                <a:solidFill>
                  <a:srgbClr val="FF0000"/>
                </a:solidFill>
                <a:latin typeface="Century Gothic"/>
                <a:ea typeface="Century Gothic"/>
                <a:cs typeface="Century Gothic"/>
                <a:sym typeface="Century Gothic"/>
              </a:rPr>
              <a:t>IDR</a:t>
            </a:r>
            <a:endParaRPr dirty="0">
              <a:solidFill>
                <a:srgbClr val="FF0000"/>
              </a:solidFill>
            </a:endParaRPr>
          </a:p>
        </p:txBody>
      </p:sp>
      <p:sp>
        <p:nvSpPr>
          <p:cNvPr id="670" name="Google Shape;670;p10"/>
          <p:cNvSpPr txBox="1"/>
          <p:nvPr/>
        </p:nvSpPr>
        <p:spPr>
          <a:xfrm>
            <a:off x="21904" y="2593340"/>
            <a:ext cx="1773094" cy="25391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Avg </a:t>
            </a:r>
            <a:r>
              <a:rPr lang="en-US" sz="800" b="1" dirty="0">
                <a:solidFill>
                  <a:srgbClr val="FF0000"/>
                </a:solidFill>
                <a:latin typeface="Century Gothic"/>
                <a:ea typeface="Century Gothic"/>
                <a:cs typeface="Century Gothic"/>
                <a:sym typeface="Century Gothic"/>
              </a:rPr>
              <a:t>issued </a:t>
            </a:r>
            <a:r>
              <a:rPr lang="en-US" sz="800" b="1" i="0" u="none" strike="noStrike" cap="none" dirty="0">
                <a:solidFill>
                  <a:srgbClr val="FF0000"/>
                </a:solidFill>
                <a:latin typeface="Century Gothic"/>
                <a:ea typeface="Century Gothic"/>
                <a:cs typeface="Century Gothic"/>
                <a:sym typeface="Century Gothic"/>
              </a:rPr>
              <a:t>invoice</a:t>
            </a:r>
            <a:r>
              <a:rPr lang="en-US" sz="800" b="1" dirty="0">
                <a:solidFill>
                  <a:srgbClr val="FF0000"/>
                </a:solidFill>
                <a:latin typeface="Century Gothic"/>
                <a:ea typeface="Century Gothic"/>
                <a:cs typeface="Century Gothic"/>
                <a:sym typeface="Century Gothic"/>
              </a:rPr>
              <a:t> </a:t>
            </a:r>
            <a:r>
              <a:rPr lang="en-US" sz="800" b="1" i="0" u="none" strike="noStrike" cap="none" dirty="0">
                <a:solidFill>
                  <a:srgbClr val="FF0000"/>
                </a:solidFill>
                <a:latin typeface="Century Gothic"/>
                <a:ea typeface="Century Gothic"/>
                <a:cs typeface="Century Gothic"/>
                <a:sym typeface="Century Gothic"/>
              </a:rPr>
              <a:t>amount IDR</a:t>
            </a:r>
            <a:endParaRPr dirty="0">
              <a:solidFill>
                <a:srgbClr val="FF0000"/>
              </a:solidFill>
            </a:endParaRPr>
          </a:p>
        </p:txBody>
      </p:sp>
      <p:sp>
        <p:nvSpPr>
          <p:cNvPr id="671" name="Google Shape;671;p10"/>
          <p:cNvSpPr txBox="1"/>
          <p:nvPr/>
        </p:nvSpPr>
        <p:spPr>
          <a:xfrm>
            <a:off x="30476" y="2986803"/>
            <a:ext cx="941067" cy="199289"/>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dirty="0">
                <a:solidFill>
                  <a:srgbClr val="FF0000"/>
                </a:solidFill>
                <a:latin typeface="Century Gothic"/>
                <a:ea typeface="Century Gothic"/>
                <a:cs typeface="Century Gothic"/>
                <a:sym typeface="Century Gothic"/>
              </a:rPr>
              <a:t>Count Booking</a:t>
            </a:r>
            <a:endParaRPr sz="800" b="1" i="0" u="none" strike="noStrike" cap="none" dirty="0">
              <a:solidFill>
                <a:srgbClr val="FF0000"/>
              </a:solidFill>
              <a:latin typeface="Century Gothic"/>
              <a:ea typeface="Century Gothic"/>
              <a:cs typeface="Century Gothic"/>
              <a:sym typeface="Century Gothic"/>
            </a:endParaRPr>
          </a:p>
        </p:txBody>
      </p:sp>
      <p:sp>
        <p:nvSpPr>
          <p:cNvPr id="672" name="Google Shape;672;p10"/>
          <p:cNvSpPr txBox="1"/>
          <p:nvPr/>
        </p:nvSpPr>
        <p:spPr>
          <a:xfrm>
            <a:off x="-9860" y="3465232"/>
            <a:ext cx="941067" cy="199289"/>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dirty="0">
                <a:solidFill>
                  <a:srgbClr val="FF0000"/>
                </a:solidFill>
                <a:latin typeface="Century Gothic"/>
                <a:ea typeface="Century Gothic"/>
                <a:cs typeface="Century Gothic"/>
                <a:sym typeface="Century Gothic"/>
              </a:rPr>
              <a:t>Count Issued</a:t>
            </a:r>
            <a:endParaRPr sz="800" b="1" i="0" u="none" strike="noStrike" cap="none" dirty="0">
              <a:solidFill>
                <a:srgbClr val="FF0000"/>
              </a:solidFill>
              <a:latin typeface="Century Gothic"/>
              <a:ea typeface="Century Gothic"/>
              <a:cs typeface="Century Gothic"/>
              <a:sym typeface="Century Gothic"/>
            </a:endParaRPr>
          </a:p>
        </p:txBody>
      </p:sp>
      <p:sp>
        <p:nvSpPr>
          <p:cNvPr id="673" name="Google Shape;673;p10"/>
          <p:cNvSpPr txBox="1"/>
          <p:nvPr/>
        </p:nvSpPr>
        <p:spPr>
          <a:xfrm>
            <a:off x="114486" y="3911100"/>
            <a:ext cx="941067" cy="199289"/>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dirty="0" err="1">
                <a:solidFill>
                  <a:srgbClr val="FF0000"/>
                </a:solidFill>
                <a:latin typeface="Century Gothic"/>
                <a:ea typeface="Century Gothic"/>
                <a:cs typeface="Century Gothic"/>
                <a:sym typeface="Century Gothic"/>
              </a:rPr>
              <a:t>Random_number</a:t>
            </a:r>
            <a:endParaRPr sz="800" b="1" i="0" u="none" strike="noStrike" cap="none" dirty="0">
              <a:solidFill>
                <a:srgbClr val="FF0000"/>
              </a:solidFill>
              <a:latin typeface="Century Gothic"/>
              <a:ea typeface="Century Gothic"/>
              <a:cs typeface="Century Gothic"/>
              <a:sym typeface="Century Gothic"/>
            </a:endParaRPr>
          </a:p>
        </p:txBody>
      </p:sp>
      <p:sp>
        <p:nvSpPr>
          <p:cNvPr id="674" name="Google Shape;674;p10"/>
          <p:cNvSpPr txBox="1"/>
          <p:nvPr/>
        </p:nvSpPr>
        <p:spPr>
          <a:xfrm>
            <a:off x="2119828" y="2140738"/>
            <a:ext cx="593172" cy="15124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In </a:t>
            </a:r>
            <a:r>
              <a:rPr lang="en-US" sz="800" b="1" dirty="0">
                <a:solidFill>
                  <a:srgbClr val="FF0000"/>
                </a:solidFill>
                <a:latin typeface="Century Gothic"/>
                <a:ea typeface="Century Gothic"/>
                <a:cs typeface="Century Gothic"/>
                <a:sym typeface="Century Gothic"/>
              </a:rPr>
              <a:t>Million</a:t>
            </a:r>
            <a:endParaRPr sz="800" b="1" i="0" u="none" strike="noStrike" cap="none" dirty="0">
              <a:solidFill>
                <a:srgbClr val="FF0000"/>
              </a:solidFill>
              <a:latin typeface="Century Gothic"/>
              <a:ea typeface="Century Gothic"/>
              <a:cs typeface="Century Gothic"/>
              <a:sym typeface="Century Gothic"/>
            </a:endParaRPr>
          </a:p>
        </p:txBody>
      </p:sp>
      <p:sp>
        <p:nvSpPr>
          <p:cNvPr id="675" name="Google Shape;675;p10"/>
          <p:cNvSpPr txBox="1"/>
          <p:nvPr/>
        </p:nvSpPr>
        <p:spPr>
          <a:xfrm>
            <a:off x="2114463" y="2618164"/>
            <a:ext cx="593172" cy="15124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In </a:t>
            </a:r>
            <a:r>
              <a:rPr lang="en-US" sz="800" b="1" dirty="0">
                <a:solidFill>
                  <a:srgbClr val="FF0000"/>
                </a:solidFill>
                <a:latin typeface="Century Gothic"/>
                <a:ea typeface="Century Gothic"/>
                <a:cs typeface="Century Gothic"/>
                <a:sym typeface="Century Gothic"/>
              </a:rPr>
              <a:t>Million</a:t>
            </a:r>
            <a:endParaRPr sz="800" b="1" i="0" u="none" strike="noStrike" cap="none" dirty="0">
              <a:solidFill>
                <a:srgbClr val="FF0000"/>
              </a:solidFill>
              <a:latin typeface="Century Gothic"/>
              <a:ea typeface="Century Gothic"/>
              <a:cs typeface="Century Gothic"/>
              <a:sym typeface="Century Gothic"/>
            </a:endParaRPr>
          </a:p>
        </p:txBody>
      </p:sp>
      <p:sp>
        <p:nvSpPr>
          <p:cNvPr id="676" name="Google Shape;676;p10"/>
          <p:cNvSpPr txBox="1"/>
          <p:nvPr/>
        </p:nvSpPr>
        <p:spPr>
          <a:xfrm>
            <a:off x="2102737" y="3031375"/>
            <a:ext cx="593172" cy="15124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In </a:t>
            </a:r>
            <a:r>
              <a:rPr lang="en-US" sz="800" b="1" i="0" u="none" strike="noStrike" cap="none" dirty="0" err="1">
                <a:solidFill>
                  <a:srgbClr val="FF0000"/>
                </a:solidFill>
                <a:latin typeface="Century Gothic"/>
                <a:ea typeface="Century Gothic"/>
                <a:cs typeface="Century Gothic"/>
                <a:sym typeface="Century Gothic"/>
              </a:rPr>
              <a:t>trx</a:t>
            </a:r>
            <a:endParaRPr sz="800" b="1" i="0" u="none" strike="noStrike" cap="none" dirty="0">
              <a:solidFill>
                <a:srgbClr val="FF0000"/>
              </a:solidFill>
              <a:latin typeface="Century Gothic"/>
              <a:ea typeface="Century Gothic"/>
              <a:cs typeface="Century Gothic"/>
              <a:sym typeface="Century Gothic"/>
            </a:endParaRPr>
          </a:p>
        </p:txBody>
      </p:sp>
      <p:sp>
        <p:nvSpPr>
          <p:cNvPr id="677" name="Google Shape;677;p10"/>
          <p:cNvSpPr txBox="1"/>
          <p:nvPr/>
        </p:nvSpPr>
        <p:spPr>
          <a:xfrm>
            <a:off x="2114463" y="3550768"/>
            <a:ext cx="593172" cy="4572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In </a:t>
            </a:r>
            <a:r>
              <a:rPr lang="en-US" sz="800" b="1" i="0" u="none" strike="noStrike" cap="none" dirty="0" err="1">
                <a:solidFill>
                  <a:srgbClr val="FF0000"/>
                </a:solidFill>
                <a:latin typeface="Century Gothic"/>
                <a:ea typeface="Century Gothic"/>
                <a:cs typeface="Century Gothic"/>
                <a:sym typeface="Century Gothic"/>
              </a:rPr>
              <a:t>trx</a:t>
            </a:r>
            <a:endParaRPr sz="800" b="1" i="0" u="none" strike="noStrike" cap="none" dirty="0">
              <a:solidFill>
                <a:srgbClr val="FF0000"/>
              </a:solidFill>
              <a:latin typeface="Century Gothic"/>
              <a:ea typeface="Century Gothic"/>
              <a:cs typeface="Century Gothic"/>
              <a:sym typeface="Century Gothic"/>
            </a:endParaRPr>
          </a:p>
        </p:txBody>
      </p:sp>
      <p:sp>
        <p:nvSpPr>
          <p:cNvPr id="678" name="Google Shape;678;p10"/>
          <p:cNvSpPr/>
          <p:nvPr/>
        </p:nvSpPr>
        <p:spPr>
          <a:xfrm>
            <a:off x="3983678" y="2109529"/>
            <a:ext cx="554107" cy="29602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9.7%</a:t>
            </a:r>
            <a:endParaRPr/>
          </a:p>
        </p:txBody>
      </p:sp>
      <p:sp>
        <p:nvSpPr>
          <p:cNvPr id="679" name="Google Shape;679;p10"/>
          <p:cNvSpPr/>
          <p:nvPr/>
        </p:nvSpPr>
        <p:spPr>
          <a:xfrm>
            <a:off x="3983678" y="2548698"/>
            <a:ext cx="554107" cy="29602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28%</a:t>
            </a:r>
            <a:endParaRPr/>
          </a:p>
        </p:txBody>
      </p:sp>
      <p:sp>
        <p:nvSpPr>
          <p:cNvPr id="680" name="Google Shape;680;p10"/>
          <p:cNvSpPr/>
          <p:nvPr/>
        </p:nvSpPr>
        <p:spPr>
          <a:xfrm>
            <a:off x="3983678" y="2985899"/>
            <a:ext cx="554107" cy="29602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68%</a:t>
            </a:r>
            <a:endParaRPr/>
          </a:p>
        </p:txBody>
      </p:sp>
      <p:sp>
        <p:nvSpPr>
          <p:cNvPr id="681" name="Google Shape;681;p10"/>
          <p:cNvSpPr/>
          <p:nvPr/>
        </p:nvSpPr>
        <p:spPr>
          <a:xfrm>
            <a:off x="3987831" y="3443752"/>
            <a:ext cx="554107" cy="29602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70%</a:t>
            </a:r>
            <a:endParaRPr/>
          </a:p>
        </p:txBody>
      </p:sp>
      <p:sp>
        <p:nvSpPr>
          <p:cNvPr id="682" name="Google Shape;682;p10"/>
          <p:cNvSpPr/>
          <p:nvPr/>
        </p:nvSpPr>
        <p:spPr>
          <a:xfrm>
            <a:off x="4001526" y="3875570"/>
            <a:ext cx="554107" cy="29602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0%</a:t>
            </a:r>
            <a:endParaRPr/>
          </a:p>
        </p:txBody>
      </p:sp>
      <p:cxnSp>
        <p:nvCxnSpPr>
          <p:cNvPr id="683" name="Google Shape;683;p10"/>
          <p:cNvCxnSpPr/>
          <p:nvPr/>
        </p:nvCxnSpPr>
        <p:spPr>
          <a:xfrm>
            <a:off x="4604066" y="1812347"/>
            <a:ext cx="1442313" cy="0"/>
          </a:xfrm>
          <a:prstGeom prst="straightConnector1">
            <a:avLst/>
          </a:prstGeom>
          <a:noFill/>
          <a:ln w="9525" cap="flat" cmpd="sng">
            <a:solidFill>
              <a:srgbClr val="FF0000"/>
            </a:solidFill>
            <a:prstDash val="solid"/>
            <a:miter lim="800000"/>
            <a:headEnd type="none" w="sm" len="sm"/>
            <a:tailEnd type="none" w="sm" len="sm"/>
          </a:ln>
        </p:spPr>
      </p:cxnSp>
      <p:sp>
        <p:nvSpPr>
          <p:cNvPr id="684" name="Google Shape;684;p10"/>
          <p:cNvSpPr txBox="1"/>
          <p:nvPr/>
        </p:nvSpPr>
        <p:spPr>
          <a:xfrm>
            <a:off x="4880505" y="1588767"/>
            <a:ext cx="825547" cy="250884"/>
          </a:xfrm>
          <a:prstGeom prst="rect">
            <a:avLst/>
          </a:prstGeom>
          <a:noFill/>
          <a:ln>
            <a:noFill/>
          </a:ln>
        </p:spPr>
        <p:txBody>
          <a:bodyPr spcFirstLastPara="1" wrap="square" lIns="0" tIns="0" rIns="0" bIns="0" anchor="t" anchorCtr="0">
            <a:noAutofit/>
          </a:bodyPr>
          <a:lstStyle/>
          <a:p>
            <a:pPr marL="0" marR="0" lvl="0" indent="-76200" algn="ctr" rtl="0">
              <a:lnSpc>
                <a:spcPct val="100000"/>
              </a:lnSpc>
              <a:spcBef>
                <a:spcPts val="0"/>
              </a:spcBef>
              <a:spcAft>
                <a:spcPts val="0"/>
              </a:spcAft>
              <a:buClr>
                <a:srgbClr val="00B0F0"/>
              </a:buClr>
              <a:buSzPts val="1200"/>
              <a:buFont typeface="Quattrocento Sans"/>
              <a:buChar char="​"/>
            </a:pPr>
            <a:r>
              <a:rPr lang="en-US" sz="1200" b="1" i="0" u="none" strike="noStrike" cap="none" dirty="0">
                <a:solidFill>
                  <a:srgbClr val="FF0000"/>
                </a:solidFill>
                <a:latin typeface="Century Gothic"/>
                <a:ea typeface="Century Gothic"/>
                <a:cs typeface="Century Gothic"/>
                <a:sym typeface="Century Gothic"/>
              </a:rPr>
              <a:t>Hotel</a:t>
            </a:r>
            <a:endParaRPr dirty="0">
              <a:solidFill>
                <a:srgbClr val="FF0000"/>
              </a:solidFill>
            </a:endParaRPr>
          </a:p>
        </p:txBody>
      </p:sp>
      <p:sp>
        <p:nvSpPr>
          <p:cNvPr id="685" name="Google Shape;685;p10"/>
          <p:cNvSpPr txBox="1"/>
          <p:nvPr/>
        </p:nvSpPr>
        <p:spPr>
          <a:xfrm>
            <a:off x="4524998" y="1812347"/>
            <a:ext cx="48122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Churns</a:t>
            </a:r>
            <a:endParaRPr dirty="0">
              <a:solidFill>
                <a:srgbClr val="FF0000"/>
              </a:solidFill>
            </a:endParaRPr>
          </a:p>
        </p:txBody>
      </p:sp>
      <p:sp>
        <p:nvSpPr>
          <p:cNvPr id="686" name="Google Shape;686;p10"/>
          <p:cNvSpPr txBox="1"/>
          <p:nvPr/>
        </p:nvSpPr>
        <p:spPr>
          <a:xfrm>
            <a:off x="4935875" y="1808235"/>
            <a:ext cx="71480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Non-churns</a:t>
            </a:r>
            <a:endParaRPr dirty="0">
              <a:solidFill>
                <a:srgbClr val="FF0000"/>
              </a:solidFill>
            </a:endParaRPr>
          </a:p>
        </p:txBody>
      </p:sp>
      <p:sp>
        <p:nvSpPr>
          <p:cNvPr id="687" name="Google Shape;687;p10"/>
          <p:cNvSpPr txBox="1"/>
          <p:nvPr/>
        </p:nvSpPr>
        <p:spPr>
          <a:xfrm>
            <a:off x="5539359" y="1808235"/>
            <a:ext cx="46839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diff(%)</a:t>
            </a:r>
            <a:endParaRPr dirty="0">
              <a:solidFill>
                <a:srgbClr val="FF0000"/>
              </a:solidFill>
            </a:endParaRPr>
          </a:p>
        </p:txBody>
      </p:sp>
      <p:sp>
        <p:nvSpPr>
          <p:cNvPr id="688" name="Google Shape;688;p10"/>
          <p:cNvSpPr/>
          <p:nvPr/>
        </p:nvSpPr>
        <p:spPr>
          <a:xfrm>
            <a:off x="5601753" y="2100782"/>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7.4%</a:t>
            </a:r>
            <a:endParaRPr/>
          </a:p>
        </p:txBody>
      </p:sp>
      <p:sp>
        <p:nvSpPr>
          <p:cNvPr id="689" name="Google Shape;689;p10"/>
          <p:cNvSpPr/>
          <p:nvPr/>
        </p:nvSpPr>
        <p:spPr>
          <a:xfrm>
            <a:off x="5601753" y="2539951"/>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23%</a:t>
            </a:r>
            <a:endParaRPr/>
          </a:p>
        </p:txBody>
      </p:sp>
      <p:sp>
        <p:nvSpPr>
          <p:cNvPr id="690" name="Google Shape;690;p10"/>
          <p:cNvSpPr/>
          <p:nvPr/>
        </p:nvSpPr>
        <p:spPr>
          <a:xfrm>
            <a:off x="5601753" y="2977152"/>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61%</a:t>
            </a:r>
            <a:endParaRPr/>
          </a:p>
        </p:txBody>
      </p:sp>
      <p:sp>
        <p:nvSpPr>
          <p:cNvPr id="691" name="Google Shape;691;p10"/>
          <p:cNvSpPr/>
          <p:nvPr/>
        </p:nvSpPr>
        <p:spPr>
          <a:xfrm>
            <a:off x="5605906" y="3435005"/>
            <a:ext cx="554107" cy="29602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60%</a:t>
            </a:r>
            <a:endParaRPr/>
          </a:p>
        </p:txBody>
      </p:sp>
      <p:sp>
        <p:nvSpPr>
          <p:cNvPr id="692" name="Google Shape;692;p10"/>
          <p:cNvSpPr/>
          <p:nvPr/>
        </p:nvSpPr>
        <p:spPr>
          <a:xfrm>
            <a:off x="5619601" y="3866823"/>
            <a:ext cx="554107" cy="29602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0%</a:t>
            </a:r>
            <a:endParaRPr/>
          </a:p>
        </p:txBody>
      </p:sp>
      <p:cxnSp>
        <p:nvCxnSpPr>
          <p:cNvPr id="693" name="Google Shape;693;p10"/>
          <p:cNvCxnSpPr/>
          <p:nvPr/>
        </p:nvCxnSpPr>
        <p:spPr>
          <a:xfrm>
            <a:off x="6282214" y="1810106"/>
            <a:ext cx="1442313" cy="0"/>
          </a:xfrm>
          <a:prstGeom prst="straightConnector1">
            <a:avLst/>
          </a:prstGeom>
          <a:noFill/>
          <a:ln w="9525" cap="flat" cmpd="sng">
            <a:solidFill>
              <a:srgbClr val="FF0000"/>
            </a:solidFill>
            <a:prstDash val="solid"/>
            <a:miter lim="800000"/>
            <a:headEnd type="none" w="sm" len="sm"/>
            <a:tailEnd type="none" w="sm" len="sm"/>
          </a:ln>
        </p:spPr>
      </p:cxnSp>
      <p:sp>
        <p:nvSpPr>
          <p:cNvPr id="694" name="Google Shape;694;p10"/>
          <p:cNvSpPr txBox="1"/>
          <p:nvPr/>
        </p:nvSpPr>
        <p:spPr>
          <a:xfrm>
            <a:off x="6558653" y="1586526"/>
            <a:ext cx="825547" cy="250884"/>
          </a:xfrm>
          <a:prstGeom prst="rect">
            <a:avLst/>
          </a:prstGeom>
          <a:noFill/>
          <a:ln>
            <a:noFill/>
          </a:ln>
        </p:spPr>
        <p:txBody>
          <a:bodyPr spcFirstLastPara="1" wrap="square" lIns="0" tIns="0" rIns="0" bIns="0" anchor="t" anchorCtr="0">
            <a:noAutofit/>
          </a:bodyPr>
          <a:lstStyle/>
          <a:p>
            <a:pPr marL="0" marR="0" lvl="0" indent="-76200" algn="ctr" rtl="0">
              <a:lnSpc>
                <a:spcPct val="100000"/>
              </a:lnSpc>
              <a:spcBef>
                <a:spcPts val="0"/>
              </a:spcBef>
              <a:spcAft>
                <a:spcPts val="0"/>
              </a:spcAft>
              <a:buClr>
                <a:srgbClr val="00B0F0"/>
              </a:buClr>
              <a:buSzPts val="1200"/>
              <a:buFont typeface="Quattrocento Sans"/>
              <a:buChar char="​"/>
            </a:pPr>
            <a:r>
              <a:rPr lang="en-US" sz="1200" b="1" i="0" u="none" strike="noStrike" cap="none" dirty="0">
                <a:solidFill>
                  <a:srgbClr val="FF0000"/>
                </a:solidFill>
                <a:latin typeface="Century Gothic"/>
                <a:ea typeface="Century Gothic"/>
                <a:cs typeface="Century Gothic"/>
                <a:sym typeface="Century Gothic"/>
              </a:rPr>
              <a:t>Train</a:t>
            </a:r>
            <a:endParaRPr dirty="0">
              <a:solidFill>
                <a:srgbClr val="FF0000"/>
              </a:solidFill>
            </a:endParaRPr>
          </a:p>
        </p:txBody>
      </p:sp>
      <p:sp>
        <p:nvSpPr>
          <p:cNvPr id="695" name="Google Shape;695;p10"/>
          <p:cNvSpPr txBox="1"/>
          <p:nvPr/>
        </p:nvSpPr>
        <p:spPr>
          <a:xfrm>
            <a:off x="6203146" y="1810106"/>
            <a:ext cx="48122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Churns</a:t>
            </a:r>
            <a:endParaRPr dirty="0">
              <a:solidFill>
                <a:srgbClr val="FF0000"/>
              </a:solidFill>
            </a:endParaRPr>
          </a:p>
        </p:txBody>
      </p:sp>
      <p:sp>
        <p:nvSpPr>
          <p:cNvPr id="696" name="Google Shape;696;p10"/>
          <p:cNvSpPr txBox="1"/>
          <p:nvPr/>
        </p:nvSpPr>
        <p:spPr>
          <a:xfrm>
            <a:off x="6614023" y="1805994"/>
            <a:ext cx="71480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Non-churns</a:t>
            </a:r>
            <a:endParaRPr dirty="0">
              <a:solidFill>
                <a:srgbClr val="FF0000"/>
              </a:solidFill>
            </a:endParaRPr>
          </a:p>
        </p:txBody>
      </p:sp>
      <p:sp>
        <p:nvSpPr>
          <p:cNvPr id="697" name="Google Shape;697;p10"/>
          <p:cNvSpPr txBox="1"/>
          <p:nvPr/>
        </p:nvSpPr>
        <p:spPr>
          <a:xfrm>
            <a:off x="7217507" y="1805994"/>
            <a:ext cx="46839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diff(%)</a:t>
            </a:r>
            <a:endParaRPr dirty="0">
              <a:solidFill>
                <a:srgbClr val="FF0000"/>
              </a:solidFill>
            </a:endParaRPr>
          </a:p>
        </p:txBody>
      </p:sp>
      <p:sp>
        <p:nvSpPr>
          <p:cNvPr id="698" name="Google Shape;698;p10"/>
          <p:cNvSpPr/>
          <p:nvPr/>
        </p:nvSpPr>
        <p:spPr>
          <a:xfrm>
            <a:off x="7279901" y="2098541"/>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1.4%</a:t>
            </a:r>
            <a:endParaRPr/>
          </a:p>
        </p:txBody>
      </p:sp>
      <p:sp>
        <p:nvSpPr>
          <p:cNvPr id="699" name="Google Shape;699;p10"/>
          <p:cNvSpPr/>
          <p:nvPr/>
        </p:nvSpPr>
        <p:spPr>
          <a:xfrm>
            <a:off x="7279901" y="2537710"/>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16%</a:t>
            </a:r>
            <a:endParaRPr/>
          </a:p>
        </p:txBody>
      </p:sp>
      <p:sp>
        <p:nvSpPr>
          <p:cNvPr id="700" name="Google Shape;700;p10"/>
          <p:cNvSpPr/>
          <p:nvPr/>
        </p:nvSpPr>
        <p:spPr>
          <a:xfrm>
            <a:off x="7279901" y="2974911"/>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66%</a:t>
            </a:r>
            <a:endParaRPr/>
          </a:p>
        </p:txBody>
      </p:sp>
      <p:sp>
        <p:nvSpPr>
          <p:cNvPr id="701" name="Google Shape;701;p10"/>
          <p:cNvSpPr/>
          <p:nvPr/>
        </p:nvSpPr>
        <p:spPr>
          <a:xfrm>
            <a:off x="7284054" y="3432764"/>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80%</a:t>
            </a:r>
            <a:endParaRPr/>
          </a:p>
        </p:txBody>
      </p:sp>
      <p:sp>
        <p:nvSpPr>
          <p:cNvPr id="702" name="Google Shape;702;p10"/>
          <p:cNvSpPr/>
          <p:nvPr/>
        </p:nvSpPr>
        <p:spPr>
          <a:xfrm>
            <a:off x="7297749" y="3864582"/>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0%</a:t>
            </a:r>
            <a:endParaRPr/>
          </a:p>
        </p:txBody>
      </p:sp>
      <p:cxnSp>
        <p:nvCxnSpPr>
          <p:cNvPr id="703" name="Google Shape;703;p10"/>
          <p:cNvCxnSpPr/>
          <p:nvPr/>
        </p:nvCxnSpPr>
        <p:spPr>
          <a:xfrm>
            <a:off x="7966676" y="1813760"/>
            <a:ext cx="1442313" cy="0"/>
          </a:xfrm>
          <a:prstGeom prst="straightConnector1">
            <a:avLst/>
          </a:prstGeom>
          <a:noFill/>
          <a:ln w="9525" cap="flat" cmpd="sng">
            <a:solidFill>
              <a:srgbClr val="FF0000"/>
            </a:solidFill>
            <a:prstDash val="solid"/>
            <a:miter lim="800000"/>
            <a:headEnd type="none" w="sm" len="sm"/>
            <a:tailEnd type="none" w="sm" len="sm"/>
          </a:ln>
        </p:spPr>
      </p:cxnSp>
      <p:sp>
        <p:nvSpPr>
          <p:cNvPr id="704" name="Google Shape;704;p10"/>
          <p:cNvSpPr txBox="1"/>
          <p:nvPr/>
        </p:nvSpPr>
        <p:spPr>
          <a:xfrm>
            <a:off x="8243115" y="1590180"/>
            <a:ext cx="825547" cy="250884"/>
          </a:xfrm>
          <a:prstGeom prst="rect">
            <a:avLst/>
          </a:prstGeom>
          <a:noFill/>
          <a:ln>
            <a:noFill/>
          </a:ln>
        </p:spPr>
        <p:txBody>
          <a:bodyPr spcFirstLastPara="1" wrap="square" lIns="0" tIns="0" rIns="0" bIns="0" anchor="t" anchorCtr="0">
            <a:noAutofit/>
          </a:bodyPr>
          <a:lstStyle/>
          <a:p>
            <a:pPr marL="0" marR="0" lvl="0" indent="-76200" algn="ctr" rtl="0">
              <a:lnSpc>
                <a:spcPct val="100000"/>
              </a:lnSpc>
              <a:spcBef>
                <a:spcPts val="0"/>
              </a:spcBef>
              <a:spcAft>
                <a:spcPts val="0"/>
              </a:spcAft>
              <a:buClr>
                <a:srgbClr val="00B0F0"/>
              </a:buClr>
              <a:buSzPts val="1200"/>
              <a:buFont typeface="Quattrocento Sans"/>
              <a:buChar char="​"/>
            </a:pPr>
            <a:r>
              <a:rPr lang="en-US" sz="1200" b="1" i="0" u="none" strike="noStrike" cap="none" dirty="0">
                <a:solidFill>
                  <a:srgbClr val="FF0000"/>
                </a:solidFill>
                <a:latin typeface="Century Gothic"/>
                <a:ea typeface="Century Gothic"/>
                <a:cs typeface="Century Gothic"/>
                <a:sym typeface="Century Gothic"/>
              </a:rPr>
              <a:t>Trip</a:t>
            </a:r>
            <a:endParaRPr dirty="0">
              <a:solidFill>
                <a:srgbClr val="FF0000"/>
              </a:solidFill>
            </a:endParaRPr>
          </a:p>
        </p:txBody>
      </p:sp>
      <p:sp>
        <p:nvSpPr>
          <p:cNvPr id="705" name="Google Shape;705;p10"/>
          <p:cNvSpPr txBox="1"/>
          <p:nvPr/>
        </p:nvSpPr>
        <p:spPr>
          <a:xfrm>
            <a:off x="7887608" y="1813760"/>
            <a:ext cx="48122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Churns</a:t>
            </a:r>
            <a:endParaRPr dirty="0">
              <a:solidFill>
                <a:srgbClr val="FF0000"/>
              </a:solidFill>
            </a:endParaRPr>
          </a:p>
        </p:txBody>
      </p:sp>
      <p:sp>
        <p:nvSpPr>
          <p:cNvPr id="706" name="Google Shape;706;p10"/>
          <p:cNvSpPr txBox="1"/>
          <p:nvPr/>
        </p:nvSpPr>
        <p:spPr>
          <a:xfrm>
            <a:off x="8298485" y="1809648"/>
            <a:ext cx="71480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Non-churns</a:t>
            </a:r>
            <a:endParaRPr dirty="0">
              <a:solidFill>
                <a:srgbClr val="FF0000"/>
              </a:solidFill>
            </a:endParaRPr>
          </a:p>
        </p:txBody>
      </p:sp>
      <p:sp>
        <p:nvSpPr>
          <p:cNvPr id="707" name="Google Shape;707;p10"/>
          <p:cNvSpPr txBox="1"/>
          <p:nvPr/>
        </p:nvSpPr>
        <p:spPr>
          <a:xfrm>
            <a:off x="8901969" y="1809648"/>
            <a:ext cx="46839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diff(%)</a:t>
            </a:r>
            <a:endParaRPr dirty="0">
              <a:solidFill>
                <a:srgbClr val="FF0000"/>
              </a:solidFill>
            </a:endParaRPr>
          </a:p>
        </p:txBody>
      </p:sp>
      <p:sp>
        <p:nvSpPr>
          <p:cNvPr id="708" name="Google Shape;708;p10"/>
          <p:cNvSpPr/>
          <p:nvPr/>
        </p:nvSpPr>
        <p:spPr>
          <a:xfrm>
            <a:off x="8964363" y="2102195"/>
            <a:ext cx="554107" cy="29602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9.5%</a:t>
            </a:r>
            <a:endParaRPr/>
          </a:p>
        </p:txBody>
      </p:sp>
      <p:sp>
        <p:nvSpPr>
          <p:cNvPr id="709" name="Google Shape;709;p10"/>
          <p:cNvSpPr/>
          <p:nvPr/>
        </p:nvSpPr>
        <p:spPr>
          <a:xfrm>
            <a:off x="8964363" y="2541364"/>
            <a:ext cx="554107" cy="29602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27%</a:t>
            </a:r>
            <a:endParaRPr/>
          </a:p>
        </p:txBody>
      </p:sp>
      <p:sp>
        <p:nvSpPr>
          <p:cNvPr id="710" name="Google Shape;710;p10"/>
          <p:cNvSpPr/>
          <p:nvPr/>
        </p:nvSpPr>
        <p:spPr>
          <a:xfrm>
            <a:off x="8964363" y="2978565"/>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25%</a:t>
            </a:r>
            <a:endParaRPr/>
          </a:p>
        </p:txBody>
      </p:sp>
      <p:sp>
        <p:nvSpPr>
          <p:cNvPr id="711" name="Google Shape;711;p10"/>
          <p:cNvSpPr/>
          <p:nvPr/>
        </p:nvSpPr>
        <p:spPr>
          <a:xfrm>
            <a:off x="8968516" y="3436418"/>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0%</a:t>
            </a:r>
            <a:endParaRPr/>
          </a:p>
        </p:txBody>
      </p:sp>
      <p:sp>
        <p:nvSpPr>
          <p:cNvPr id="712" name="Google Shape;712;p10"/>
          <p:cNvSpPr/>
          <p:nvPr/>
        </p:nvSpPr>
        <p:spPr>
          <a:xfrm>
            <a:off x="8982211" y="3868236"/>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0%</a:t>
            </a:r>
            <a:endParaRPr/>
          </a:p>
        </p:txBody>
      </p:sp>
      <p:cxnSp>
        <p:nvCxnSpPr>
          <p:cNvPr id="713" name="Google Shape;713;p10"/>
          <p:cNvCxnSpPr/>
          <p:nvPr/>
        </p:nvCxnSpPr>
        <p:spPr>
          <a:xfrm>
            <a:off x="9650716" y="1805994"/>
            <a:ext cx="1442313" cy="0"/>
          </a:xfrm>
          <a:prstGeom prst="straightConnector1">
            <a:avLst/>
          </a:prstGeom>
          <a:noFill/>
          <a:ln w="9525" cap="flat" cmpd="sng">
            <a:solidFill>
              <a:srgbClr val="FF0000"/>
            </a:solidFill>
            <a:prstDash val="solid"/>
            <a:miter lim="800000"/>
            <a:headEnd type="none" w="sm" len="sm"/>
            <a:tailEnd type="none" w="sm" len="sm"/>
          </a:ln>
        </p:spPr>
      </p:cxnSp>
      <p:sp>
        <p:nvSpPr>
          <p:cNvPr id="714" name="Google Shape;714;p10"/>
          <p:cNvSpPr txBox="1"/>
          <p:nvPr/>
        </p:nvSpPr>
        <p:spPr>
          <a:xfrm>
            <a:off x="9927155" y="1582414"/>
            <a:ext cx="825547" cy="250884"/>
          </a:xfrm>
          <a:prstGeom prst="rect">
            <a:avLst/>
          </a:prstGeom>
          <a:noFill/>
          <a:ln>
            <a:noFill/>
          </a:ln>
        </p:spPr>
        <p:txBody>
          <a:bodyPr spcFirstLastPara="1" wrap="square" lIns="0" tIns="0" rIns="0" bIns="0" anchor="t" anchorCtr="0">
            <a:noAutofit/>
          </a:bodyPr>
          <a:lstStyle/>
          <a:p>
            <a:pPr marL="0" marR="0" lvl="0" indent="-76200" algn="ctr" rtl="0">
              <a:lnSpc>
                <a:spcPct val="100000"/>
              </a:lnSpc>
              <a:spcBef>
                <a:spcPts val="0"/>
              </a:spcBef>
              <a:spcAft>
                <a:spcPts val="0"/>
              </a:spcAft>
              <a:buClr>
                <a:srgbClr val="00B0F0"/>
              </a:buClr>
              <a:buSzPts val="1200"/>
              <a:buFont typeface="Quattrocento Sans"/>
              <a:buChar char="​"/>
            </a:pPr>
            <a:r>
              <a:rPr lang="en-US" sz="1200" b="1" i="0" u="none" strike="noStrike" cap="none" dirty="0">
                <a:solidFill>
                  <a:srgbClr val="FF0000"/>
                </a:solidFill>
                <a:latin typeface="Century Gothic"/>
                <a:ea typeface="Century Gothic"/>
                <a:cs typeface="Century Gothic"/>
                <a:sym typeface="Century Gothic"/>
              </a:rPr>
              <a:t>Total</a:t>
            </a:r>
            <a:endParaRPr dirty="0">
              <a:solidFill>
                <a:srgbClr val="FF0000"/>
              </a:solidFill>
            </a:endParaRPr>
          </a:p>
        </p:txBody>
      </p:sp>
      <p:sp>
        <p:nvSpPr>
          <p:cNvPr id="715" name="Google Shape;715;p10"/>
          <p:cNvSpPr txBox="1"/>
          <p:nvPr/>
        </p:nvSpPr>
        <p:spPr>
          <a:xfrm>
            <a:off x="9571648" y="1805994"/>
            <a:ext cx="48122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Churns</a:t>
            </a:r>
            <a:endParaRPr dirty="0">
              <a:solidFill>
                <a:srgbClr val="FF0000"/>
              </a:solidFill>
            </a:endParaRPr>
          </a:p>
        </p:txBody>
      </p:sp>
      <p:sp>
        <p:nvSpPr>
          <p:cNvPr id="716" name="Google Shape;716;p10"/>
          <p:cNvSpPr txBox="1"/>
          <p:nvPr/>
        </p:nvSpPr>
        <p:spPr>
          <a:xfrm>
            <a:off x="9982525" y="1801882"/>
            <a:ext cx="71480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Non-churns</a:t>
            </a:r>
            <a:endParaRPr dirty="0">
              <a:solidFill>
                <a:srgbClr val="FF0000"/>
              </a:solidFill>
            </a:endParaRPr>
          </a:p>
        </p:txBody>
      </p:sp>
      <p:sp>
        <p:nvSpPr>
          <p:cNvPr id="717" name="Google Shape;717;p10"/>
          <p:cNvSpPr txBox="1"/>
          <p:nvPr/>
        </p:nvSpPr>
        <p:spPr>
          <a:xfrm>
            <a:off x="10586009" y="1801882"/>
            <a:ext cx="46839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diff(%)</a:t>
            </a:r>
            <a:endParaRPr dirty="0">
              <a:solidFill>
                <a:srgbClr val="FF0000"/>
              </a:solidFill>
            </a:endParaRPr>
          </a:p>
        </p:txBody>
      </p:sp>
      <p:sp>
        <p:nvSpPr>
          <p:cNvPr id="718" name="Google Shape;718;p10"/>
          <p:cNvSpPr/>
          <p:nvPr/>
        </p:nvSpPr>
        <p:spPr>
          <a:xfrm>
            <a:off x="10648403" y="2094429"/>
            <a:ext cx="554107" cy="29602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6.9%</a:t>
            </a:r>
            <a:endParaRPr/>
          </a:p>
        </p:txBody>
      </p:sp>
      <p:sp>
        <p:nvSpPr>
          <p:cNvPr id="719" name="Google Shape;719;p10"/>
          <p:cNvSpPr/>
          <p:nvPr/>
        </p:nvSpPr>
        <p:spPr>
          <a:xfrm>
            <a:off x="10648403" y="2533598"/>
            <a:ext cx="554107" cy="29602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26%</a:t>
            </a:r>
            <a:endParaRPr/>
          </a:p>
        </p:txBody>
      </p:sp>
      <p:sp>
        <p:nvSpPr>
          <p:cNvPr id="720" name="Google Shape;720;p10"/>
          <p:cNvSpPr/>
          <p:nvPr/>
        </p:nvSpPr>
        <p:spPr>
          <a:xfrm>
            <a:off x="10648403" y="2970799"/>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62%</a:t>
            </a:r>
            <a:endParaRPr/>
          </a:p>
        </p:txBody>
      </p:sp>
      <p:sp>
        <p:nvSpPr>
          <p:cNvPr id="721" name="Google Shape;721;p10"/>
          <p:cNvSpPr/>
          <p:nvPr/>
        </p:nvSpPr>
        <p:spPr>
          <a:xfrm>
            <a:off x="10652556" y="3428652"/>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66%</a:t>
            </a:r>
            <a:endParaRPr/>
          </a:p>
        </p:txBody>
      </p:sp>
      <p:sp>
        <p:nvSpPr>
          <p:cNvPr id="722" name="Google Shape;722;p10"/>
          <p:cNvSpPr/>
          <p:nvPr/>
        </p:nvSpPr>
        <p:spPr>
          <a:xfrm>
            <a:off x="10666251" y="3860470"/>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0%</a:t>
            </a:r>
            <a:endParaRPr/>
          </a:p>
        </p:txBody>
      </p:sp>
      <p:sp>
        <p:nvSpPr>
          <p:cNvPr id="723" name="Google Shape;723;p10"/>
          <p:cNvSpPr txBox="1"/>
          <p:nvPr/>
        </p:nvSpPr>
        <p:spPr>
          <a:xfrm>
            <a:off x="2937854" y="2096480"/>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1,49</a:t>
            </a:r>
            <a:endParaRPr dirty="0"/>
          </a:p>
        </p:txBody>
      </p:sp>
      <p:sp>
        <p:nvSpPr>
          <p:cNvPr id="724" name="Google Shape;724;p10"/>
          <p:cNvSpPr txBox="1"/>
          <p:nvPr/>
        </p:nvSpPr>
        <p:spPr>
          <a:xfrm>
            <a:off x="3422258" y="2094429"/>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1,65</a:t>
            </a:r>
            <a:endParaRPr/>
          </a:p>
        </p:txBody>
      </p:sp>
      <p:sp>
        <p:nvSpPr>
          <p:cNvPr id="725" name="Google Shape;725;p10"/>
          <p:cNvSpPr txBox="1"/>
          <p:nvPr/>
        </p:nvSpPr>
        <p:spPr>
          <a:xfrm>
            <a:off x="2897162" y="2553962"/>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0,92</a:t>
            </a:r>
            <a:endParaRPr dirty="0"/>
          </a:p>
        </p:txBody>
      </p:sp>
      <p:sp>
        <p:nvSpPr>
          <p:cNvPr id="726" name="Google Shape;726;p10"/>
          <p:cNvSpPr txBox="1"/>
          <p:nvPr/>
        </p:nvSpPr>
        <p:spPr>
          <a:xfrm>
            <a:off x="3389605" y="2551911"/>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1,29</a:t>
            </a:r>
            <a:endParaRPr dirty="0"/>
          </a:p>
        </p:txBody>
      </p:sp>
      <p:sp>
        <p:nvSpPr>
          <p:cNvPr id="727" name="Google Shape;727;p10"/>
          <p:cNvSpPr txBox="1"/>
          <p:nvPr/>
        </p:nvSpPr>
        <p:spPr>
          <a:xfrm>
            <a:off x="2919710" y="3010827"/>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6,0</a:t>
            </a:r>
            <a:endParaRPr/>
          </a:p>
        </p:txBody>
      </p:sp>
      <p:sp>
        <p:nvSpPr>
          <p:cNvPr id="728" name="Google Shape;728;p10"/>
          <p:cNvSpPr txBox="1"/>
          <p:nvPr/>
        </p:nvSpPr>
        <p:spPr>
          <a:xfrm>
            <a:off x="3412153" y="3008776"/>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19,0</a:t>
            </a:r>
            <a:endParaRPr/>
          </a:p>
        </p:txBody>
      </p:sp>
      <p:sp>
        <p:nvSpPr>
          <p:cNvPr id="729" name="Google Shape;729;p10"/>
          <p:cNvSpPr txBox="1"/>
          <p:nvPr/>
        </p:nvSpPr>
        <p:spPr>
          <a:xfrm>
            <a:off x="2915605" y="3471658"/>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3,0</a:t>
            </a:r>
            <a:endParaRPr dirty="0"/>
          </a:p>
        </p:txBody>
      </p:sp>
      <p:sp>
        <p:nvSpPr>
          <p:cNvPr id="730" name="Google Shape;730;p10"/>
          <p:cNvSpPr txBox="1"/>
          <p:nvPr/>
        </p:nvSpPr>
        <p:spPr>
          <a:xfrm>
            <a:off x="3408048" y="3469607"/>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10,0</a:t>
            </a:r>
            <a:endParaRPr/>
          </a:p>
        </p:txBody>
      </p:sp>
      <p:sp>
        <p:nvSpPr>
          <p:cNvPr id="731" name="Google Shape;731;p10"/>
          <p:cNvSpPr txBox="1"/>
          <p:nvPr/>
        </p:nvSpPr>
        <p:spPr>
          <a:xfrm>
            <a:off x="2950262" y="3911100"/>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0.25</a:t>
            </a:r>
            <a:endParaRPr/>
          </a:p>
        </p:txBody>
      </p:sp>
      <p:sp>
        <p:nvSpPr>
          <p:cNvPr id="732" name="Google Shape;732;p10"/>
          <p:cNvSpPr txBox="1"/>
          <p:nvPr/>
        </p:nvSpPr>
        <p:spPr>
          <a:xfrm>
            <a:off x="3406312" y="3909049"/>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0.25</a:t>
            </a:r>
            <a:endParaRPr/>
          </a:p>
        </p:txBody>
      </p:sp>
      <p:sp>
        <p:nvSpPr>
          <p:cNvPr id="733" name="Google Shape;733;p10"/>
          <p:cNvSpPr txBox="1"/>
          <p:nvPr/>
        </p:nvSpPr>
        <p:spPr>
          <a:xfrm>
            <a:off x="4588290" y="2115384"/>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0,96</a:t>
            </a:r>
            <a:endParaRPr/>
          </a:p>
        </p:txBody>
      </p:sp>
      <p:sp>
        <p:nvSpPr>
          <p:cNvPr id="734" name="Google Shape;734;p10"/>
          <p:cNvSpPr txBox="1"/>
          <p:nvPr/>
        </p:nvSpPr>
        <p:spPr>
          <a:xfrm>
            <a:off x="5080733" y="2113333"/>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0,90</a:t>
            </a:r>
            <a:endParaRPr/>
          </a:p>
        </p:txBody>
      </p:sp>
      <p:sp>
        <p:nvSpPr>
          <p:cNvPr id="735" name="Google Shape;735;p10"/>
          <p:cNvSpPr txBox="1"/>
          <p:nvPr/>
        </p:nvSpPr>
        <p:spPr>
          <a:xfrm>
            <a:off x="4589431" y="2572866"/>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0,48</a:t>
            </a:r>
            <a:endParaRPr/>
          </a:p>
        </p:txBody>
      </p:sp>
      <p:sp>
        <p:nvSpPr>
          <p:cNvPr id="736" name="Google Shape;736;p10"/>
          <p:cNvSpPr txBox="1"/>
          <p:nvPr/>
        </p:nvSpPr>
        <p:spPr>
          <a:xfrm>
            <a:off x="5081874" y="2570815"/>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0,63</a:t>
            </a:r>
            <a:endParaRPr/>
          </a:p>
        </p:txBody>
      </p:sp>
      <p:sp>
        <p:nvSpPr>
          <p:cNvPr id="737" name="Google Shape;737;p10"/>
          <p:cNvSpPr txBox="1"/>
          <p:nvPr/>
        </p:nvSpPr>
        <p:spPr>
          <a:xfrm>
            <a:off x="4611979" y="3029731"/>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5,0</a:t>
            </a:r>
            <a:endParaRPr/>
          </a:p>
        </p:txBody>
      </p:sp>
      <p:sp>
        <p:nvSpPr>
          <p:cNvPr id="738" name="Google Shape;738;p10"/>
          <p:cNvSpPr txBox="1"/>
          <p:nvPr/>
        </p:nvSpPr>
        <p:spPr>
          <a:xfrm>
            <a:off x="5104422" y="3027680"/>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13,0</a:t>
            </a:r>
            <a:endParaRPr/>
          </a:p>
        </p:txBody>
      </p:sp>
      <p:sp>
        <p:nvSpPr>
          <p:cNvPr id="739" name="Google Shape;739;p10"/>
          <p:cNvSpPr txBox="1"/>
          <p:nvPr/>
        </p:nvSpPr>
        <p:spPr>
          <a:xfrm>
            <a:off x="4607874" y="3490562"/>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2,0</a:t>
            </a:r>
            <a:endParaRPr/>
          </a:p>
        </p:txBody>
      </p:sp>
      <p:sp>
        <p:nvSpPr>
          <p:cNvPr id="740" name="Google Shape;740;p10"/>
          <p:cNvSpPr txBox="1"/>
          <p:nvPr/>
        </p:nvSpPr>
        <p:spPr>
          <a:xfrm>
            <a:off x="5100317" y="3488511"/>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5,0</a:t>
            </a:r>
            <a:endParaRPr/>
          </a:p>
        </p:txBody>
      </p:sp>
      <p:sp>
        <p:nvSpPr>
          <p:cNvPr id="741" name="Google Shape;741;p10"/>
          <p:cNvSpPr txBox="1"/>
          <p:nvPr/>
        </p:nvSpPr>
        <p:spPr>
          <a:xfrm>
            <a:off x="6261221" y="2096480"/>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0,33</a:t>
            </a:r>
            <a:endParaRPr/>
          </a:p>
        </p:txBody>
      </p:sp>
      <p:sp>
        <p:nvSpPr>
          <p:cNvPr id="742" name="Google Shape;742;p10"/>
          <p:cNvSpPr txBox="1"/>
          <p:nvPr/>
        </p:nvSpPr>
        <p:spPr>
          <a:xfrm>
            <a:off x="6753664" y="2094429"/>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0,34</a:t>
            </a:r>
            <a:endParaRPr/>
          </a:p>
        </p:txBody>
      </p:sp>
      <p:sp>
        <p:nvSpPr>
          <p:cNvPr id="743" name="Google Shape;743;p10"/>
          <p:cNvSpPr txBox="1"/>
          <p:nvPr/>
        </p:nvSpPr>
        <p:spPr>
          <a:xfrm>
            <a:off x="6262362" y="2553962"/>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0,22</a:t>
            </a:r>
            <a:endParaRPr/>
          </a:p>
        </p:txBody>
      </p:sp>
      <p:sp>
        <p:nvSpPr>
          <p:cNvPr id="744" name="Google Shape;744;p10"/>
          <p:cNvSpPr txBox="1"/>
          <p:nvPr/>
        </p:nvSpPr>
        <p:spPr>
          <a:xfrm>
            <a:off x="6754805" y="2551911"/>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0,27</a:t>
            </a:r>
            <a:endParaRPr dirty="0"/>
          </a:p>
        </p:txBody>
      </p:sp>
      <p:sp>
        <p:nvSpPr>
          <p:cNvPr id="745" name="Google Shape;745;p10"/>
          <p:cNvSpPr txBox="1"/>
          <p:nvPr/>
        </p:nvSpPr>
        <p:spPr>
          <a:xfrm>
            <a:off x="6284910" y="3010827"/>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4,0</a:t>
            </a:r>
            <a:endParaRPr/>
          </a:p>
        </p:txBody>
      </p:sp>
      <p:sp>
        <p:nvSpPr>
          <p:cNvPr id="746" name="Google Shape;746;p10"/>
          <p:cNvSpPr txBox="1"/>
          <p:nvPr/>
        </p:nvSpPr>
        <p:spPr>
          <a:xfrm>
            <a:off x="6777353" y="3008776"/>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12,0</a:t>
            </a:r>
            <a:endParaRPr/>
          </a:p>
        </p:txBody>
      </p:sp>
      <p:sp>
        <p:nvSpPr>
          <p:cNvPr id="747" name="Google Shape;747;p10"/>
          <p:cNvSpPr txBox="1"/>
          <p:nvPr/>
        </p:nvSpPr>
        <p:spPr>
          <a:xfrm>
            <a:off x="6280805" y="3471658"/>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1,0</a:t>
            </a:r>
            <a:endParaRPr/>
          </a:p>
        </p:txBody>
      </p:sp>
      <p:sp>
        <p:nvSpPr>
          <p:cNvPr id="748" name="Google Shape;748;p10"/>
          <p:cNvSpPr txBox="1"/>
          <p:nvPr/>
        </p:nvSpPr>
        <p:spPr>
          <a:xfrm>
            <a:off x="6773248" y="3469607"/>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5,0</a:t>
            </a:r>
            <a:endParaRPr/>
          </a:p>
        </p:txBody>
      </p:sp>
      <p:sp>
        <p:nvSpPr>
          <p:cNvPr id="749" name="Google Shape;749;p10"/>
          <p:cNvSpPr txBox="1"/>
          <p:nvPr/>
        </p:nvSpPr>
        <p:spPr>
          <a:xfrm>
            <a:off x="7962369" y="2111706"/>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3,70</a:t>
            </a:r>
            <a:endParaRPr/>
          </a:p>
        </p:txBody>
      </p:sp>
      <p:sp>
        <p:nvSpPr>
          <p:cNvPr id="750" name="Google Shape;750;p10"/>
          <p:cNvSpPr txBox="1"/>
          <p:nvPr/>
        </p:nvSpPr>
        <p:spPr>
          <a:xfrm>
            <a:off x="8445933" y="2109655"/>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4,09</a:t>
            </a:r>
            <a:endParaRPr/>
          </a:p>
        </p:txBody>
      </p:sp>
      <p:sp>
        <p:nvSpPr>
          <p:cNvPr id="751" name="Google Shape;751;p10"/>
          <p:cNvSpPr txBox="1"/>
          <p:nvPr/>
        </p:nvSpPr>
        <p:spPr>
          <a:xfrm>
            <a:off x="7954631" y="2569188"/>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1,63</a:t>
            </a:r>
            <a:endParaRPr/>
          </a:p>
        </p:txBody>
      </p:sp>
      <p:sp>
        <p:nvSpPr>
          <p:cNvPr id="752" name="Google Shape;752;p10"/>
          <p:cNvSpPr txBox="1"/>
          <p:nvPr/>
        </p:nvSpPr>
        <p:spPr>
          <a:xfrm>
            <a:off x="8447074" y="2567137"/>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2,24</a:t>
            </a:r>
            <a:endParaRPr/>
          </a:p>
        </p:txBody>
      </p:sp>
      <p:sp>
        <p:nvSpPr>
          <p:cNvPr id="753" name="Google Shape;753;p10"/>
          <p:cNvSpPr txBox="1"/>
          <p:nvPr/>
        </p:nvSpPr>
        <p:spPr>
          <a:xfrm>
            <a:off x="7977179" y="3026053"/>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3,0</a:t>
            </a:r>
            <a:endParaRPr/>
          </a:p>
        </p:txBody>
      </p:sp>
      <p:sp>
        <p:nvSpPr>
          <p:cNvPr id="754" name="Google Shape;754;p10"/>
          <p:cNvSpPr txBox="1"/>
          <p:nvPr/>
        </p:nvSpPr>
        <p:spPr>
          <a:xfrm>
            <a:off x="8469622" y="3024002"/>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4,0</a:t>
            </a:r>
            <a:endParaRPr/>
          </a:p>
        </p:txBody>
      </p:sp>
      <p:sp>
        <p:nvSpPr>
          <p:cNvPr id="755" name="Google Shape;755;p10"/>
          <p:cNvSpPr txBox="1"/>
          <p:nvPr/>
        </p:nvSpPr>
        <p:spPr>
          <a:xfrm>
            <a:off x="7973074" y="3486884"/>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1,0</a:t>
            </a:r>
            <a:endParaRPr/>
          </a:p>
        </p:txBody>
      </p:sp>
      <p:sp>
        <p:nvSpPr>
          <p:cNvPr id="756" name="Google Shape;756;p10"/>
          <p:cNvSpPr txBox="1"/>
          <p:nvPr/>
        </p:nvSpPr>
        <p:spPr>
          <a:xfrm>
            <a:off x="8465517" y="3484833"/>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1,0</a:t>
            </a:r>
            <a:endParaRPr/>
          </a:p>
        </p:txBody>
      </p:sp>
      <p:sp>
        <p:nvSpPr>
          <p:cNvPr id="757" name="Google Shape;757;p10"/>
          <p:cNvSpPr txBox="1"/>
          <p:nvPr/>
        </p:nvSpPr>
        <p:spPr>
          <a:xfrm>
            <a:off x="9689725" y="2111706"/>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6,5</a:t>
            </a:r>
            <a:endParaRPr/>
          </a:p>
        </p:txBody>
      </p:sp>
      <p:sp>
        <p:nvSpPr>
          <p:cNvPr id="758" name="Google Shape;758;p10"/>
          <p:cNvSpPr txBox="1"/>
          <p:nvPr/>
        </p:nvSpPr>
        <p:spPr>
          <a:xfrm>
            <a:off x="10182168" y="2109655"/>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6,9</a:t>
            </a:r>
            <a:endParaRPr/>
          </a:p>
        </p:txBody>
      </p:sp>
      <p:sp>
        <p:nvSpPr>
          <p:cNvPr id="759" name="Google Shape;759;p10"/>
          <p:cNvSpPr txBox="1"/>
          <p:nvPr/>
        </p:nvSpPr>
        <p:spPr>
          <a:xfrm>
            <a:off x="9690866" y="2569188"/>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3,26</a:t>
            </a:r>
            <a:endParaRPr/>
          </a:p>
        </p:txBody>
      </p:sp>
      <p:sp>
        <p:nvSpPr>
          <p:cNvPr id="760" name="Google Shape;760;p10"/>
          <p:cNvSpPr txBox="1"/>
          <p:nvPr/>
        </p:nvSpPr>
        <p:spPr>
          <a:xfrm>
            <a:off x="10183309" y="2567137"/>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4,43</a:t>
            </a:r>
            <a:endParaRPr/>
          </a:p>
        </p:txBody>
      </p:sp>
      <p:sp>
        <p:nvSpPr>
          <p:cNvPr id="761" name="Google Shape;761;p10"/>
          <p:cNvSpPr txBox="1"/>
          <p:nvPr/>
        </p:nvSpPr>
        <p:spPr>
          <a:xfrm>
            <a:off x="9713414" y="3026053"/>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18,0</a:t>
            </a:r>
            <a:endParaRPr/>
          </a:p>
        </p:txBody>
      </p:sp>
      <p:sp>
        <p:nvSpPr>
          <p:cNvPr id="762" name="Google Shape;762;p10"/>
          <p:cNvSpPr txBox="1"/>
          <p:nvPr/>
        </p:nvSpPr>
        <p:spPr>
          <a:xfrm>
            <a:off x="10205857" y="3024002"/>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48,0</a:t>
            </a:r>
            <a:endParaRPr/>
          </a:p>
        </p:txBody>
      </p:sp>
      <p:sp>
        <p:nvSpPr>
          <p:cNvPr id="763" name="Google Shape;763;p10"/>
          <p:cNvSpPr txBox="1"/>
          <p:nvPr/>
        </p:nvSpPr>
        <p:spPr>
          <a:xfrm>
            <a:off x="9709309" y="3486884"/>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7,0</a:t>
            </a:r>
            <a:endParaRPr/>
          </a:p>
        </p:txBody>
      </p:sp>
      <p:sp>
        <p:nvSpPr>
          <p:cNvPr id="764" name="Google Shape;764;p10"/>
          <p:cNvSpPr txBox="1"/>
          <p:nvPr/>
        </p:nvSpPr>
        <p:spPr>
          <a:xfrm>
            <a:off x="10201752" y="3484833"/>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21,0</a:t>
            </a:r>
            <a:endParaRPr/>
          </a:p>
        </p:txBody>
      </p:sp>
      <p:sp>
        <p:nvSpPr>
          <p:cNvPr id="765" name="Google Shape;765;p10"/>
          <p:cNvSpPr txBox="1"/>
          <p:nvPr/>
        </p:nvSpPr>
        <p:spPr>
          <a:xfrm>
            <a:off x="217579" y="4676476"/>
            <a:ext cx="10320371"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Verdana"/>
                <a:ea typeface="Verdana"/>
                <a:cs typeface="Verdana"/>
                <a:sym typeface="Verdana"/>
              </a:rPr>
              <a:t>Explanation :</a:t>
            </a:r>
            <a:endParaRPr/>
          </a:p>
          <a:p>
            <a:pPr marL="228600" marR="0" lvl="0" indent="-228600" algn="l" rtl="0">
              <a:spcBef>
                <a:spcPts val="0"/>
              </a:spcBef>
              <a:spcAft>
                <a:spcPts val="0"/>
              </a:spcAft>
              <a:buClr>
                <a:schemeClr val="dk1"/>
              </a:buClr>
              <a:buSzPts val="1200"/>
              <a:buFont typeface="Verdana"/>
              <a:buAutoNum type="arabicParenR"/>
            </a:pPr>
            <a:r>
              <a:rPr lang="en-US" sz="1200">
                <a:solidFill>
                  <a:schemeClr val="dk1"/>
                </a:solidFill>
                <a:latin typeface="Verdana"/>
                <a:ea typeface="Verdana"/>
                <a:cs typeface="Verdana"/>
                <a:sym typeface="Verdana"/>
              </a:rPr>
              <a:t>After getting information from these table advanced analysis, for example see on ‘random number’ for product FLIGHT 0.25% - 0.25%, it means </a:t>
            </a:r>
            <a:r>
              <a:rPr lang="en-US" sz="1200" b="1">
                <a:solidFill>
                  <a:schemeClr val="dk1"/>
                </a:solidFill>
                <a:latin typeface="Verdana"/>
                <a:ea typeface="Verdana"/>
                <a:cs typeface="Verdana"/>
                <a:sym typeface="Verdana"/>
              </a:rPr>
              <a:t>‘random number’ doesn’t have special characteristics to churns</a:t>
            </a:r>
            <a:r>
              <a:rPr lang="en-US" sz="1200">
                <a:solidFill>
                  <a:schemeClr val="dk1"/>
                </a:solidFill>
                <a:latin typeface="Verdana"/>
                <a:ea typeface="Verdana"/>
                <a:cs typeface="Verdana"/>
                <a:sym typeface="Verdana"/>
              </a:rPr>
              <a:t> then drop this features due to potential noise</a:t>
            </a:r>
            <a:endParaRPr/>
          </a:p>
          <a:p>
            <a:pPr marL="228600" marR="0" lvl="0" indent="-228600" algn="l" rtl="0">
              <a:spcBef>
                <a:spcPts val="0"/>
              </a:spcBef>
              <a:spcAft>
                <a:spcPts val="0"/>
              </a:spcAft>
              <a:buClr>
                <a:schemeClr val="dk1"/>
              </a:buClr>
              <a:buSzPts val="1200"/>
              <a:buFont typeface="Verdana"/>
              <a:buAutoNum type="arabicParenR"/>
            </a:pPr>
            <a:r>
              <a:rPr lang="en-US" sz="1200">
                <a:solidFill>
                  <a:schemeClr val="dk1"/>
                </a:solidFill>
                <a:latin typeface="Verdana"/>
                <a:ea typeface="Verdana"/>
                <a:cs typeface="Verdana"/>
                <a:sym typeface="Verdana"/>
              </a:rPr>
              <a:t>The</a:t>
            </a:r>
            <a:r>
              <a:rPr lang="en-US" sz="1200" b="1">
                <a:solidFill>
                  <a:schemeClr val="dk1"/>
                </a:solidFill>
                <a:latin typeface="Verdana"/>
                <a:ea typeface="Verdana"/>
                <a:cs typeface="Verdana"/>
                <a:sym typeface="Verdana"/>
              </a:rPr>
              <a:t> Churns Segment Customer tend to have far more lower transactions count than loyal ones</a:t>
            </a:r>
            <a:r>
              <a:rPr lang="en-US" sz="1200">
                <a:solidFill>
                  <a:schemeClr val="dk1"/>
                </a:solidFill>
                <a:latin typeface="Verdana"/>
                <a:ea typeface="Verdana"/>
                <a:cs typeface="Verdana"/>
                <a:sym typeface="Verdana"/>
              </a:rPr>
              <a:t>, the differences is significance higher about more or less 60%</a:t>
            </a:r>
            <a:endParaRPr/>
          </a:p>
          <a:p>
            <a:pPr marL="228600" marR="0" lvl="0" indent="-228600" algn="l" rtl="0">
              <a:spcBef>
                <a:spcPts val="0"/>
              </a:spcBef>
              <a:spcAft>
                <a:spcPts val="0"/>
              </a:spcAft>
              <a:buClr>
                <a:schemeClr val="dk1"/>
              </a:buClr>
              <a:buSzPts val="1200"/>
              <a:buFont typeface="Verdana"/>
              <a:buAutoNum type="arabicParenR"/>
            </a:pPr>
            <a:r>
              <a:rPr lang="en-US" sz="1200">
                <a:solidFill>
                  <a:schemeClr val="dk1"/>
                </a:solidFill>
                <a:latin typeface="Verdana"/>
                <a:ea typeface="Verdana"/>
                <a:cs typeface="Verdana"/>
                <a:sym typeface="Verdana"/>
              </a:rPr>
              <a:t>Delta Average </a:t>
            </a:r>
            <a:r>
              <a:rPr lang="en-US" sz="1200" b="1">
                <a:solidFill>
                  <a:schemeClr val="dk1"/>
                </a:solidFill>
                <a:latin typeface="Verdana"/>
                <a:ea typeface="Verdana"/>
                <a:cs typeface="Verdana"/>
                <a:sym typeface="Verdana"/>
              </a:rPr>
              <a:t>issued invoice amount</a:t>
            </a:r>
            <a:r>
              <a:rPr lang="en-US" sz="1200">
                <a:solidFill>
                  <a:schemeClr val="dk1"/>
                </a:solidFill>
                <a:latin typeface="Verdana"/>
                <a:ea typeface="Verdana"/>
                <a:cs typeface="Verdana"/>
                <a:sym typeface="Verdana"/>
              </a:rPr>
              <a:t> shows the churners spends money </a:t>
            </a:r>
            <a:r>
              <a:rPr lang="en-US" sz="1200" b="1">
                <a:solidFill>
                  <a:schemeClr val="dk1"/>
                </a:solidFill>
                <a:latin typeface="Verdana"/>
                <a:ea typeface="Verdana"/>
                <a:cs typeface="Verdana"/>
                <a:sym typeface="Verdana"/>
              </a:rPr>
              <a:t>Lower</a:t>
            </a:r>
            <a:r>
              <a:rPr lang="en-US" sz="1200">
                <a:solidFill>
                  <a:schemeClr val="dk1"/>
                </a:solidFill>
                <a:latin typeface="Verdana"/>
                <a:ea typeface="Verdana"/>
                <a:cs typeface="Verdana"/>
                <a:sym typeface="Verdana"/>
              </a:rPr>
              <a:t> than non churners. Inference is usually customer taking promo are the ones who churns in next cycle</a:t>
            </a:r>
            <a:endParaRPr/>
          </a:p>
        </p:txBody>
      </p:sp>
      <p:sp>
        <p:nvSpPr>
          <p:cNvPr id="766" name="Google Shape;766;p10"/>
          <p:cNvSpPr txBox="1"/>
          <p:nvPr/>
        </p:nvSpPr>
        <p:spPr>
          <a:xfrm>
            <a:off x="2096263" y="3924275"/>
            <a:ext cx="593172" cy="15124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In %</a:t>
            </a:r>
            <a:endParaRPr dirty="0">
              <a:solidFill>
                <a:srgbClr val="FF0000"/>
              </a:solidFill>
            </a:endParaRPr>
          </a:p>
        </p:txBody>
      </p:sp>
      <p:sp>
        <p:nvSpPr>
          <p:cNvPr id="767" name="Google Shape;767;p10"/>
          <p:cNvSpPr txBox="1"/>
          <p:nvPr/>
        </p:nvSpPr>
        <p:spPr>
          <a:xfrm>
            <a:off x="4668168" y="3917389"/>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0.25</a:t>
            </a:r>
            <a:endParaRPr/>
          </a:p>
        </p:txBody>
      </p:sp>
      <p:sp>
        <p:nvSpPr>
          <p:cNvPr id="768" name="Google Shape;768;p10"/>
          <p:cNvSpPr txBox="1"/>
          <p:nvPr/>
        </p:nvSpPr>
        <p:spPr>
          <a:xfrm>
            <a:off x="5124218" y="3915338"/>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0.25</a:t>
            </a:r>
            <a:endParaRPr/>
          </a:p>
        </p:txBody>
      </p:sp>
      <p:sp>
        <p:nvSpPr>
          <p:cNvPr id="769" name="Google Shape;769;p10"/>
          <p:cNvSpPr txBox="1"/>
          <p:nvPr/>
        </p:nvSpPr>
        <p:spPr>
          <a:xfrm>
            <a:off x="6326332" y="3935160"/>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0.25</a:t>
            </a:r>
            <a:endParaRPr/>
          </a:p>
        </p:txBody>
      </p:sp>
      <p:sp>
        <p:nvSpPr>
          <p:cNvPr id="770" name="Google Shape;770;p10"/>
          <p:cNvSpPr txBox="1"/>
          <p:nvPr/>
        </p:nvSpPr>
        <p:spPr>
          <a:xfrm>
            <a:off x="6782382" y="3933109"/>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0.25</a:t>
            </a:r>
            <a:endParaRPr/>
          </a:p>
        </p:txBody>
      </p:sp>
      <p:sp>
        <p:nvSpPr>
          <p:cNvPr id="771" name="Google Shape;771;p10"/>
          <p:cNvSpPr txBox="1"/>
          <p:nvPr/>
        </p:nvSpPr>
        <p:spPr>
          <a:xfrm>
            <a:off x="8060212" y="3935160"/>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0.25</a:t>
            </a:r>
            <a:endParaRPr/>
          </a:p>
        </p:txBody>
      </p:sp>
      <p:sp>
        <p:nvSpPr>
          <p:cNvPr id="772" name="Google Shape;772;p10"/>
          <p:cNvSpPr txBox="1"/>
          <p:nvPr/>
        </p:nvSpPr>
        <p:spPr>
          <a:xfrm>
            <a:off x="8516262" y="3933109"/>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0.25</a:t>
            </a:r>
            <a:endParaRPr/>
          </a:p>
        </p:txBody>
      </p:sp>
      <p:sp>
        <p:nvSpPr>
          <p:cNvPr id="773" name="Google Shape;773;p10"/>
          <p:cNvSpPr txBox="1"/>
          <p:nvPr/>
        </p:nvSpPr>
        <p:spPr>
          <a:xfrm>
            <a:off x="9773788" y="3917975"/>
            <a:ext cx="23596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a:t>
            </a:r>
            <a:endParaRPr/>
          </a:p>
        </p:txBody>
      </p:sp>
      <p:sp>
        <p:nvSpPr>
          <p:cNvPr id="774" name="Google Shape;774;p10"/>
          <p:cNvSpPr txBox="1"/>
          <p:nvPr/>
        </p:nvSpPr>
        <p:spPr>
          <a:xfrm>
            <a:off x="10229838" y="3915924"/>
            <a:ext cx="23596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a:t>
            </a:r>
            <a:endParaRPr/>
          </a:p>
        </p:txBody>
      </p:sp>
      <p:sp>
        <p:nvSpPr>
          <p:cNvPr id="775" name="Google Shape;775;p10"/>
          <p:cNvSpPr/>
          <p:nvPr/>
        </p:nvSpPr>
        <p:spPr>
          <a:xfrm>
            <a:off x="52082" y="3826671"/>
            <a:ext cx="1325276" cy="309583"/>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 name="Google Shape;678;p10">
            <a:extLst>
              <a:ext uri="{FF2B5EF4-FFF2-40B4-BE49-F238E27FC236}">
                <a16:creationId xmlns:a16="http://schemas.microsoft.com/office/drawing/2014/main" id="{7EB3FA3D-2B78-4E42-B8C6-5E61239D2535}"/>
              </a:ext>
            </a:extLst>
          </p:cNvPr>
          <p:cNvSpPr/>
          <p:nvPr/>
        </p:nvSpPr>
        <p:spPr>
          <a:xfrm>
            <a:off x="3983678" y="2107843"/>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9.7%</a:t>
            </a:r>
            <a:endParaRPr/>
          </a:p>
        </p:txBody>
      </p:sp>
      <p:sp>
        <p:nvSpPr>
          <p:cNvPr id="122" name="Google Shape;679;p10">
            <a:extLst>
              <a:ext uri="{FF2B5EF4-FFF2-40B4-BE49-F238E27FC236}">
                <a16:creationId xmlns:a16="http://schemas.microsoft.com/office/drawing/2014/main" id="{A08C02AF-FC51-4896-85CE-B278A076EE77}"/>
              </a:ext>
            </a:extLst>
          </p:cNvPr>
          <p:cNvSpPr/>
          <p:nvPr/>
        </p:nvSpPr>
        <p:spPr>
          <a:xfrm>
            <a:off x="3983678" y="2547012"/>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28%</a:t>
            </a:r>
            <a:endParaRPr/>
          </a:p>
        </p:txBody>
      </p:sp>
      <p:sp>
        <p:nvSpPr>
          <p:cNvPr id="123" name="Google Shape;680;p10">
            <a:extLst>
              <a:ext uri="{FF2B5EF4-FFF2-40B4-BE49-F238E27FC236}">
                <a16:creationId xmlns:a16="http://schemas.microsoft.com/office/drawing/2014/main" id="{F621E7C1-81AE-4B2B-921C-531D8D7967D9}"/>
              </a:ext>
            </a:extLst>
          </p:cNvPr>
          <p:cNvSpPr/>
          <p:nvPr/>
        </p:nvSpPr>
        <p:spPr>
          <a:xfrm>
            <a:off x="3983678" y="2984213"/>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68%</a:t>
            </a:r>
            <a:endParaRPr/>
          </a:p>
        </p:txBody>
      </p:sp>
      <p:sp>
        <p:nvSpPr>
          <p:cNvPr id="124" name="Google Shape;681;p10">
            <a:extLst>
              <a:ext uri="{FF2B5EF4-FFF2-40B4-BE49-F238E27FC236}">
                <a16:creationId xmlns:a16="http://schemas.microsoft.com/office/drawing/2014/main" id="{4B5FFD92-FC52-458B-8109-0A711A519F0F}"/>
              </a:ext>
            </a:extLst>
          </p:cNvPr>
          <p:cNvSpPr/>
          <p:nvPr/>
        </p:nvSpPr>
        <p:spPr>
          <a:xfrm>
            <a:off x="3987831" y="3442066"/>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70%</a:t>
            </a:r>
            <a:endParaRPr/>
          </a:p>
        </p:txBody>
      </p:sp>
      <p:sp>
        <p:nvSpPr>
          <p:cNvPr id="125" name="Google Shape;682;p10">
            <a:extLst>
              <a:ext uri="{FF2B5EF4-FFF2-40B4-BE49-F238E27FC236}">
                <a16:creationId xmlns:a16="http://schemas.microsoft.com/office/drawing/2014/main" id="{4A83FCA5-FFCA-40DA-A448-4208C378317A}"/>
              </a:ext>
            </a:extLst>
          </p:cNvPr>
          <p:cNvSpPr/>
          <p:nvPr/>
        </p:nvSpPr>
        <p:spPr>
          <a:xfrm>
            <a:off x="4001526" y="3873884"/>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0%</a:t>
            </a:r>
            <a:endParaRPr/>
          </a:p>
        </p:txBody>
      </p:sp>
      <p:sp>
        <p:nvSpPr>
          <p:cNvPr id="126" name="Google Shape;691;p10">
            <a:extLst>
              <a:ext uri="{FF2B5EF4-FFF2-40B4-BE49-F238E27FC236}">
                <a16:creationId xmlns:a16="http://schemas.microsoft.com/office/drawing/2014/main" id="{DCA99108-28F4-4631-96ED-01848DB40E4D}"/>
              </a:ext>
            </a:extLst>
          </p:cNvPr>
          <p:cNvSpPr/>
          <p:nvPr/>
        </p:nvSpPr>
        <p:spPr>
          <a:xfrm>
            <a:off x="5605906" y="3433319"/>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60%</a:t>
            </a:r>
            <a:endParaRPr/>
          </a:p>
        </p:txBody>
      </p:sp>
      <p:sp>
        <p:nvSpPr>
          <p:cNvPr id="127" name="Google Shape;692;p10">
            <a:extLst>
              <a:ext uri="{FF2B5EF4-FFF2-40B4-BE49-F238E27FC236}">
                <a16:creationId xmlns:a16="http://schemas.microsoft.com/office/drawing/2014/main" id="{329BF090-FE78-42E0-A57C-C3F4E1F807F7}"/>
              </a:ext>
            </a:extLst>
          </p:cNvPr>
          <p:cNvSpPr/>
          <p:nvPr/>
        </p:nvSpPr>
        <p:spPr>
          <a:xfrm>
            <a:off x="5619601" y="3865137"/>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0%</a:t>
            </a:r>
            <a:endParaRPr/>
          </a:p>
        </p:txBody>
      </p:sp>
      <p:sp>
        <p:nvSpPr>
          <p:cNvPr id="128" name="Google Shape;689;p10">
            <a:extLst>
              <a:ext uri="{FF2B5EF4-FFF2-40B4-BE49-F238E27FC236}">
                <a16:creationId xmlns:a16="http://schemas.microsoft.com/office/drawing/2014/main" id="{F7498B4E-C761-48CA-8A87-BEF0655478F8}"/>
              </a:ext>
            </a:extLst>
          </p:cNvPr>
          <p:cNvSpPr/>
          <p:nvPr/>
        </p:nvSpPr>
        <p:spPr>
          <a:xfrm>
            <a:off x="5601753" y="2540008"/>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23%</a:t>
            </a:r>
            <a:endParaRPr/>
          </a:p>
        </p:txBody>
      </p:sp>
      <p:sp>
        <p:nvSpPr>
          <p:cNvPr id="129" name="Google Shape;690;p10">
            <a:extLst>
              <a:ext uri="{FF2B5EF4-FFF2-40B4-BE49-F238E27FC236}">
                <a16:creationId xmlns:a16="http://schemas.microsoft.com/office/drawing/2014/main" id="{8F8FB62C-B690-4324-B2E5-A4AD867D7A39}"/>
              </a:ext>
            </a:extLst>
          </p:cNvPr>
          <p:cNvSpPr/>
          <p:nvPr/>
        </p:nvSpPr>
        <p:spPr>
          <a:xfrm>
            <a:off x="5601753" y="2977209"/>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61%</a:t>
            </a:r>
            <a:endParaRPr/>
          </a:p>
        </p:txBody>
      </p:sp>
      <p:sp>
        <p:nvSpPr>
          <p:cNvPr id="130" name="Google Shape;698;p10">
            <a:extLst>
              <a:ext uri="{FF2B5EF4-FFF2-40B4-BE49-F238E27FC236}">
                <a16:creationId xmlns:a16="http://schemas.microsoft.com/office/drawing/2014/main" id="{528D7FF9-9427-41EC-9DFF-DE69500E5CD3}"/>
              </a:ext>
            </a:extLst>
          </p:cNvPr>
          <p:cNvSpPr/>
          <p:nvPr/>
        </p:nvSpPr>
        <p:spPr>
          <a:xfrm>
            <a:off x="7279901" y="2098598"/>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1.4%</a:t>
            </a:r>
            <a:endParaRPr/>
          </a:p>
        </p:txBody>
      </p:sp>
      <p:sp>
        <p:nvSpPr>
          <p:cNvPr id="131" name="Google Shape;699;p10">
            <a:extLst>
              <a:ext uri="{FF2B5EF4-FFF2-40B4-BE49-F238E27FC236}">
                <a16:creationId xmlns:a16="http://schemas.microsoft.com/office/drawing/2014/main" id="{818BB651-CA82-438E-A103-8661C68F88A7}"/>
              </a:ext>
            </a:extLst>
          </p:cNvPr>
          <p:cNvSpPr/>
          <p:nvPr/>
        </p:nvSpPr>
        <p:spPr>
          <a:xfrm>
            <a:off x="7279901" y="2539951"/>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16%</a:t>
            </a:r>
            <a:endParaRPr/>
          </a:p>
        </p:txBody>
      </p:sp>
      <p:sp>
        <p:nvSpPr>
          <p:cNvPr id="132" name="Google Shape;700;p10">
            <a:extLst>
              <a:ext uri="{FF2B5EF4-FFF2-40B4-BE49-F238E27FC236}">
                <a16:creationId xmlns:a16="http://schemas.microsoft.com/office/drawing/2014/main" id="{3816B81C-68F1-46FF-BCE6-E3CD2676FD0F}"/>
              </a:ext>
            </a:extLst>
          </p:cNvPr>
          <p:cNvSpPr/>
          <p:nvPr/>
        </p:nvSpPr>
        <p:spPr>
          <a:xfrm>
            <a:off x="7279901" y="2974968"/>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66%</a:t>
            </a:r>
            <a:endParaRPr/>
          </a:p>
        </p:txBody>
      </p:sp>
      <p:sp>
        <p:nvSpPr>
          <p:cNvPr id="133" name="Google Shape;701;p10">
            <a:extLst>
              <a:ext uri="{FF2B5EF4-FFF2-40B4-BE49-F238E27FC236}">
                <a16:creationId xmlns:a16="http://schemas.microsoft.com/office/drawing/2014/main" id="{54CF8A4A-4355-403D-A2FC-C415865A97F8}"/>
              </a:ext>
            </a:extLst>
          </p:cNvPr>
          <p:cNvSpPr/>
          <p:nvPr/>
        </p:nvSpPr>
        <p:spPr>
          <a:xfrm>
            <a:off x="7284054" y="3432821"/>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80%</a:t>
            </a:r>
            <a:endParaRPr/>
          </a:p>
        </p:txBody>
      </p:sp>
      <p:sp>
        <p:nvSpPr>
          <p:cNvPr id="134" name="Google Shape;702;p10">
            <a:extLst>
              <a:ext uri="{FF2B5EF4-FFF2-40B4-BE49-F238E27FC236}">
                <a16:creationId xmlns:a16="http://schemas.microsoft.com/office/drawing/2014/main" id="{6DCE8C2F-DE98-4F08-8EF5-2431C7858F8B}"/>
              </a:ext>
            </a:extLst>
          </p:cNvPr>
          <p:cNvSpPr/>
          <p:nvPr/>
        </p:nvSpPr>
        <p:spPr>
          <a:xfrm>
            <a:off x="7297749" y="3864639"/>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0%</a:t>
            </a:r>
            <a:endParaRPr/>
          </a:p>
        </p:txBody>
      </p:sp>
      <p:sp>
        <p:nvSpPr>
          <p:cNvPr id="135" name="Google Shape;708;p10">
            <a:extLst>
              <a:ext uri="{FF2B5EF4-FFF2-40B4-BE49-F238E27FC236}">
                <a16:creationId xmlns:a16="http://schemas.microsoft.com/office/drawing/2014/main" id="{31B64213-9F39-4FF7-B8A5-5261DA036D39}"/>
              </a:ext>
            </a:extLst>
          </p:cNvPr>
          <p:cNvSpPr/>
          <p:nvPr/>
        </p:nvSpPr>
        <p:spPr>
          <a:xfrm>
            <a:off x="8964363" y="2102252"/>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9.5%</a:t>
            </a:r>
            <a:endParaRPr/>
          </a:p>
        </p:txBody>
      </p:sp>
      <p:sp>
        <p:nvSpPr>
          <p:cNvPr id="136" name="Google Shape;709;p10">
            <a:extLst>
              <a:ext uri="{FF2B5EF4-FFF2-40B4-BE49-F238E27FC236}">
                <a16:creationId xmlns:a16="http://schemas.microsoft.com/office/drawing/2014/main" id="{5A16A763-1E0F-4231-8EE9-A2F3264778D5}"/>
              </a:ext>
            </a:extLst>
          </p:cNvPr>
          <p:cNvSpPr/>
          <p:nvPr/>
        </p:nvSpPr>
        <p:spPr>
          <a:xfrm>
            <a:off x="8964363" y="2541421"/>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27%</a:t>
            </a:r>
            <a:endParaRPr/>
          </a:p>
        </p:txBody>
      </p:sp>
      <p:sp>
        <p:nvSpPr>
          <p:cNvPr id="137" name="Google Shape;718;p10">
            <a:extLst>
              <a:ext uri="{FF2B5EF4-FFF2-40B4-BE49-F238E27FC236}">
                <a16:creationId xmlns:a16="http://schemas.microsoft.com/office/drawing/2014/main" id="{A96143F3-722D-4329-94B2-81A036C51937}"/>
              </a:ext>
            </a:extLst>
          </p:cNvPr>
          <p:cNvSpPr/>
          <p:nvPr/>
        </p:nvSpPr>
        <p:spPr>
          <a:xfrm>
            <a:off x="10648403" y="2094486"/>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6.9%</a:t>
            </a:r>
            <a:endParaRPr/>
          </a:p>
        </p:txBody>
      </p:sp>
      <p:sp>
        <p:nvSpPr>
          <p:cNvPr id="138" name="Google Shape;719;p10">
            <a:extLst>
              <a:ext uri="{FF2B5EF4-FFF2-40B4-BE49-F238E27FC236}">
                <a16:creationId xmlns:a16="http://schemas.microsoft.com/office/drawing/2014/main" id="{B6DC5361-625C-4292-8738-A637E59C613B}"/>
              </a:ext>
            </a:extLst>
          </p:cNvPr>
          <p:cNvSpPr/>
          <p:nvPr/>
        </p:nvSpPr>
        <p:spPr>
          <a:xfrm>
            <a:off x="10648403" y="2533655"/>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26%</a:t>
            </a:r>
            <a:endParaRPr/>
          </a:p>
        </p:txBody>
      </p:sp>
      <p:sp>
        <p:nvSpPr>
          <p:cNvPr id="139" name="Google Shape;678;p10">
            <a:extLst>
              <a:ext uri="{FF2B5EF4-FFF2-40B4-BE49-F238E27FC236}">
                <a16:creationId xmlns:a16="http://schemas.microsoft.com/office/drawing/2014/main" id="{13573A76-FEEB-4BFD-A0DB-954D7B9EF69D}"/>
              </a:ext>
            </a:extLst>
          </p:cNvPr>
          <p:cNvSpPr/>
          <p:nvPr/>
        </p:nvSpPr>
        <p:spPr>
          <a:xfrm>
            <a:off x="3983678" y="2107900"/>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9.7%</a:t>
            </a:r>
            <a:endParaRPr/>
          </a:p>
        </p:txBody>
      </p:sp>
      <p:sp>
        <p:nvSpPr>
          <p:cNvPr id="140" name="Google Shape;679;p10">
            <a:extLst>
              <a:ext uri="{FF2B5EF4-FFF2-40B4-BE49-F238E27FC236}">
                <a16:creationId xmlns:a16="http://schemas.microsoft.com/office/drawing/2014/main" id="{486C19CC-431F-463D-BBE5-E7824C60A89C}"/>
              </a:ext>
            </a:extLst>
          </p:cNvPr>
          <p:cNvSpPr/>
          <p:nvPr/>
        </p:nvSpPr>
        <p:spPr>
          <a:xfrm>
            <a:off x="3983678" y="2547069"/>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dirty="0">
                <a:solidFill>
                  <a:schemeClr val="lt1"/>
                </a:solidFill>
                <a:latin typeface="Calibri"/>
                <a:ea typeface="Calibri"/>
                <a:cs typeface="Calibri"/>
                <a:sym typeface="Calibri"/>
              </a:rPr>
              <a:t>28%</a:t>
            </a:r>
            <a:endParaRPr dirty="0"/>
          </a:p>
        </p:txBody>
      </p:sp>
      <p:sp>
        <p:nvSpPr>
          <p:cNvPr id="141" name="Google Shape;680;p10">
            <a:extLst>
              <a:ext uri="{FF2B5EF4-FFF2-40B4-BE49-F238E27FC236}">
                <a16:creationId xmlns:a16="http://schemas.microsoft.com/office/drawing/2014/main" id="{773C8FC3-C57A-4886-847E-20DA13BB9B37}"/>
              </a:ext>
            </a:extLst>
          </p:cNvPr>
          <p:cNvSpPr/>
          <p:nvPr/>
        </p:nvSpPr>
        <p:spPr>
          <a:xfrm>
            <a:off x="3983678" y="2984270"/>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68%</a:t>
            </a:r>
            <a:endParaRPr/>
          </a:p>
        </p:txBody>
      </p:sp>
      <p:sp>
        <p:nvSpPr>
          <p:cNvPr id="142" name="Google Shape;681;p10">
            <a:extLst>
              <a:ext uri="{FF2B5EF4-FFF2-40B4-BE49-F238E27FC236}">
                <a16:creationId xmlns:a16="http://schemas.microsoft.com/office/drawing/2014/main" id="{0A0983B6-A805-482C-B420-8A68E26FE2C1}"/>
              </a:ext>
            </a:extLst>
          </p:cNvPr>
          <p:cNvSpPr/>
          <p:nvPr/>
        </p:nvSpPr>
        <p:spPr>
          <a:xfrm>
            <a:off x="3987831" y="3442123"/>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70%</a:t>
            </a:r>
            <a:endParaRPr/>
          </a:p>
        </p:txBody>
      </p:sp>
      <p:sp>
        <p:nvSpPr>
          <p:cNvPr id="143" name="Google Shape;682;p10">
            <a:extLst>
              <a:ext uri="{FF2B5EF4-FFF2-40B4-BE49-F238E27FC236}">
                <a16:creationId xmlns:a16="http://schemas.microsoft.com/office/drawing/2014/main" id="{A7C1FC9D-AA33-4D70-8A9C-331E65F43E8B}"/>
              </a:ext>
            </a:extLst>
          </p:cNvPr>
          <p:cNvSpPr/>
          <p:nvPr/>
        </p:nvSpPr>
        <p:spPr>
          <a:xfrm>
            <a:off x="4001526" y="3873941"/>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0%</a:t>
            </a:r>
            <a:endParaRPr/>
          </a:p>
        </p:txBody>
      </p:sp>
      <p:sp>
        <p:nvSpPr>
          <p:cNvPr id="144" name="Google Shape;691;p10">
            <a:extLst>
              <a:ext uri="{FF2B5EF4-FFF2-40B4-BE49-F238E27FC236}">
                <a16:creationId xmlns:a16="http://schemas.microsoft.com/office/drawing/2014/main" id="{C2714926-3784-4EEF-811F-D8C86AFF6050}"/>
              </a:ext>
            </a:extLst>
          </p:cNvPr>
          <p:cNvSpPr/>
          <p:nvPr/>
        </p:nvSpPr>
        <p:spPr>
          <a:xfrm>
            <a:off x="5605906" y="3433376"/>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60%</a:t>
            </a:r>
            <a:endParaRPr/>
          </a:p>
        </p:txBody>
      </p:sp>
      <p:sp>
        <p:nvSpPr>
          <p:cNvPr id="145" name="Google Shape;692;p10">
            <a:extLst>
              <a:ext uri="{FF2B5EF4-FFF2-40B4-BE49-F238E27FC236}">
                <a16:creationId xmlns:a16="http://schemas.microsoft.com/office/drawing/2014/main" id="{4696673A-9685-426B-BA15-2F83A546BA05}"/>
              </a:ext>
            </a:extLst>
          </p:cNvPr>
          <p:cNvSpPr/>
          <p:nvPr/>
        </p:nvSpPr>
        <p:spPr>
          <a:xfrm>
            <a:off x="5619601" y="3865194"/>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0%</a:t>
            </a:r>
            <a:endParaRPr/>
          </a:p>
        </p:txBody>
      </p:sp>
      <p:sp>
        <p:nvSpPr>
          <p:cNvPr id="146" name="Google Shape;775;p10">
            <a:extLst>
              <a:ext uri="{FF2B5EF4-FFF2-40B4-BE49-F238E27FC236}">
                <a16:creationId xmlns:a16="http://schemas.microsoft.com/office/drawing/2014/main" id="{B0ED83DE-EEE3-4C62-9DD1-8FA9D77FBBB7}"/>
              </a:ext>
            </a:extLst>
          </p:cNvPr>
          <p:cNvSpPr/>
          <p:nvPr/>
        </p:nvSpPr>
        <p:spPr>
          <a:xfrm>
            <a:off x="21235" y="2496191"/>
            <a:ext cx="1993940" cy="400110"/>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 name="Google Shape;775;p10">
            <a:extLst>
              <a:ext uri="{FF2B5EF4-FFF2-40B4-BE49-F238E27FC236}">
                <a16:creationId xmlns:a16="http://schemas.microsoft.com/office/drawing/2014/main" id="{6BE17FA3-34D7-49FD-B9D5-2B69BF4AA505}"/>
              </a:ext>
            </a:extLst>
          </p:cNvPr>
          <p:cNvSpPr/>
          <p:nvPr/>
        </p:nvSpPr>
        <p:spPr>
          <a:xfrm>
            <a:off x="-12862" y="3314049"/>
            <a:ext cx="1993940" cy="400110"/>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12"/>
          <p:cNvSpPr/>
          <p:nvPr/>
        </p:nvSpPr>
        <p:spPr>
          <a:xfrm>
            <a:off x="114486" y="88904"/>
            <a:ext cx="945716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Advanced Analysis and Feature Building – Features Building</a:t>
            </a:r>
            <a:endParaRPr sz="2000" b="1" i="0" u="none" strike="noStrike" cap="none" dirty="0">
              <a:solidFill>
                <a:srgbClr val="FF0000"/>
              </a:solidFill>
              <a:latin typeface="Century Gothic"/>
              <a:ea typeface="Century Gothic"/>
              <a:cs typeface="Century Gothic"/>
              <a:sym typeface="Century Gothic"/>
            </a:endParaRPr>
          </a:p>
        </p:txBody>
      </p:sp>
      <p:sp>
        <p:nvSpPr>
          <p:cNvPr id="801" name="Google Shape;801;p12"/>
          <p:cNvSpPr txBox="1"/>
          <p:nvPr/>
        </p:nvSpPr>
        <p:spPr>
          <a:xfrm>
            <a:off x="142272" y="489014"/>
            <a:ext cx="11796203" cy="212365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dirty="0">
                <a:solidFill>
                  <a:schemeClr val="dk1"/>
                </a:solidFill>
                <a:latin typeface="Century Gothic"/>
                <a:ea typeface="Century Gothic"/>
                <a:cs typeface="Century Gothic"/>
                <a:sym typeface="Century Gothic"/>
              </a:rPr>
              <a:t>1) Tenure hours = last transactions time – first transactions time, I assume this tenure matrix from first time and last time customer bought and might be useful to indicate the churners because my hypothesis customer who left Traveloka usually have small tenure and they only find the promo and one time use </a:t>
            </a:r>
            <a:endParaRPr dirty="0"/>
          </a:p>
          <a:p>
            <a:pPr marL="0" marR="0" lvl="0" indent="0" algn="l" rtl="0">
              <a:spcBef>
                <a:spcPts val="0"/>
              </a:spcBef>
              <a:spcAft>
                <a:spcPts val="0"/>
              </a:spcAft>
              <a:buNone/>
            </a:pPr>
            <a:r>
              <a:rPr lang="en-US" sz="1200" dirty="0">
                <a:solidFill>
                  <a:schemeClr val="dk1"/>
                </a:solidFill>
                <a:latin typeface="Century Gothic"/>
                <a:ea typeface="Century Gothic"/>
                <a:cs typeface="Century Gothic"/>
                <a:sym typeface="Century Gothic"/>
              </a:rPr>
              <a:t>2) Pct success transaction = success transaction rate by dividing count issued  with count booking, this features to measure how percentage customer success finishing the payment issued process from booking</a:t>
            </a:r>
            <a:endParaRPr dirty="0"/>
          </a:p>
          <a:p>
            <a:pPr marL="0" marR="0" lvl="0" indent="0" algn="l" rtl="0">
              <a:spcBef>
                <a:spcPts val="0"/>
              </a:spcBef>
              <a:spcAft>
                <a:spcPts val="0"/>
              </a:spcAft>
              <a:buNone/>
            </a:pPr>
            <a:r>
              <a:rPr lang="en-US" sz="1200" dirty="0">
                <a:solidFill>
                  <a:schemeClr val="dk1"/>
                </a:solidFill>
                <a:latin typeface="Century Gothic"/>
                <a:ea typeface="Century Gothic"/>
                <a:cs typeface="Century Gothic"/>
                <a:sym typeface="Century Gothic"/>
              </a:rPr>
              <a:t>3) Invoice per count issued = this features may look average of churn because often to buy expensive product or buying a lot of cheap product</a:t>
            </a:r>
            <a:endParaRPr dirty="0"/>
          </a:p>
          <a:p>
            <a:pPr marL="0" marR="0" lvl="0" indent="0" algn="l" rtl="0">
              <a:spcBef>
                <a:spcPts val="0"/>
              </a:spcBef>
              <a:spcAft>
                <a:spcPts val="0"/>
              </a:spcAft>
              <a:buNone/>
            </a:pPr>
            <a:r>
              <a:rPr lang="en-US" sz="1200" dirty="0">
                <a:solidFill>
                  <a:schemeClr val="dk1"/>
                </a:solidFill>
                <a:latin typeface="Century Gothic"/>
                <a:ea typeface="Century Gothic"/>
                <a:cs typeface="Century Gothic"/>
                <a:sym typeface="Century Gothic"/>
              </a:rPr>
              <a:t>4) Invoice per count booking = this features may look average of churn because often to booked expensive product or booked a lot of cheap product</a:t>
            </a:r>
            <a:endParaRPr dirty="0"/>
          </a:p>
          <a:p>
            <a:pPr marL="0" marR="0" lvl="0" indent="0" algn="l" rtl="0">
              <a:spcBef>
                <a:spcPts val="0"/>
              </a:spcBef>
              <a:spcAft>
                <a:spcPts val="0"/>
              </a:spcAft>
              <a:buNone/>
            </a:pPr>
            <a:r>
              <a:rPr lang="en-US" sz="1200" dirty="0">
                <a:solidFill>
                  <a:schemeClr val="dk1"/>
                </a:solidFill>
                <a:latin typeface="Century Gothic"/>
                <a:ea typeface="Century Gothic"/>
                <a:cs typeface="Century Gothic"/>
                <a:sym typeface="Century Gothic"/>
              </a:rPr>
              <a:t>5) Diff last first issued time days = subtracting last booking time with first booking time to measure how range of time distance from first issued to last issued</a:t>
            </a:r>
            <a:endParaRPr dirty="0"/>
          </a:p>
          <a:p>
            <a:pPr marL="0" marR="0" lvl="0" indent="0" algn="l" rtl="0">
              <a:spcBef>
                <a:spcPts val="0"/>
              </a:spcBef>
              <a:spcAft>
                <a:spcPts val="0"/>
              </a:spcAft>
              <a:buNone/>
            </a:pPr>
            <a:r>
              <a:rPr lang="en-US" sz="1200" dirty="0">
                <a:solidFill>
                  <a:schemeClr val="dk1"/>
                </a:solidFill>
                <a:latin typeface="Century Gothic"/>
                <a:ea typeface="Century Gothic"/>
                <a:cs typeface="Century Gothic"/>
                <a:sym typeface="Century Gothic"/>
              </a:rPr>
              <a:t>6) Diff last first booking time days = subtracting last booking time with first booking time to measure how range of time distance from first booking to last booking</a:t>
            </a:r>
            <a:endParaRPr dirty="0"/>
          </a:p>
          <a:p>
            <a:pPr marL="0" marR="0" lvl="0" indent="0" algn="l" rtl="0">
              <a:spcBef>
                <a:spcPts val="0"/>
              </a:spcBef>
              <a:spcAft>
                <a:spcPts val="0"/>
              </a:spcAft>
              <a:buNone/>
            </a:pPr>
            <a:r>
              <a:rPr lang="en-US" sz="1200" dirty="0">
                <a:solidFill>
                  <a:schemeClr val="dk1"/>
                </a:solidFill>
                <a:latin typeface="Century Gothic"/>
                <a:ea typeface="Century Gothic"/>
                <a:cs typeface="Century Gothic"/>
                <a:sym typeface="Century Gothic"/>
              </a:rPr>
              <a:t>7) Diff last issued booking time hours = subtracting last issued time with last booking time to find out how payment process from check out until end in which it probably indicates the UI/UX is good because the payment process is fast and easy</a:t>
            </a:r>
            <a:endParaRPr dirty="0"/>
          </a:p>
        </p:txBody>
      </p:sp>
      <p:pic>
        <p:nvPicPr>
          <p:cNvPr id="802" name="Google Shape;802;p12"/>
          <p:cNvPicPr preferRelativeResize="0"/>
          <p:nvPr/>
        </p:nvPicPr>
        <p:blipFill rotWithShape="1">
          <a:blip r:embed="rId3">
            <a:alphaModFix/>
          </a:blip>
          <a:srcRect/>
          <a:stretch/>
        </p:blipFill>
        <p:spPr>
          <a:xfrm>
            <a:off x="298911" y="3043559"/>
            <a:ext cx="5452014" cy="3449520"/>
          </a:xfrm>
          <a:prstGeom prst="rect">
            <a:avLst/>
          </a:prstGeom>
          <a:noFill/>
          <a:ln>
            <a:noFill/>
          </a:ln>
        </p:spPr>
      </p:pic>
      <p:pic>
        <p:nvPicPr>
          <p:cNvPr id="803" name="Google Shape;803;p12"/>
          <p:cNvPicPr preferRelativeResize="0"/>
          <p:nvPr/>
        </p:nvPicPr>
        <p:blipFill rotWithShape="1">
          <a:blip r:embed="rId4">
            <a:alphaModFix/>
          </a:blip>
          <a:srcRect/>
          <a:stretch/>
        </p:blipFill>
        <p:spPr>
          <a:xfrm>
            <a:off x="5783868" y="3256764"/>
            <a:ext cx="5812427" cy="1346782"/>
          </a:xfrm>
          <a:prstGeom prst="rect">
            <a:avLst/>
          </a:prstGeom>
          <a:noFill/>
          <a:ln>
            <a:noFill/>
          </a:ln>
        </p:spPr>
      </p:pic>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13"/>
          <p:cNvSpPr/>
          <p:nvPr/>
        </p:nvSpPr>
        <p:spPr>
          <a:xfrm>
            <a:off x="114486" y="88904"/>
            <a:ext cx="945716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Advanced Analysis and Feature Building – Summary New Features</a:t>
            </a:r>
            <a:endParaRPr sz="2000" b="1" i="0" u="none" strike="noStrike" cap="none" dirty="0">
              <a:solidFill>
                <a:srgbClr val="FF0000"/>
              </a:solidFill>
              <a:latin typeface="Century Gothic"/>
              <a:ea typeface="Century Gothic"/>
              <a:cs typeface="Century Gothic"/>
              <a:sym typeface="Century Gothic"/>
            </a:endParaRPr>
          </a:p>
        </p:txBody>
      </p:sp>
      <p:pic>
        <p:nvPicPr>
          <p:cNvPr id="810" name="Google Shape;810;p13" descr="Airplane"/>
          <p:cNvPicPr preferRelativeResize="0"/>
          <p:nvPr/>
        </p:nvPicPr>
        <p:blipFill rotWithShape="1">
          <a:blip r:embed="rId3">
            <a:alphaModFix/>
          </a:blip>
          <a:srcRect/>
          <a:stretch/>
        </p:blipFill>
        <p:spPr>
          <a:xfrm>
            <a:off x="3495203" y="1268842"/>
            <a:ext cx="360000" cy="360000"/>
          </a:xfrm>
          <a:prstGeom prst="rect">
            <a:avLst/>
          </a:prstGeom>
          <a:noFill/>
          <a:ln>
            <a:noFill/>
          </a:ln>
        </p:spPr>
      </p:pic>
      <p:pic>
        <p:nvPicPr>
          <p:cNvPr id="811" name="Google Shape;811;p13" descr="Train"/>
          <p:cNvPicPr preferRelativeResize="0"/>
          <p:nvPr/>
        </p:nvPicPr>
        <p:blipFill rotWithShape="1">
          <a:blip r:embed="rId4">
            <a:alphaModFix/>
          </a:blip>
          <a:srcRect/>
          <a:stretch/>
        </p:blipFill>
        <p:spPr>
          <a:xfrm>
            <a:off x="6772812" y="1253852"/>
            <a:ext cx="360000" cy="360000"/>
          </a:xfrm>
          <a:prstGeom prst="rect">
            <a:avLst/>
          </a:prstGeom>
          <a:noFill/>
          <a:ln>
            <a:noFill/>
          </a:ln>
        </p:spPr>
      </p:pic>
      <p:pic>
        <p:nvPicPr>
          <p:cNvPr id="812" name="Google Shape;812;p13" descr="Send"/>
          <p:cNvPicPr preferRelativeResize="0"/>
          <p:nvPr/>
        </p:nvPicPr>
        <p:blipFill rotWithShape="1">
          <a:blip r:embed="rId5">
            <a:alphaModFix/>
          </a:blip>
          <a:srcRect/>
          <a:stretch/>
        </p:blipFill>
        <p:spPr>
          <a:xfrm>
            <a:off x="8428863" y="1268842"/>
            <a:ext cx="360000" cy="360000"/>
          </a:xfrm>
          <a:prstGeom prst="rect">
            <a:avLst/>
          </a:prstGeom>
          <a:noFill/>
          <a:ln>
            <a:noFill/>
          </a:ln>
        </p:spPr>
      </p:pic>
      <p:pic>
        <p:nvPicPr>
          <p:cNvPr id="813" name="Google Shape;813;p13" descr="Building"/>
          <p:cNvPicPr preferRelativeResize="0"/>
          <p:nvPr/>
        </p:nvPicPr>
        <p:blipFill rotWithShape="1">
          <a:blip r:embed="rId6">
            <a:alphaModFix/>
          </a:blip>
          <a:srcRect/>
          <a:stretch/>
        </p:blipFill>
        <p:spPr>
          <a:xfrm>
            <a:off x="5103637" y="1271993"/>
            <a:ext cx="360000" cy="360000"/>
          </a:xfrm>
          <a:prstGeom prst="rect">
            <a:avLst/>
          </a:prstGeom>
          <a:noFill/>
          <a:ln>
            <a:noFill/>
          </a:ln>
        </p:spPr>
      </p:pic>
      <p:cxnSp>
        <p:nvCxnSpPr>
          <p:cNvPr id="814" name="Google Shape;814;p13"/>
          <p:cNvCxnSpPr>
            <a:cxnSpLocks/>
          </p:cNvCxnSpPr>
          <p:nvPr/>
        </p:nvCxnSpPr>
        <p:spPr>
          <a:xfrm>
            <a:off x="2985991" y="1821094"/>
            <a:ext cx="1442313" cy="0"/>
          </a:xfrm>
          <a:prstGeom prst="straightConnector1">
            <a:avLst/>
          </a:prstGeom>
          <a:noFill/>
          <a:ln w="9525" cap="flat" cmpd="sng">
            <a:solidFill>
              <a:srgbClr val="FF0000"/>
            </a:solidFill>
            <a:prstDash val="solid"/>
            <a:miter lim="800000"/>
            <a:headEnd type="none" w="sm" len="sm"/>
            <a:tailEnd type="none" w="sm" len="sm"/>
          </a:ln>
        </p:spPr>
      </p:cxnSp>
      <p:sp>
        <p:nvSpPr>
          <p:cNvPr id="815" name="Google Shape;815;p13"/>
          <p:cNvSpPr txBox="1"/>
          <p:nvPr/>
        </p:nvSpPr>
        <p:spPr>
          <a:xfrm>
            <a:off x="3262430" y="1597514"/>
            <a:ext cx="825547" cy="250884"/>
          </a:xfrm>
          <a:prstGeom prst="rect">
            <a:avLst/>
          </a:prstGeom>
          <a:noFill/>
          <a:ln>
            <a:noFill/>
          </a:ln>
        </p:spPr>
        <p:txBody>
          <a:bodyPr spcFirstLastPara="1" wrap="square" lIns="0" tIns="0" rIns="0" bIns="0" anchor="t" anchorCtr="0">
            <a:noAutofit/>
          </a:bodyPr>
          <a:lstStyle/>
          <a:p>
            <a:pPr marL="0" marR="0" lvl="0" indent="-76200" algn="ctr" rtl="0">
              <a:lnSpc>
                <a:spcPct val="100000"/>
              </a:lnSpc>
              <a:spcBef>
                <a:spcPts val="0"/>
              </a:spcBef>
              <a:spcAft>
                <a:spcPts val="0"/>
              </a:spcAft>
              <a:buClr>
                <a:srgbClr val="00B0F0"/>
              </a:buClr>
              <a:buSzPts val="1200"/>
              <a:buFont typeface="Quattrocento Sans"/>
              <a:buChar char="​"/>
            </a:pPr>
            <a:r>
              <a:rPr lang="en-US" sz="1200" b="1" i="0" u="none" strike="noStrike" cap="none" dirty="0">
                <a:solidFill>
                  <a:srgbClr val="FF0000"/>
                </a:solidFill>
                <a:latin typeface="Century Gothic"/>
                <a:ea typeface="Century Gothic"/>
                <a:cs typeface="Century Gothic"/>
                <a:sym typeface="Century Gothic"/>
              </a:rPr>
              <a:t>Flight</a:t>
            </a:r>
            <a:endParaRPr dirty="0">
              <a:solidFill>
                <a:srgbClr val="FF0000"/>
              </a:solidFill>
            </a:endParaRPr>
          </a:p>
        </p:txBody>
      </p:sp>
      <p:sp>
        <p:nvSpPr>
          <p:cNvPr id="816" name="Google Shape;816;p13"/>
          <p:cNvSpPr txBox="1"/>
          <p:nvPr/>
        </p:nvSpPr>
        <p:spPr>
          <a:xfrm>
            <a:off x="2892554" y="1820040"/>
            <a:ext cx="48122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Churns</a:t>
            </a:r>
            <a:endParaRPr dirty="0">
              <a:solidFill>
                <a:srgbClr val="FF0000"/>
              </a:solidFill>
            </a:endParaRPr>
          </a:p>
        </p:txBody>
      </p:sp>
      <p:sp>
        <p:nvSpPr>
          <p:cNvPr id="817" name="Google Shape;817;p13"/>
          <p:cNvSpPr txBox="1"/>
          <p:nvPr/>
        </p:nvSpPr>
        <p:spPr>
          <a:xfrm>
            <a:off x="3317800" y="1816982"/>
            <a:ext cx="71480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Non-churns</a:t>
            </a:r>
            <a:endParaRPr dirty="0">
              <a:solidFill>
                <a:srgbClr val="FF0000"/>
              </a:solidFill>
            </a:endParaRPr>
          </a:p>
        </p:txBody>
      </p:sp>
      <p:sp>
        <p:nvSpPr>
          <p:cNvPr id="818" name="Google Shape;818;p13"/>
          <p:cNvSpPr txBox="1"/>
          <p:nvPr/>
        </p:nvSpPr>
        <p:spPr>
          <a:xfrm>
            <a:off x="3921284" y="1816982"/>
            <a:ext cx="46839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diff(%)</a:t>
            </a:r>
            <a:endParaRPr dirty="0">
              <a:solidFill>
                <a:srgbClr val="FF0000"/>
              </a:solidFill>
            </a:endParaRPr>
          </a:p>
        </p:txBody>
      </p:sp>
      <p:sp>
        <p:nvSpPr>
          <p:cNvPr id="819" name="Google Shape;819;p13"/>
          <p:cNvSpPr txBox="1"/>
          <p:nvPr/>
        </p:nvSpPr>
        <p:spPr>
          <a:xfrm>
            <a:off x="67822" y="1673650"/>
            <a:ext cx="758541"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rgbClr val="FF0000"/>
                </a:solidFill>
                <a:latin typeface="Century Gothic"/>
                <a:ea typeface="Century Gothic"/>
                <a:cs typeface="Century Gothic"/>
                <a:sym typeface="Century Gothic"/>
              </a:rPr>
              <a:t>Features</a:t>
            </a:r>
            <a:endParaRPr dirty="0">
              <a:solidFill>
                <a:srgbClr val="FF0000"/>
              </a:solidFill>
            </a:endParaRPr>
          </a:p>
        </p:txBody>
      </p:sp>
      <p:sp>
        <p:nvSpPr>
          <p:cNvPr id="820" name="Google Shape;820;p13"/>
          <p:cNvSpPr txBox="1"/>
          <p:nvPr/>
        </p:nvSpPr>
        <p:spPr>
          <a:xfrm>
            <a:off x="2192880" y="1767496"/>
            <a:ext cx="436338"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dirty="0">
                <a:solidFill>
                  <a:srgbClr val="FF0000"/>
                </a:solidFill>
                <a:latin typeface="Calibri"/>
                <a:ea typeface="Calibri"/>
                <a:cs typeface="Calibri"/>
                <a:sym typeface="Calibri"/>
              </a:rPr>
              <a:t>Unit</a:t>
            </a:r>
            <a:endParaRPr dirty="0">
              <a:solidFill>
                <a:srgbClr val="FF0000"/>
              </a:solidFill>
            </a:endParaRPr>
          </a:p>
        </p:txBody>
      </p:sp>
      <p:sp>
        <p:nvSpPr>
          <p:cNvPr id="821" name="Google Shape;821;p13"/>
          <p:cNvSpPr txBox="1"/>
          <p:nvPr/>
        </p:nvSpPr>
        <p:spPr>
          <a:xfrm>
            <a:off x="34750" y="2200939"/>
            <a:ext cx="842561" cy="199531"/>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Tenure</a:t>
            </a:r>
            <a:endParaRPr dirty="0">
              <a:solidFill>
                <a:srgbClr val="FF0000"/>
              </a:solidFill>
            </a:endParaRPr>
          </a:p>
        </p:txBody>
      </p:sp>
      <p:sp>
        <p:nvSpPr>
          <p:cNvPr id="822" name="Google Shape;822;p13"/>
          <p:cNvSpPr txBox="1"/>
          <p:nvPr/>
        </p:nvSpPr>
        <p:spPr>
          <a:xfrm>
            <a:off x="21904" y="2593340"/>
            <a:ext cx="1773094" cy="25391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Percentage s</a:t>
            </a:r>
            <a:r>
              <a:rPr lang="en-US" sz="800" b="1" dirty="0">
                <a:solidFill>
                  <a:srgbClr val="FF0000"/>
                </a:solidFill>
                <a:latin typeface="Century Gothic"/>
                <a:ea typeface="Century Gothic"/>
                <a:cs typeface="Century Gothic"/>
                <a:sym typeface="Century Gothic"/>
              </a:rPr>
              <a:t>uccess transactions</a:t>
            </a:r>
            <a:endParaRPr sz="800" b="1" i="0" u="none" strike="noStrike" cap="none" dirty="0">
              <a:solidFill>
                <a:srgbClr val="FF0000"/>
              </a:solidFill>
              <a:latin typeface="Century Gothic"/>
              <a:ea typeface="Century Gothic"/>
              <a:cs typeface="Century Gothic"/>
              <a:sym typeface="Century Gothic"/>
            </a:endParaRPr>
          </a:p>
        </p:txBody>
      </p:sp>
      <p:sp>
        <p:nvSpPr>
          <p:cNvPr id="823" name="Google Shape;823;p13"/>
          <p:cNvSpPr txBox="1"/>
          <p:nvPr/>
        </p:nvSpPr>
        <p:spPr>
          <a:xfrm>
            <a:off x="30476" y="3010827"/>
            <a:ext cx="1436647" cy="17526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dirty="0">
                <a:solidFill>
                  <a:srgbClr val="FF0000"/>
                </a:solidFill>
                <a:latin typeface="Century Gothic"/>
                <a:ea typeface="Century Gothic"/>
                <a:cs typeface="Century Gothic"/>
                <a:sym typeface="Century Gothic"/>
              </a:rPr>
              <a:t>Invoice per count issued</a:t>
            </a:r>
            <a:endParaRPr sz="800" b="1" i="0" u="none" strike="noStrike" cap="none" dirty="0">
              <a:solidFill>
                <a:srgbClr val="FF0000"/>
              </a:solidFill>
              <a:latin typeface="Century Gothic"/>
              <a:ea typeface="Century Gothic"/>
              <a:cs typeface="Century Gothic"/>
              <a:sym typeface="Century Gothic"/>
            </a:endParaRPr>
          </a:p>
        </p:txBody>
      </p:sp>
      <p:sp>
        <p:nvSpPr>
          <p:cNvPr id="824" name="Google Shape;824;p13"/>
          <p:cNvSpPr txBox="1"/>
          <p:nvPr/>
        </p:nvSpPr>
        <p:spPr>
          <a:xfrm>
            <a:off x="57844" y="3911100"/>
            <a:ext cx="1480327" cy="213393"/>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dirty="0">
                <a:solidFill>
                  <a:srgbClr val="FF0000"/>
                </a:solidFill>
                <a:latin typeface="Century Gothic"/>
                <a:ea typeface="Century Gothic"/>
                <a:cs typeface="Century Gothic"/>
                <a:sym typeface="Century Gothic"/>
              </a:rPr>
              <a:t>Delta last first issued time</a:t>
            </a:r>
            <a:endParaRPr sz="800" b="1" i="0" u="none" strike="noStrike" cap="none" dirty="0">
              <a:solidFill>
                <a:srgbClr val="FF0000"/>
              </a:solidFill>
              <a:latin typeface="Century Gothic"/>
              <a:ea typeface="Century Gothic"/>
              <a:cs typeface="Century Gothic"/>
              <a:sym typeface="Century Gothic"/>
            </a:endParaRPr>
          </a:p>
        </p:txBody>
      </p:sp>
      <p:sp>
        <p:nvSpPr>
          <p:cNvPr id="825" name="Google Shape;825;p13"/>
          <p:cNvSpPr txBox="1"/>
          <p:nvPr/>
        </p:nvSpPr>
        <p:spPr>
          <a:xfrm>
            <a:off x="2119828" y="2140738"/>
            <a:ext cx="593172" cy="15124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In Hours</a:t>
            </a:r>
            <a:endParaRPr dirty="0">
              <a:solidFill>
                <a:srgbClr val="FF0000"/>
              </a:solidFill>
            </a:endParaRPr>
          </a:p>
        </p:txBody>
      </p:sp>
      <p:sp>
        <p:nvSpPr>
          <p:cNvPr id="826" name="Google Shape;826;p13"/>
          <p:cNvSpPr txBox="1"/>
          <p:nvPr/>
        </p:nvSpPr>
        <p:spPr>
          <a:xfrm>
            <a:off x="2114463" y="2618164"/>
            <a:ext cx="593172" cy="15124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In </a:t>
            </a:r>
            <a:r>
              <a:rPr lang="en-US" sz="800" b="1" dirty="0">
                <a:solidFill>
                  <a:srgbClr val="FF0000"/>
                </a:solidFill>
                <a:latin typeface="Century Gothic"/>
                <a:ea typeface="Century Gothic"/>
                <a:cs typeface="Century Gothic"/>
                <a:sym typeface="Century Gothic"/>
              </a:rPr>
              <a:t>%</a:t>
            </a:r>
            <a:endParaRPr sz="800" b="1" i="0" u="none" strike="noStrike" cap="none" dirty="0">
              <a:solidFill>
                <a:srgbClr val="FF0000"/>
              </a:solidFill>
              <a:latin typeface="Century Gothic"/>
              <a:ea typeface="Century Gothic"/>
              <a:cs typeface="Century Gothic"/>
              <a:sym typeface="Century Gothic"/>
            </a:endParaRPr>
          </a:p>
        </p:txBody>
      </p:sp>
      <p:sp>
        <p:nvSpPr>
          <p:cNvPr id="827" name="Google Shape;827;p13"/>
          <p:cNvSpPr txBox="1"/>
          <p:nvPr/>
        </p:nvSpPr>
        <p:spPr>
          <a:xfrm>
            <a:off x="2102737" y="3010827"/>
            <a:ext cx="593172" cy="15124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In Million</a:t>
            </a:r>
            <a:endParaRPr dirty="0">
              <a:solidFill>
                <a:srgbClr val="FF0000"/>
              </a:solidFill>
            </a:endParaRPr>
          </a:p>
        </p:txBody>
      </p:sp>
      <p:sp>
        <p:nvSpPr>
          <p:cNvPr id="828" name="Google Shape;828;p13"/>
          <p:cNvSpPr txBox="1"/>
          <p:nvPr/>
        </p:nvSpPr>
        <p:spPr>
          <a:xfrm>
            <a:off x="2114463" y="3498007"/>
            <a:ext cx="593172" cy="15124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In Million</a:t>
            </a:r>
            <a:endParaRPr dirty="0">
              <a:solidFill>
                <a:srgbClr val="FF0000"/>
              </a:solidFill>
            </a:endParaRPr>
          </a:p>
        </p:txBody>
      </p:sp>
      <p:sp>
        <p:nvSpPr>
          <p:cNvPr id="829" name="Google Shape;829;p13"/>
          <p:cNvSpPr/>
          <p:nvPr/>
        </p:nvSpPr>
        <p:spPr>
          <a:xfrm>
            <a:off x="3983678" y="2109529"/>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68%</a:t>
            </a:r>
            <a:endParaRPr/>
          </a:p>
        </p:txBody>
      </p:sp>
      <p:sp>
        <p:nvSpPr>
          <p:cNvPr id="830" name="Google Shape;830;p13"/>
          <p:cNvSpPr/>
          <p:nvPr/>
        </p:nvSpPr>
        <p:spPr>
          <a:xfrm>
            <a:off x="3983678" y="2548698"/>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28%</a:t>
            </a:r>
            <a:endParaRPr/>
          </a:p>
        </p:txBody>
      </p:sp>
      <p:sp>
        <p:nvSpPr>
          <p:cNvPr id="831" name="Google Shape;831;p13"/>
          <p:cNvSpPr/>
          <p:nvPr/>
        </p:nvSpPr>
        <p:spPr>
          <a:xfrm>
            <a:off x="3983678" y="2985899"/>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11%</a:t>
            </a:r>
            <a:endParaRPr/>
          </a:p>
        </p:txBody>
      </p:sp>
      <p:sp>
        <p:nvSpPr>
          <p:cNvPr id="832" name="Google Shape;832;p13"/>
          <p:cNvSpPr/>
          <p:nvPr/>
        </p:nvSpPr>
        <p:spPr>
          <a:xfrm>
            <a:off x="3987831" y="3443752"/>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46%</a:t>
            </a:r>
            <a:endParaRPr/>
          </a:p>
        </p:txBody>
      </p:sp>
      <p:sp>
        <p:nvSpPr>
          <p:cNvPr id="833" name="Google Shape;833;p13"/>
          <p:cNvSpPr/>
          <p:nvPr/>
        </p:nvSpPr>
        <p:spPr>
          <a:xfrm>
            <a:off x="4001526" y="3875570"/>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69%</a:t>
            </a:r>
            <a:endParaRPr/>
          </a:p>
        </p:txBody>
      </p:sp>
      <p:cxnSp>
        <p:nvCxnSpPr>
          <p:cNvPr id="834" name="Google Shape;834;p13"/>
          <p:cNvCxnSpPr>
            <a:cxnSpLocks/>
          </p:cNvCxnSpPr>
          <p:nvPr/>
        </p:nvCxnSpPr>
        <p:spPr>
          <a:xfrm>
            <a:off x="4604066" y="1812347"/>
            <a:ext cx="1442313" cy="0"/>
          </a:xfrm>
          <a:prstGeom prst="straightConnector1">
            <a:avLst/>
          </a:prstGeom>
          <a:noFill/>
          <a:ln w="9525" cap="flat" cmpd="sng">
            <a:solidFill>
              <a:srgbClr val="FF0000"/>
            </a:solidFill>
            <a:prstDash val="solid"/>
            <a:miter lim="800000"/>
            <a:headEnd type="none" w="sm" len="sm"/>
            <a:tailEnd type="none" w="sm" len="sm"/>
          </a:ln>
        </p:spPr>
      </p:cxnSp>
      <p:sp>
        <p:nvSpPr>
          <p:cNvPr id="835" name="Google Shape;835;p13"/>
          <p:cNvSpPr txBox="1"/>
          <p:nvPr/>
        </p:nvSpPr>
        <p:spPr>
          <a:xfrm>
            <a:off x="4880505" y="1588767"/>
            <a:ext cx="825547" cy="250884"/>
          </a:xfrm>
          <a:prstGeom prst="rect">
            <a:avLst/>
          </a:prstGeom>
          <a:noFill/>
          <a:ln>
            <a:noFill/>
          </a:ln>
        </p:spPr>
        <p:txBody>
          <a:bodyPr spcFirstLastPara="1" wrap="square" lIns="0" tIns="0" rIns="0" bIns="0" anchor="t" anchorCtr="0">
            <a:noAutofit/>
          </a:bodyPr>
          <a:lstStyle/>
          <a:p>
            <a:pPr marL="0" marR="0" lvl="0" indent="-76200" algn="ctr" rtl="0">
              <a:lnSpc>
                <a:spcPct val="100000"/>
              </a:lnSpc>
              <a:spcBef>
                <a:spcPts val="0"/>
              </a:spcBef>
              <a:spcAft>
                <a:spcPts val="0"/>
              </a:spcAft>
              <a:buClr>
                <a:srgbClr val="00B0F0"/>
              </a:buClr>
              <a:buSzPts val="1200"/>
              <a:buFont typeface="Quattrocento Sans"/>
              <a:buChar char="​"/>
            </a:pPr>
            <a:r>
              <a:rPr lang="en-US" sz="1200" b="1" i="0" u="none" strike="noStrike" cap="none" dirty="0">
                <a:solidFill>
                  <a:srgbClr val="FF0000"/>
                </a:solidFill>
                <a:latin typeface="Century Gothic"/>
                <a:ea typeface="Century Gothic"/>
                <a:cs typeface="Century Gothic"/>
                <a:sym typeface="Century Gothic"/>
              </a:rPr>
              <a:t>Hotel</a:t>
            </a:r>
            <a:endParaRPr dirty="0">
              <a:solidFill>
                <a:srgbClr val="FF0000"/>
              </a:solidFill>
            </a:endParaRPr>
          </a:p>
        </p:txBody>
      </p:sp>
      <p:sp>
        <p:nvSpPr>
          <p:cNvPr id="836" name="Google Shape;836;p13"/>
          <p:cNvSpPr txBox="1"/>
          <p:nvPr/>
        </p:nvSpPr>
        <p:spPr>
          <a:xfrm>
            <a:off x="4524998" y="1812347"/>
            <a:ext cx="48122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Churns</a:t>
            </a:r>
            <a:endParaRPr dirty="0">
              <a:solidFill>
                <a:srgbClr val="FF0000"/>
              </a:solidFill>
            </a:endParaRPr>
          </a:p>
        </p:txBody>
      </p:sp>
      <p:sp>
        <p:nvSpPr>
          <p:cNvPr id="837" name="Google Shape;837;p13"/>
          <p:cNvSpPr txBox="1"/>
          <p:nvPr/>
        </p:nvSpPr>
        <p:spPr>
          <a:xfrm>
            <a:off x="4935875" y="1808235"/>
            <a:ext cx="71480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Non-churns</a:t>
            </a:r>
            <a:endParaRPr dirty="0">
              <a:solidFill>
                <a:srgbClr val="FF0000"/>
              </a:solidFill>
            </a:endParaRPr>
          </a:p>
        </p:txBody>
      </p:sp>
      <p:sp>
        <p:nvSpPr>
          <p:cNvPr id="838" name="Google Shape;838;p13"/>
          <p:cNvSpPr txBox="1"/>
          <p:nvPr/>
        </p:nvSpPr>
        <p:spPr>
          <a:xfrm>
            <a:off x="5539359" y="1808235"/>
            <a:ext cx="46839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diff(%)</a:t>
            </a:r>
            <a:endParaRPr dirty="0">
              <a:solidFill>
                <a:srgbClr val="FF0000"/>
              </a:solidFill>
            </a:endParaRPr>
          </a:p>
        </p:txBody>
      </p:sp>
      <p:sp>
        <p:nvSpPr>
          <p:cNvPr id="839" name="Google Shape;839;p13"/>
          <p:cNvSpPr/>
          <p:nvPr/>
        </p:nvSpPr>
        <p:spPr>
          <a:xfrm>
            <a:off x="5601753" y="2100782"/>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71%</a:t>
            </a:r>
            <a:endParaRPr/>
          </a:p>
        </p:txBody>
      </p:sp>
      <p:sp>
        <p:nvSpPr>
          <p:cNvPr id="840" name="Google Shape;840;p13"/>
          <p:cNvSpPr/>
          <p:nvPr/>
        </p:nvSpPr>
        <p:spPr>
          <a:xfrm>
            <a:off x="5601753" y="2539951"/>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23%</a:t>
            </a:r>
            <a:endParaRPr/>
          </a:p>
        </p:txBody>
      </p:sp>
      <p:sp>
        <p:nvSpPr>
          <p:cNvPr id="841" name="Google Shape;841;p13"/>
          <p:cNvSpPr/>
          <p:nvPr/>
        </p:nvSpPr>
        <p:spPr>
          <a:xfrm>
            <a:off x="5601753" y="2977152"/>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13%</a:t>
            </a:r>
            <a:endParaRPr/>
          </a:p>
        </p:txBody>
      </p:sp>
      <p:sp>
        <p:nvSpPr>
          <p:cNvPr id="842" name="Google Shape;842;p13"/>
          <p:cNvSpPr/>
          <p:nvPr/>
        </p:nvSpPr>
        <p:spPr>
          <a:xfrm>
            <a:off x="5605906" y="3435005"/>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80%</a:t>
            </a:r>
            <a:endParaRPr/>
          </a:p>
        </p:txBody>
      </p:sp>
      <p:sp>
        <p:nvSpPr>
          <p:cNvPr id="843" name="Google Shape;843;p13"/>
          <p:cNvSpPr/>
          <p:nvPr/>
        </p:nvSpPr>
        <p:spPr>
          <a:xfrm>
            <a:off x="5619601" y="3866823"/>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70%</a:t>
            </a:r>
            <a:endParaRPr/>
          </a:p>
        </p:txBody>
      </p:sp>
      <p:cxnSp>
        <p:nvCxnSpPr>
          <p:cNvPr id="844" name="Google Shape;844;p13"/>
          <p:cNvCxnSpPr>
            <a:cxnSpLocks/>
          </p:cNvCxnSpPr>
          <p:nvPr/>
        </p:nvCxnSpPr>
        <p:spPr>
          <a:xfrm>
            <a:off x="6282214" y="1810106"/>
            <a:ext cx="1442313" cy="0"/>
          </a:xfrm>
          <a:prstGeom prst="straightConnector1">
            <a:avLst/>
          </a:prstGeom>
          <a:noFill/>
          <a:ln w="9525" cap="flat" cmpd="sng">
            <a:solidFill>
              <a:srgbClr val="FF0000"/>
            </a:solidFill>
            <a:prstDash val="solid"/>
            <a:miter lim="800000"/>
            <a:headEnd type="none" w="sm" len="sm"/>
            <a:tailEnd type="none" w="sm" len="sm"/>
          </a:ln>
        </p:spPr>
      </p:cxnSp>
      <p:sp>
        <p:nvSpPr>
          <p:cNvPr id="845" name="Google Shape;845;p13"/>
          <p:cNvSpPr txBox="1"/>
          <p:nvPr/>
        </p:nvSpPr>
        <p:spPr>
          <a:xfrm>
            <a:off x="6558653" y="1586526"/>
            <a:ext cx="825547" cy="250884"/>
          </a:xfrm>
          <a:prstGeom prst="rect">
            <a:avLst/>
          </a:prstGeom>
          <a:noFill/>
          <a:ln>
            <a:noFill/>
          </a:ln>
        </p:spPr>
        <p:txBody>
          <a:bodyPr spcFirstLastPara="1" wrap="square" lIns="0" tIns="0" rIns="0" bIns="0" anchor="t" anchorCtr="0">
            <a:noAutofit/>
          </a:bodyPr>
          <a:lstStyle/>
          <a:p>
            <a:pPr marL="0" marR="0" lvl="0" indent="-76200" algn="ctr" rtl="0">
              <a:lnSpc>
                <a:spcPct val="100000"/>
              </a:lnSpc>
              <a:spcBef>
                <a:spcPts val="0"/>
              </a:spcBef>
              <a:spcAft>
                <a:spcPts val="0"/>
              </a:spcAft>
              <a:buClr>
                <a:srgbClr val="00B0F0"/>
              </a:buClr>
              <a:buSzPts val="1200"/>
              <a:buFont typeface="Quattrocento Sans"/>
              <a:buChar char="​"/>
            </a:pPr>
            <a:r>
              <a:rPr lang="en-US" sz="1200" b="1" i="0" u="none" strike="noStrike" cap="none" dirty="0">
                <a:solidFill>
                  <a:srgbClr val="FF0000"/>
                </a:solidFill>
                <a:latin typeface="Century Gothic"/>
                <a:ea typeface="Century Gothic"/>
                <a:cs typeface="Century Gothic"/>
                <a:sym typeface="Century Gothic"/>
              </a:rPr>
              <a:t>Train</a:t>
            </a:r>
            <a:endParaRPr dirty="0">
              <a:solidFill>
                <a:srgbClr val="FF0000"/>
              </a:solidFill>
            </a:endParaRPr>
          </a:p>
        </p:txBody>
      </p:sp>
      <p:sp>
        <p:nvSpPr>
          <p:cNvPr id="846" name="Google Shape;846;p13"/>
          <p:cNvSpPr txBox="1"/>
          <p:nvPr/>
        </p:nvSpPr>
        <p:spPr>
          <a:xfrm>
            <a:off x="6203146" y="1810106"/>
            <a:ext cx="48122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Churns</a:t>
            </a:r>
            <a:endParaRPr dirty="0">
              <a:solidFill>
                <a:srgbClr val="FF0000"/>
              </a:solidFill>
            </a:endParaRPr>
          </a:p>
        </p:txBody>
      </p:sp>
      <p:sp>
        <p:nvSpPr>
          <p:cNvPr id="847" name="Google Shape;847;p13"/>
          <p:cNvSpPr txBox="1"/>
          <p:nvPr/>
        </p:nvSpPr>
        <p:spPr>
          <a:xfrm>
            <a:off x="6614023" y="1805994"/>
            <a:ext cx="71480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Non-churns</a:t>
            </a:r>
            <a:endParaRPr dirty="0">
              <a:solidFill>
                <a:srgbClr val="FF0000"/>
              </a:solidFill>
            </a:endParaRPr>
          </a:p>
        </p:txBody>
      </p:sp>
      <p:sp>
        <p:nvSpPr>
          <p:cNvPr id="848" name="Google Shape;848;p13"/>
          <p:cNvSpPr txBox="1"/>
          <p:nvPr/>
        </p:nvSpPr>
        <p:spPr>
          <a:xfrm>
            <a:off x="7217507" y="1805994"/>
            <a:ext cx="46839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diff(%)</a:t>
            </a:r>
            <a:endParaRPr dirty="0">
              <a:solidFill>
                <a:srgbClr val="FF0000"/>
              </a:solidFill>
            </a:endParaRPr>
          </a:p>
        </p:txBody>
      </p:sp>
      <p:sp>
        <p:nvSpPr>
          <p:cNvPr id="849" name="Google Shape;849;p13"/>
          <p:cNvSpPr/>
          <p:nvPr/>
        </p:nvSpPr>
        <p:spPr>
          <a:xfrm>
            <a:off x="7279901" y="2098541"/>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84%</a:t>
            </a:r>
            <a:endParaRPr/>
          </a:p>
        </p:txBody>
      </p:sp>
      <p:sp>
        <p:nvSpPr>
          <p:cNvPr id="850" name="Google Shape;850;p13"/>
          <p:cNvSpPr/>
          <p:nvPr/>
        </p:nvSpPr>
        <p:spPr>
          <a:xfrm>
            <a:off x="7279901" y="2537710"/>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16%</a:t>
            </a:r>
            <a:endParaRPr/>
          </a:p>
        </p:txBody>
      </p:sp>
      <p:sp>
        <p:nvSpPr>
          <p:cNvPr id="851" name="Google Shape;851;p13"/>
          <p:cNvSpPr/>
          <p:nvPr/>
        </p:nvSpPr>
        <p:spPr>
          <a:xfrm>
            <a:off x="7279901" y="2974911"/>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18%</a:t>
            </a:r>
            <a:endParaRPr/>
          </a:p>
        </p:txBody>
      </p:sp>
      <p:sp>
        <p:nvSpPr>
          <p:cNvPr id="852" name="Google Shape;852;p13"/>
          <p:cNvSpPr/>
          <p:nvPr/>
        </p:nvSpPr>
        <p:spPr>
          <a:xfrm>
            <a:off x="7284054" y="3432764"/>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48%</a:t>
            </a:r>
            <a:endParaRPr/>
          </a:p>
        </p:txBody>
      </p:sp>
      <p:sp>
        <p:nvSpPr>
          <p:cNvPr id="853" name="Google Shape;853;p13"/>
          <p:cNvSpPr/>
          <p:nvPr/>
        </p:nvSpPr>
        <p:spPr>
          <a:xfrm>
            <a:off x="7297749" y="3864582"/>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76%</a:t>
            </a:r>
            <a:endParaRPr/>
          </a:p>
        </p:txBody>
      </p:sp>
      <p:cxnSp>
        <p:nvCxnSpPr>
          <p:cNvPr id="854" name="Google Shape;854;p13"/>
          <p:cNvCxnSpPr>
            <a:cxnSpLocks/>
          </p:cNvCxnSpPr>
          <p:nvPr/>
        </p:nvCxnSpPr>
        <p:spPr>
          <a:xfrm>
            <a:off x="7966676" y="1813760"/>
            <a:ext cx="1442313" cy="0"/>
          </a:xfrm>
          <a:prstGeom prst="straightConnector1">
            <a:avLst/>
          </a:prstGeom>
          <a:noFill/>
          <a:ln w="9525" cap="flat" cmpd="sng">
            <a:solidFill>
              <a:srgbClr val="FF0000"/>
            </a:solidFill>
            <a:prstDash val="solid"/>
            <a:miter lim="800000"/>
            <a:headEnd type="none" w="sm" len="sm"/>
            <a:tailEnd type="none" w="sm" len="sm"/>
          </a:ln>
        </p:spPr>
      </p:cxnSp>
      <p:sp>
        <p:nvSpPr>
          <p:cNvPr id="855" name="Google Shape;855;p13"/>
          <p:cNvSpPr txBox="1"/>
          <p:nvPr/>
        </p:nvSpPr>
        <p:spPr>
          <a:xfrm>
            <a:off x="8243115" y="1590180"/>
            <a:ext cx="825547" cy="250884"/>
          </a:xfrm>
          <a:prstGeom prst="rect">
            <a:avLst/>
          </a:prstGeom>
          <a:noFill/>
          <a:ln>
            <a:noFill/>
          </a:ln>
        </p:spPr>
        <p:txBody>
          <a:bodyPr spcFirstLastPara="1" wrap="square" lIns="0" tIns="0" rIns="0" bIns="0" anchor="t" anchorCtr="0">
            <a:noAutofit/>
          </a:bodyPr>
          <a:lstStyle/>
          <a:p>
            <a:pPr marL="0" marR="0" lvl="0" indent="-76200" algn="ctr" rtl="0">
              <a:lnSpc>
                <a:spcPct val="100000"/>
              </a:lnSpc>
              <a:spcBef>
                <a:spcPts val="0"/>
              </a:spcBef>
              <a:spcAft>
                <a:spcPts val="0"/>
              </a:spcAft>
              <a:buClr>
                <a:srgbClr val="00B0F0"/>
              </a:buClr>
              <a:buSzPts val="1200"/>
              <a:buFont typeface="Quattrocento Sans"/>
              <a:buChar char="​"/>
            </a:pPr>
            <a:r>
              <a:rPr lang="en-US" sz="1200" b="1" i="0" u="none" strike="noStrike" cap="none" dirty="0">
                <a:solidFill>
                  <a:srgbClr val="FF0000"/>
                </a:solidFill>
                <a:latin typeface="Century Gothic"/>
                <a:ea typeface="Century Gothic"/>
                <a:cs typeface="Century Gothic"/>
                <a:sym typeface="Century Gothic"/>
              </a:rPr>
              <a:t>Trip</a:t>
            </a:r>
            <a:endParaRPr dirty="0">
              <a:solidFill>
                <a:srgbClr val="FF0000"/>
              </a:solidFill>
            </a:endParaRPr>
          </a:p>
        </p:txBody>
      </p:sp>
      <p:sp>
        <p:nvSpPr>
          <p:cNvPr id="856" name="Google Shape;856;p13"/>
          <p:cNvSpPr txBox="1"/>
          <p:nvPr/>
        </p:nvSpPr>
        <p:spPr>
          <a:xfrm>
            <a:off x="7887608" y="1813760"/>
            <a:ext cx="48122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Churns</a:t>
            </a:r>
            <a:endParaRPr dirty="0">
              <a:solidFill>
                <a:srgbClr val="FF0000"/>
              </a:solidFill>
            </a:endParaRPr>
          </a:p>
        </p:txBody>
      </p:sp>
      <p:sp>
        <p:nvSpPr>
          <p:cNvPr id="857" name="Google Shape;857;p13"/>
          <p:cNvSpPr txBox="1"/>
          <p:nvPr/>
        </p:nvSpPr>
        <p:spPr>
          <a:xfrm>
            <a:off x="8298485" y="1809648"/>
            <a:ext cx="71480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Non-churns</a:t>
            </a:r>
            <a:endParaRPr dirty="0">
              <a:solidFill>
                <a:srgbClr val="FF0000"/>
              </a:solidFill>
            </a:endParaRPr>
          </a:p>
        </p:txBody>
      </p:sp>
      <p:sp>
        <p:nvSpPr>
          <p:cNvPr id="858" name="Google Shape;858;p13"/>
          <p:cNvSpPr txBox="1"/>
          <p:nvPr/>
        </p:nvSpPr>
        <p:spPr>
          <a:xfrm>
            <a:off x="8901969" y="1809648"/>
            <a:ext cx="46839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diff(%)</a:t>
            </a:r>
            <a:endParaRPr dirty="0">
              <a:solidFill>
                <a:srgbClr val="FF0000"/>
              </a:solidFill>
            </a:endParaRPr>
          </a:p>
        </p:txBody>
      </p:sp>
      <p:sp>
        <p:nvSpPr>
          <p:cNvPr id="859" name="Google Shape;859;p13"/>
          <p:cNvSpPr/>
          <p:nvPr/>
        </p:nvSpPr>
        <p:spPr>
          <a:xfrm>
            <a:off x="8964363" y="2102195"/>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80%</a:t>
            </a:r>
            <a:endParaRPr/>
          </a:p>
        </p:txBody>
      </p:sp>
      <p:sp>
        <p:nvSpPr>
          <p:cNvPr id="860" name="Google Shape;860;p13"/>
          <p:cNvSpPr/>
          <p:nvPr/>
        </p:nvSpPr>
        <p:spPr>
          <a:xfrm>
            <a:off x="8964363" y="2541364"/>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27%</a:t>
            </a:r>
            <a:endParaRPr/>
          </a:p>
        </p:txBody>
      </p:sp>
      <p:sp>
        <p:nvSpPr>
          <p:cNvPr id="861" name="Google Shape;861;p13"/>
          <p:cNvSpPr/>
          <p:nvPr/>
        </p:nvSpPr>
        <p:spPr>
          <a:xfrm>
            <a:off x="8964363" y="2978565"/>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17%</a:t>
            </a:r>
            <a:endParaRPr/>
          </a:p>
        </p:txBody>
      </p:sp>
      <p:sp>
        <p:nvSpPr>
          <p:cNvPr id="862" name="Google Shape;862;p13"/>
          <p:cNvSpPr/>
          <p:nvPr/>
        </p:nvSpPr>
        <p:spPr>
          <a:xfrm>
            <a:off x="8968516" y="3436418"/>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1.3%</a:t>
            </a:r>
            <a:endParaRPr/>
          </a:p>
        </p:txBody>
      </p:sp>
      <p:sp>
        <p:nvSpPr>
          <p:cNvPr id="863" name="Google Shape;863;p13"/>
          <p:cNvSpPr/>
          <p:nvPr/>
        </p:nvSpPr>
        <p:spPr>
          <a:xfrm>
            <a:off x="8982211" y="3868236"/>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39%</a:t>
            </a:r>
            <a:endParaRPr/>
          </a:p>
        </p:txBody>
      </p:sp>
      <p:cxnSp>
        <p:nvCxnSpPr>
          <p:cNvPr id="864" name="Google Shape;864;p13"/>
          <p:cNvCxnSpPr>
            <a:cxnSpLocks/>
          </p:cNvCxnSpPr>
          <p:nvPr/>
        </p:nvCxnSpPr>
        <p:spPr>
          <a:xfrm>
            <a:off x="9650716" y="1805994"/>
            <a:ext cx="1442313" cy="0"/>
          </a:xfrm>
          <a:prstGeom prst="straightConnector1">
            <a:avLst/>
          </a:prstGeom>
          <a:noFill/>
          <a:ln w="9525" cap="flat" cmpd="sng">
            <a:solidFill>
              <a:srgbClr val="FF0000"/>
            </a:solidFill>
            <a:prstDash val="solid"/>
            <a:miter lim="800000"/>
            <a:headEnd type="none" w="sm" len="sm"/>
            <a:tailEnd type="none" w="sm" len="sm"/>
          </a:ln>
        </p:spPr>
      </p:cxnSp>
      <p:sp>
        <p:nvSpPr>
          <p:cNvPr id="865" name="Google Shape;865;p13"/>
          <p:cNvSpPr txBox="1"/>
          <p:nvPr/>
        </p:nvSpPr>
        <p:spPr>
          <a:xfrm>
            <a:off x="9927155" y="1582414"/>
            <a:ext cx="825547" cy="250884"/>
          </a:xfrm>
          <a:prstGeom prst="rect">
            <a:avLst/>
          </a:prstGeom>
          <a:noFill/>
          <a:ln>
            <a:noFill/>
          </a:ln>
        </p:spPr>
        <p:txBody>
          <a:bodyPr spcFirstLastPara="1" wrap="square" lIns="0" tIns="0" rIns="0" bIns="0" anchor="t" anchorCtr="0">
            <a:noAutofit/>
          </a:bodyPr>
          <a:lstStyle/>
          <a:p>
            <a:pPr marL="0" marR="0" lvl="0" indent="-76200" algn="ctr" rtl="0">
              <a:lnSpc>
                <a:spcPct val="100000"/>
              </a:lnSpc>
              <a:spcBef>
                <a:spcPts val="0"/>
              </a:spcBef>
              <a:spcAft>
                <a:spcPts val="0"/>
              </a:spcAft>
              <a:buClr>
                <a:srgbClr val="00B0F0"/>
              </a:buClr>
              <a:buSzPts val="1200"/>
              <a:buFont typeface="Quattrocento Sans"/>
              <a:buChar char="​"/>
            </a:pPr>
            <a:r>
              <a:rPr lang="en-US" sz="1200" b="1" i="0" u="none" strike="noStrike" cap="none" dirty="0">
                <a:solidFill>
                  <a:srgbClr val="FF0000"/>
                </a:solidFill>
                <a:latin typeface="Century Gothic"/>
                <a:ea typeface="Century Gothic"/>
                <a:cs typeface="Century Gothic"/>
                <a:sym typeface="Century Gothic"/>
              </a:rPr>
              <a:t>Total</a:t>
            </a:r>
            <a:endParaRPr dirty="0">
              <a:solidFill>
                <a:srgbClr val="FF0000"/>
              </a:solidFill>
            </a:endParaRPr>
          </a:p>
        </p:txBody>
      </p:sp>
      <p:sp>
        <p:nvSpPr>
          <p:cNvPr id="866" name="Google Shape;866;p13"/>
          <p:cNvSpPr txBox="1"/>
          <p:nvPr/>
        </p:nvSpPr>
        <p:spPr>
          <a:xfrm>
            <a:off x="9571648" y="1805994"/>
            <a:ext cx="48122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Churns</a:t>
            </a:r>
            <a:endParaRPr dirty="0">
              <a:solidFill>
                <a:srgbClr val="FF0000"/>
              </a:solidFill>
            </a:endParaRPr>
          </a:p>
        </p:txBody>
      </p:sp>
      <p:sp>
        <p:nvSpPr>
          <p:cNvPr id="867" name="Google Shape;867;p13"/>
          <p:cNvSpPr txBox="1"/>
          <p:nvPr/>
        </p:nvSpPr>
        <p:spPr>
          <a:xfrm>
            <a:off x="9982525" y="1801882"/>
            <a:ext cx="71480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Non-churns</a:t>
            </a:r>
            <a:endParaRPr dirty="0">
              <a:solidFill>
                <a:srgbClr val="FF0000"/>
              </a:solidFill>
            </a:endParaRPr>
          </a:p>
        </p:txBody>
      </p:sp>
      <p:sp>
        <p:nvSpPr>
          <p:cNvPr id="868" name="Google Shape;868;p13"/>
          <p:cNvSpPr txBox="1"/>
          <p:nvPr/>
        </p:nvSpPr>
        <p:spPr>
          <a:xfrm>
            <a:off x="10586009" y="1801882"/>
            <a:ext cx="46839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FF0000"/>
                </a:solidFill>
                <a:latin typeface="Calibri"/>
                <a:ea typeface="Calibri"/>
                <a:cs typeface="Calibri"/>
                <a:sym typeface="Calibri"/>
              </a:rPr>
              <a:t>diff(%)</a:t>
            </a:r>
            <a:endParaRPr dirty="0">
              <a:solidFill>
                <a:srgbClr val="FF0000"/>
              </a:solidFill>
            </a:endParaRPr>
          </a:p>
        </p:txBody>
      </p:sp>
      <p:sp>
        <p:nvSpPr>
          <p:cNvPr id="869" name="Google Shape;869;p13"/>
          <p:cNvSpPr/>
          <p:nvPr/>
        </p:nvSpPr>
        <p:spPr>
          <a:xfrm>
            <a:off x="10648403" y="2094429"/>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73%</a:t>
            </a:r>
            <a:endParaRPr/>
          </a:p>
        </p:txBody>
      </p:sp>
      <p:sp>
        <p:nvSpPr>
          <p:cNvPr id="870" name="Google Shape;870;p13"/>
          <p:cNvSpPr/>
          <p:nvPr/>
        </p:nvSpPr>
        <p:spPr>
          <a:xfrm>
            <a:off x="10648403" y="2533598"/>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15%</a:t>
            </a:r>
            <a:endParaRPr/>
          </a:p>
        </p:txBody>
      </p:sp>
      <p:sp>
        <p:nvSpPr>
          <p:cNvPr id="871" name="Google Shape;871;p13"/>
          <p:cNvSpPr/>
          <p:nvPr/>
        </p:nvSpPr>
        <p:spPr>
          <a:xfrm>
            <a:off x="10648403" y="2970799"/>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6.7%</a:t>
            </a:r>
            <a:endParaRPr/>
          </a:p>
        </p:txBody>
      </p:sp>
      <p:sp>
        <p:nvSpPr>
          <p:cNvPr id="872" name="Google Shape;872;p13"/>
          <p:cNvSpPr/>
          <p:nvPr/>
        </p:nvSpPr>
        <p:spPr>
          <a:xfrm>
            <a:off x="10652556" y="3428652"/>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17%</a:t>
            </a:r>
            <a:endParaRPr/>
          </a:p>
        </p:txBody>
      </p:sp>
      <p:sp>
        <p:nvSpPr>
          <p:cNvPr id="873" name="Google Shape;873;p13"/>
          <p:cNvSpPr/>
          <p:nvPr/>
        </p:nvSpPr>
        <p:spPr>
          <a:xfrm>
            <a:off x="10666251" y="3860470"/>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69%</a:t>
            </a:r>
            <a:endParaRPr/>
          </a:p>
        </p:txBody>
      </p:sp>
      <p:sp>
        <p:nvSpPr>
          <p:cNvPr id="874" name="Google Shape;874;p13"/>
          <p:cNvSpPr txBox="1"/>
          <p:nvPr/>
        </p:nvSpPr>
        <p:spPr>
          <a:xfrm>
            <a:off x="2937854" y="2096480"/>
            <a:ext cx="38985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3444</a:t>
            </a:r>
            <a:endParaRPr/>
          </a:p>
        </p:txBody>
      </p:sp>
      <p:sp>
        <p:nvSpPr>
          <p:cNvPr id="875" name="Google Shape;875;p13"/>
          <p:cNvSpPr txBox="1"/>
          <p:nvPr/>
        </p:nvSpPr>
        <p:spPr>
          <a:xfrm>
            <a:off x="3422258" y="2094429"/>
            <a:ext cx="44114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11048</a:t>
            </a:r>
            <a:endParaRPr/>
          </a:p>
        </p:txBody>
      </p:sp>
      <p:sp>
        <p:nvSpPr>
          <p:cNvPr id="876" name="Google Shape;876;p13"/>
          <p:cNvSpPr txBox="1"/>
          <p:nvPr/>
        </p:nvSpPr>
        <p:spPr>
          <a:xfrm>
            <a:off x="2897162" y="2553962"/>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44.2</a:t>
            </a:r>
            <a:endParaRPr/>
          </a:p>
        </p:txBody>
      </p:sp>
      <p:sp>
        <p:nvSpPr>
          <p:cNvPr id="877" name="Google Shape;877;p13"/>
          <p:cNvSpPr txBox="1"/>
          <p:nvPr/>
        </p:nvSpPr>
        <p:spPr>
          <a:xfrm>
            <a:off x="3389605" y="2551911"/>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54.6</a:t>
            </a:r>
            <a:endParaRPr/>
          </a:p>
        </p:txBody>
      </p:sp>
      <p:sp>
        <p:nvSpPr>
          <p:cNvPr id="878" name="Google Shape;878;p13"/>
          <p:cNvSpPr txBox="1"/>
          <p:nvPr/>
        </p:nvSpPr>
        <p:spPr>
          <a:xfrm>
            <a:off x="2919710" y="3010827"/>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0,59</a:t>
            </a:r>
            <a:endParaRPr/>
          </a:p>
        </p:txBody>
      </p:sp>
      <p:sp>
        <p:nvSpPr>
          <p:cNvPr id="879" name="Google Shape;879;p13"/>
          <p:cNvSpPr txBox="1"/>
          <p:nvPr/>
        </p:nvSpPr>
        <p:spPr>
          <a:xfrm>
            <a:off x="3412153" y="3008776"/>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0,53</a:t>
            </a:r>
            <a:endParaRPr/>
          </a:p>
        </p:txBody>
      </p:sp>
      <p:sp>
        <p:nvSpPr>
          <p:cNvPr id="880" name="Google Shape;880;p13"/>
          <p:cNvSpPr txBox="1"/>
          <p:nvPr/>
        </p:nvSpPr>
        <p:spPr>
          <a:xfrm>
            <a:off x="2915605" y="3471658"/>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0,84</a:t>
            </a:r>
            <a:endParaRPr dirty="0"/>
          </a:p>
        </p:txBody>
      </p:sp>
      <p:sp>
        <p:nvSpPr>
          <p:cNvPr id="881" name="Google Shape;881;p13"/>
          <p:cNvSpPr txBox="1"/>
          <p:nvPr/>
        </p:nvSpPr>
        <p:spPr>
          <a:xfrm>
            <a:off x="3408048" y="3469607"/>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0,57</a:t>
            </a:r>
            <a:endParaRPr dirty="0"/>
          </a:p>
        </p:txBody>
      </p:sp>
      <p:sp>
        <p:nvSpPr>
          <p:cNvPr id="882" name="Google Shape;882;p13"/>
          <p:cNvSpPr txBox="1"/>
          <p:nvPr/>
        </p:nvSpPr>
        <p:spPr>
          <a:xfrm>
            <a:off x="2950262" y="3911100"/>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115</a:t>
            </a:r>
            <a:endParaRPr/>
          </a:p>
        </p:txBody>
      </p:sp>
      <p:sp>
        <p:nvSpPr>
          <p:cNvPr id="883" name="Google Shape;883;p13"/>
          <p:cNvSpPr txBox="1"/>
          <p:nvPr/>
        </p:nvSpPr>
        <p:spPr>
          <a:xfrm>
            <a:off x="3406312" y="3909049"/>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379</a:t>
            </a:r>
            <a:endParaRPr/>
          </a:p>
        </p:txBody>
      </p:sp>
      <p:sp>
        <p:nvSpPr>
          <p:cNvPr id="884" name="Google Shape;884;p13"/>
          <p:cNvSpPr txBox="1"/>
          <p:nvPr/>
        </p:nvSpPr>
        <p:spPr>
          <a:xfrm>
            <a:off x="4588290" y="2115384"/>
            <a:ext cx="38985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2357</a:t>
            </a:r>
            <a:endParaRPr/>
          </a:p>
        </p:txBody>
      </p:sp>
      <p:sp>
        <p:nvSpPr>
          <p:cNvPr id="885" name="Google Shape;885;p13"/>
          <p:cNvSpPr txBox="1"/>
          <p:nvPr/>
        </p:nvSpPr>
        <p:spPr>
          <a:xfrm>
            <a:off x="5080733" y="2113333"/>
            <a:ext cx="38985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8303</a:t>
            </a:r>
            <a:endParaRPr/>
          </a:p>
        </p:txBody>
      </p:sp>
      <p:sp>
        <p:nvSpPr>
          <p:cNvPr id="886" name="Google Shape;886;p13"/>
          <p:cNvSpPr txBox="1"/>
          <p:nvPr/>
        </p:nvSpPr>
        <p:spPr>
          <a:xfrm>
            <a:off x="4589431" y="2572866"/>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35.1</a:t>
            </a:r>
            <a:endParaRPr/>
          </a:p>
        </p:txBody>
      </p:sp>
      <p:sp>
        <p:nvSpPr>
          <p:cNvPr id="887" name="Google Shape;887;p13"/>
          <p:cNvSpPr txBox="1"/>
          <p:nvPr/>
        </p:nvSpPr>
        <p:spPr>
          <a:xfrm>
            <a:off x="5081874" y="2570815"/>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40.9</a:t>
            </a:r>
            <a:endParaRPr/>
          </a:p>
        </p:txBody>
      </p:sp>
      <p:sp>
        <p:nvSpPr>
          <p:cNvPr id="888" name="Google Shape;888;p13"/>
          <p:cNvSpPr txBox="1"/>
          <p:nvPr/>
        </p:nvSpPr>
        <p:spPr>
          <a:xfrm>
            <a:off x="4611979" y="3029731"/>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0,34</a:t>
            </a:r>
            <a:endParaRPr/>
          </a:p>
        </p:txBody>
      </p:sp>
      <p:sp>
        <p:nvSpPr>
          <p:cNvPr id="889" name="Google Shape;889;p13"/>
          <p:cNvSpPr txBox="1"/>
          <p:nvPr/>
        </p:nvSpPr>
        <p:spPr>
          <a:xfrm>
            <a:off x="5104422" y="3027680"/>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0,30</a:t>
            </a:r>
            <a:endParaRPr/>
          </a:p>
        </p:txBody>
      </p:sp>
      <p:sp>
        <p:nvSpPr>
          <p:cNvPr id="890" name="Google Shape;890;p13"/>
          <p:cNvSpPr txBox="1"/>
          <p:nvPr/>
        </p:nvSpPr>
        <p:spPr>
          <a:xfrm>
            <a:off x="4607874" y="3490562"/>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0,55</a:t>
            </a:r>
            <a:endParaRPr/>
          </a:p>
        </p:txBody>
      </p:sp>
      <p:sp>
        <p:nvSpPr>
          <p:cNvPr id="891" name="Google Shape;891;p13"/>
          <p:cNvSpPr txBox="1"/>
          <p:nvPr/>
        </p:nvSpPr>
        <p:spPr>
          <a:xfrm>
            <a:off x="5100317" y="3488511"/>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0,31</a:t>
            </a:r>
            <a:endParaRPr/>
          </a:p>
        </p:txBody>
      </p:sp>
      <p:sp>
        <p:nvSpPr>
          <p:cNvPr id="892" name="Google Shape;892;p13"/>
          <p:cNvSpPr txBox="1"/>
          <p:nvPr/>
        </p:nvSpPr>
        <p:spPr>
          <a:xfrm>
            <a:off x="6261221" y="2096480"/>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694</a:t>
            </a:r>
            <a:endParaRPr/>
          </a:p>
        </p:txBody>
      </p:sp>
      <p:sp>
        <p:nvSpPr>
          <p:cNvPr id="893" name="Google Shape;893;p13"/>
          <p:cNvSpPr txBox="1"/>
          <p:nvPr/>
        </p:nvSpPr>
        <p:spPr>
          <a:xfrm>
            <a:off x="6753664" y="2094429"/>
            <a:ext cx="38985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4533</a:t>
            </a:r>
            <a:endParaRPr/>
          </a:p>
        </p:txBody>
      </p:sp>
      <p:sp>
        <p:nvSpPr>
          <p:cNvPr id="894" name="Google Shape;894;p13"/>
          <p:cNvSpPr txBox="1"/>
          <p:nvPr/>
        </p:nvSpPr>
        <p:spPr>
          <a:xfrm>
            <a:off x="6262362" y="2553962"/>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42.2</a:t>
            </a:r>
            <a:endParaRPr/>
          </a:p>
        </p:txBody>
      </p:sp>
      <p:sp>
        <p:nvSpPr>
          <p:cNvPr id="895" name="Google Shape;895;p13"/>
          <p:cNvSpPr txBox="1"/>
          <p:nvPr/>
        </p:nvSpPr>
        <p:spPr>
          <a:xfrm>
            <a:off x="6754805" y="2551911"/>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45.4</a:t>
            </a:r>
            <a:endParaRPr/>
          </a:p>
        </p:txBody>
      </p:sp>
      <p:sp>
        <p:nvSpPr>
          <p:cNvPr id="896" name="Google Shape;896;p13"/>
          <p:cNvSpPr txBox="1"/>
          <p:nvPr/>
        </p:nvSpPr>
        <p:spPr>
          <a:xfrm>
            <a:off x="6284910" y="3010827"/>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0,17</a:t>
            </a:r>
            <a:endParaRPr/>
          </a:p>
        </p:txBody>
      </p:sp>
      <p:sp>
        <p:nvSpPr>
          <p:cNvPr id="897" name="Google Shape;897;p13"/>
          <p:cNvSpPr txBox="1"/>
          <p:nvPr/>
        </p:nvSpPr>
        <p:spPr>
          <a:xfrm>
            <a:off x="6777353" y="3008776"/>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0,14</a:t>
            </a:r>
            <a:endParaRPr/>
          </a:p>
        </p:txBody>
      </p:sp>
      <p:sp>
        <p:nvSpPr>
          <p:cNvPr id="898" name="Google Shape;898;p13"/>
          <p:cNvSpPr txBox="1"/>
          <p:nvPr/>
        </p:nvSpPr>
        <p:spPr>
          <a:xfrm>
            <a:off x="6280805" y="3471658"/>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0,18</a:t>
            </a:r>
            <a:endParaRPr/>
          </a:p>
        </p:txBody>
      </p:sp>
      <p:sp>
        <p:nvSpPr>
          <p:cNvPr id="899" name="Google Shape;899;p13"/>
          <p:cNvSpPr txBox="1"/>
          <p:nvPr/>
        </p:nvSpPr>
        <p:spPr>
          <a:xfrm>
            <a:off x="6773248" y="3469607"/>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0,12</a:t>
            </a:r>
            <a:endParaRPr/>
          </a:p>
        </p:txBody>
      </p:sp>
      <p:sp>
        <p:nvSpPr>
          <p:cNvPr id="900" name="Google Shape;900;p13"/>
          <p:cNvSpPr txBox="1"/>
          <p:nvPr/>
        </p:nvSpPr>
        <p:spPr>
          <a:xfrm>
            <a:off x="7962369" y="2111706"/>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336</a:t>
            </a:r>
            <a:endParaRPr/>
          </a:p>
        </p:txBody>
      </p:sp>
      <p:sp>
        <p:nvSpPr>
          <p:cNvPr id="901" name="Google Shape;901;p13"/>
          <p:cNvSpPr txBox="1"/>
          <p:nvPr/>
        </p:nvSpPr>
        <p:spPr>
          <a:xfrm>
            <a:off x="8445933" y="2109655"/>
            <a:ext cx="38985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1763</a:t>
            </a:r>
            <a:endParaRPr/>
          </a:p>
        </p:txBody>
      </p:sp>
      <p:sp>
        <p:nvSpPr>
          <p:cNvPr id="902" name="Google Shape;902;p13"/>
          <p:cNvSpPr txBox="1"/>
          <p:nvPr/>
        </p:nvSpPr>
        <p:spPr>
          <a:xfrm>
            <a:off x="7954631" y="2569188"/>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28.7</a:t>
            </a:r>
            <a:endParaRPr/>
          </a:p>
        </p:txBody>
      </p:sp>
      <p:sp>
        <p:nvSpPr>
          <p:cNvPr id="903" name="Google Shape;903;p13"/>
          <p:cNvSpPr txBox="1"/>
          <p:nvPr/>
        </p:nvSpPr>
        <p:spPr>
          <a:xfrm>
            <a:off x="8447074" y="2567137"/>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37.6</a:t>
            </a:r>
            <a:endParaRPr/>
          </a:p>
        </p:txBody>
      </p:sp>
      <p:sp>
        <p:nvSpPr>
          <p:cNvPr id="904" name="Google Shape;904;p13"/>
          <p:cNvSpPr txBox="1"/>
          <p:nvPr/>
        </p:nvSpPr>
        <p:spPr>
          <a:xfrm>
            <a:off x="7977179" y="3026053"/>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1,54</a:t>
            </a:r>
            <a:endParaRPr/>
          </a:p>
        </p:txBody>
      </p:sp>
      <p:sp>
        <p:nvSpPr>
          <p:cNvPr id="905" name="Google Shape;905;p13"/>
          <p:cNvSpPr txBox="1"/>
          <p:nvPr/>
        </p:nvSpPr>
        <p:spPr>
          <a:xfrm>
            <a:off x="8469622" y="3024002"/>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1,85</a:t>
            </a:r>
            <a:endParaRPr/>
          </a:p>
        </p:txBody>
      </p:sp>
      <p:sp>
        <p:nvSpPr>
          <p:cNvPr id="906" name="Google Shape;906;p13"/>
          <p:cNvSpPr txBox="1"/>
          <p:nvPr/>
        </p:nvSpPr>
        <p:spPr>
          <a:xfrm>
            <a:off x="7973074" y="3486884"/>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2,52</a:t>
            </a:r>
            <a:endParaRPr/>
          </a:p>
        </p:txBody>
      </p:sp>
      <p:sp>
        <p:nvSpPr>
          <p:cNvPr id="907" name="Google Shape;907;p13"/>
          <p:cNvSpPr txBox="1"/>
          <p:nvPr/>
        </p:nvSpPr>
        <p:spPr>
          <a:xfrm>
            <a:off x="8465517" y="3484833"/>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2,49</a:t>
            </a:r>
            <a:endParaRPr/>
          </a:p>
        </p:txBody>
      </p:sp>
      <p:sp>
        <p:nvSpPr>
          <p:cNvPr id="908" name="Google Shape;908;p13"/>
          <p:cNvSpPr txBox="1"/>
          <p:nvPr/>
        </p:nvSpPr>
        <p:spPr>
          <a:xfrm>
            <a:off x="9689725" y="2111706"/>
            <a:ext cx="38985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6831</a:t>
            </a:r>
            <a:endParaRPr/>
          </a:p>
        </p:txBody>
      </p:sp>
      <p:sp>
        <p:nvSpPr>
          <p:cNvPr id="909" name="Google Shape;909;p13"/>
          <p:cNvSpPr txBox="1"/>
          <p:nvPr/>
        </p:nvSpPr>
        <p:spPr>
          <a:xfrm>
            <a:off x="10182168" y="2109655"/>
            <a:ext cx="44114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25647</a:t>
            </a:r>
            <a:endParaRPr/>
          </a:p>
        </p:txBody>
      </p:sp>
      <p:sp>
        <p:nvSpPr>
          <p:cNvPr id="910" name="Google Shape;910;p13"/>
          <p:cNvSpPr txBox="1"/>
          <p:nvPr/>
        </p:nvSpPr>
        <p:spPr>
          <a:xfrm>
            <a:off x="9690866" y="2569188"/>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40.8</a:t>
            </a:r>
            <a:endParaRPr/>
          </a:p>
        </p:txBody>
      </p:sp>
      <p:sp>
        <p:nvSpPr>
          <p:cNvPr id="911" name="Google Shape;911;p13"/>
          <p:cNvSpPr txBox="1"/>
          <p:nvPr/>
        </p:nvSpPr>
        <p:spPr>
          <a:xfrm>
            <a:off x="10183309" y="2567137"/>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47.8</a:t>
            </a:r>
            <a:endParaRPr/>
          </a:p>
        </p:txBody>
      </p:sp>
      <p:sp>
        <p:nvSpPr>
          <p:cNvPr id="912" name="Google Shape;912;p13"/>
          <p:cNvSpPr txBox="1"/>
          <p:nvPr/>
        </p:nvSpPr>
        <p:spPr>
          <a:xfrm>
            <a:off x="9713414" y="3026053"/>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2,65</a:t>
            </a:r>
            <a:endParaRPr/>
          </a:p>
        </p:txBody>
      </p:sp>
      <p:sp>
        <p:nvSpPr>
          <p:cNvPr id="913" name="Google Shape;913;p13"/>
          <p:cNvSpPr txBox="1"/>
          <p:nvPr/>
        </p:nvSpPr>
        <p:spPr>
          <a:xfrm>
            <a:off x="10205857" y="3024002"/>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2,84</a:t>
            </a:r>
            <a:endParaRPr/>
          </a:p>
        </p:txBody>
      </p:sp>
      <p:sp>
        <p:nvSpPr>
          <p:cNvPr id="914" name="Google Shape;914;p13"/>
          <p:cNvSpPr txBox="1"/>
          <p:nvPr/>
        </p:nvSpPr>
        <p:spPr>
          <a:xfrm>
            <a:off x="9709309" y="3486884"/>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4,11</a:t>
            </a:r>
            <a:endParaRPr/>
          </a:p>
        </p:txBody>
      </p:sp>
      <p:sp>
        <p:nvSpPr>
          <p:cNvPr id="915" name="Google Shape;915;p13"/>
          <p:cNvSpPr txBox="1"/>
          <p:nvPr/>
        </p:nvSpPr>
        <p:spPr>
          <a:xfrm>
            <a:off x="10201752" y="3484833"/>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3,50</a:t>
            </a:r>
            <a:endParaRPr/>
          </a:p>
        </p:txBody>
      </p:sp>
      <p:sp>
        <p:nvSpPr>
          <p:cNvPr id="916" name="Google Shape;916;p13"/>
          <p:cNvSpPr txBox="1"/>
          <p:nvPr/>
        </p:nvSpPr>
        <p:spPr>
          <a:xfrm>
            <a:off x="2096263" y="3924275"/>
            <a:ext cx="593172" cy="15124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In days</a:t>
            </a:r>
            <a:endParaRPr dirty="0">
              <a:solidFill>
                <a:srgbClr val="FF0000"/>
              </a:solidFill>
            </a:endParaRPr>
          </a:p>
        </p:txBody>
      </p:sp>
      <p:sp>
        <p:nvSpPr>
          <p:cNvPr id="917" name="Google Shape;917;p13"/>
          <p:cNvSpPr txBox="1"/>
          <p:nvPr/>
        </p:nvSpPr>
        <p:spPr>
          <a:xfrm>
            <a:off x="4668168" y="3917389"/>
            <a:ext cx="28725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80</a:t>
            </a:r>
            <a:endParaRPr/>
          </a:p>
        </p:txBody>
      </p:sp>
      <p:sp>
        <p:nvSpPr>
          <p:cNvPr id="918" name="Google Shape;918;p13"/>
          <p:cNvSpPr txBox="1"/>
          <p:nvPr/>
        </p:nvSpPr>
        <p:spPr>
          <a:xfrm>
            <a:off x="5124218" y="3915338"/>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267</a:t>
            </a:r>
            <a:endParaRPr/>
          </a:p>
        </p:txBody>
      </p:sp>
      <p:sp>
        <p:nvSpPr>
          <p:cNvPr id="919" name="Google Shape;919;p13"/>
          <p:cNvSpPr txBox="1"/>
          <p:nvPr/>
        </p:nvSpPr>
        <p:spPr>
          <a:xfrm>
            <a:off x="6326332" y="3935160"/>
            <a:ext cx="28725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36</a:t>
            </a:r>
            <a:endParaRPr/>
          </a:p>
        </p:txBody>
      </p:sp>
      <p:sp>
        <p:nvSpPr>
          <p:cNvPr id="920" name="Google Shape;920;p13"/>
          <p:cNvSpPr txBox="1"/>
          <p:nvPr/>
        </p:nvSpPr>
        <p:spPr>
          <a:xfrm>
            <a:off x="6782382" y="3933109"/>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151</a:t>
            </a:r>
            <a:endParaRPr/>
          </a:p>
        </p:txBody>
      </p:sp>
      <p:sp>
        <p:nvSpPr>
          <p:cNvPr id="921" name="Google Shape;921;p13"/>
          <p:cNvSpPr txBox="1"/>
          <p:nvPr/>
        </p:nvSpPr>
        <p:spPr>
          <a:xfrm>
            <a:off x="8060212" y="3935160"/>
            <a:ext cx="28725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a:t>
            </a:r>
            <a:endParaRPr/>
          </a:p>
        </p:txBody>
      </p:sp>
      <p:sp>
        <p:nvSpPr>
          <p:cNvPr id="922" name="Google Shape;922;p13"/>
          <p:cNvSpPr txBox="1"/>
          <p:nvPr/>
        </p:nvSpPr>
        <p:spPr>
          <a:xfrm>
            <a:off x="8516262" y="3933109"/>
            <a:ext cx="28725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56</a:t>
            </a:r>
            <a:endParaRPr/>
          </a:p>
        </p:txBody>
      </p:sp>
      <p:sp>
        <p:nvSpPr>
          <p:cNvPr id="923" name="Google Shape;923;p13"/>
          <p:cNvSpPr txBox="1"/>
          <p:nvPr/>
        </p:nvSpPr>
        <p:spPr>
          <a:xfrm>
            <a:off x="9773788" y="3917975"/>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265</a:t>
            </a:r>
            <a:endParaRPr/>
          </a:p>
        </p:txBody>
      </p:sp>
      <p:sp>
        <p:nvSpPr>
          <p:cNvPr id="924" name="Google Shape;924;p13"/>
          <p:cNvSpPr txBox="1"/>
          <p:nvPr/>
        </p:nvSpPr>
        <p:spPr>
          <a:xfrm>
            <a:off x="10229838" y="3915924"/>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853</a:t>
            </a:r>
            <a:endParaRPr/>
          </a:p>
        </p:txBody>
      </p:sp>
      <p:sp>
        <p:nvSpPr>
          <p:cNvPr id="925" name="Google Shape;925;p13"/>
          <p:cNvSpPr txBox="1"/>
          <p:nvPr/>
        </p:nvSpPr>
        <p:spPr>
          <a:xfrm>
            <a:off x="232806" y="5380217"/>
            <a:ext cx="9445239" cy="12772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dk1"/>
                </a:solidFill>
                <a:latin typeface="Verdana"/>
                <a:ea typeface="Verdana"/>
                <a:cs typeface="Verdana"/>
                <a:sym typeface="Verdana"/>
              </a:rPr>
              <a:t>Explanation :</a:t>
            </a:r>
            <a:endParaRPr dirty="0"/>
          </a:p>
          <a:p>
            <a:pPr marL="0" marR="0" lvl="0" indent="0" algn="l" rtl="0">
              <a:spcBef>
                <a:spcPts val="0"/>
              </a:spcBef>
              <a:spcAft>
                <a:spcPts val="0"/>
              </a:spcAft>
              <a:buNone/>
            </a:pPr>
            <a:r>
              <a:rPr lang="en-US" sz="1100" dirty="0">
                <a:solidFill>
                  <a:schemeClr val="dk1"/>
                </a:solidFill>
                <a:latin typeface="Verdana"/>
                <a:ea typeface="Verdana"/>
                <a:cs typeface="Verdana"/>
                <a:sym typeface="Verdana"/>
              </a:rPr>
              <a:t>1. Churns people from </a:t>
            </a:r>
            <a:r>
              <a:rPr lang="en-US" sz="1100" dirty="0" err="1">
                <a:solidFill>
                  <a:schemeClr val="dk1"/>
                </a:solidFill>
                <a:latin typeface="Verdana"/>
                <a:ea typeface="Verdana"/>
                <a:cs typeface="Verdana"/>
                <a:sym typeface="Verdana"/>
              </a:rPr>
              <a:t>traveloka</a:t>
            </a:r>
            <a:r>
              <a:rPr lang="en-US" sz="1100" dirty="0">
                <a:solidFill>
                  <a:schemeClr val="dk1"/>
                </a:solidFill>
                <a:latin typeface="Verdana"/>
                <a:ea typeface="Verdana"/>
                <a:cs typeface="Verdana"/>
                <a:sym typeface="Verdana"/>
              </a:rPr>
              <a:t> might be because of price indicator even though the differences is only 10%</a:t>
            </a:r>
            <a:endParaRPr dirty="0"/>
          </a:p>
          <a:p>
            <a:pPr marL="0" marR="0" lvl="0" indent="0" algn="l" rtl="0">
              <a:spcBef>
                <a:spcPts val="0"/>
              </a:spcBef>
              <a:spcAft>
                <a:spcPts val="0"/>
              </a:spcAft>
              <a:buNone/>
            </a:pPr>
            <a:r>
              <a:rPr lang="en-US" sz="1100" dirty="0">
                <a:solidFill>
                  <a:schemeClr val="dk1"/>
                </a:solidFill>
                <a:latin typeface="Verdana"/>
                <a:ea typeface="Verdana"/>
                <a:cs typeface="Verdana"/>
                <a:sym typeface="Verdana"/>
              </a:rPr>
              <a:t>2. The lower the delta in last first issued item meaning the less frequent this kind of customer doing transactions in Traveloka, it aligned with RFM theory, the more recent transactions, the more customer not churning out</a:t>
            </a:r>
            <a:endParaRPr dirty="0"/>
          </a:p>
          <a:p>
            <a:pPr marL="0" marR="0" lvl="0" indent="0" algn="l" rtl="0">
              <a:spcBef>
                <a:spcPts val="0"/>
              </a:spcBef>
              <a:spcAft>
                <a:spcPts val="0"/>
              </a:spcAft>
              <a:buNone/>
            </a:pPr>
            <a:r>
              <a:rPr lang="en-US" sz="1100" dirty="0">
                <a:solidFill>
                  <a:schemeClr val="dk1"/>
                </a:solidFill>
                <a:latin typeface="Verdana"/>
                <a:ea typeface="Verdana"/>
                <a:cs typeface="Verdana"/>
                <a:sym typeface="Verdana"/>
              </a:rPr>
              <a:t>3.  There is totally different characteristics between booking and issued count, it shows that more booking doesn’t necessarily leading to the successful transactions, this arise a new hypothesis </a:t>
            </a:r>
            <a:r>
              <a:rPr lang="en-US" sz="1100" b="1" dirty="0">
                <a:solidFill>
                  <a:schemeClr val="dk1"/>
                </a:solidFill>
                <a:latin typeface="Verdana"/>
                <a:ea typeface="Verdana"/>
                <a:cs typeface="Verdana"/>
                <a:sym typeface="Verdana"/>
              </a:rPr>
              <a:t>whether the booking conversion into issuance or transactions done is effective?</a:t>
            </a:r>
            <a:r>
              <a:rPr lang="en-US" sz="1100" dirty="0">
                <a:solidFill>
                  <a:schemeClr val="dk1"/>
                </a:solidFill>
                <a:latin typeface="Verdana"/>
                <a:ea typeface="Verdana"/>
                <a:cs typeface="Verdana"/>
                <a:sym typeface="Verdana"/>
              </a:rPr>
              <a:t> </a:t>
            </a:r>
            <a:endParaRPr dirty="0"/>
          </a:p>
        </p:txBody>
      </p:sp>
      <p:sp>
        <p:nvSpPr>
          <p:cNvPr id="926" name="Google Shape;926;p13"/>
          <p:cNvSpPr txBox="1"/>
          <p:nvPr/>
        </p:nvSpPr>
        <p:spPr>
          <a:xfrm>
            <a:off x="34506" y="3475127"/>
            <a:ext cx="1436647" cy="17526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dirty="0">
                <a:solidFill>
                  <a:srgbClr val="FF0000"/>
                </a:solidFill>
                <a:latin typeface="Century Gothic"/>
                <a:ea typeface="Century Gothic"/>
                <a:cs typeface="Century Gothic"/>
                <a:sym typeface="Century Gothic"/>
              </a:rPr>
              <a:t>Invoice per count booking</a:t>
            </a:r>
            <a:endParaRPr sz="800" b="1" i="0" u="none" strike="noStrike" cap="none" dirty="0">
              <a:solidFill>
                <a:srgbClr val="FF0000"/>
              </a:solidFill>
              <a:latin typeface="Century Gothic"/>
              <a:ea typeface="Century Gothic"/>
              <a:cs typeface="Century Gothic"/>
              <a:sym typeface="Century Gothic"/>
            </a:endParaRPr>
          </a:p>
        </p:txBody>
      </p:sp>
      <p:sp>
        <p:nvSpPr>
          <p:cNvPr id="927" name="Google Shape;927;p13"/>
          <p:cNvSpPr txBox="1"/>
          <p:nvPr/>
        </p:nvSpPr>
        <p:spPr>
          <a:xfrm>
            <a:off x="67822" y="4796411"/>
            <a:ext cx="1633757" cy="21544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dirty="0">
                <a:solidFill>
                  <a:srgbClr val="FF0000"/>
                </a:solidFill>
                <a:latin typeface="Century Gothic"/>
                <a:ea typeface="Century Gothic"/>
                <a:cs typeface="Century Gothic"/>
                <a:sym typeface="Century Gothic"/>
              </a:rPr>
              <a:t>Delta last issued booking time</a:t>
            </a:r>
            <a:endParaRPr sz="800" b="1" i="0" u="none" strike="noStrike" cap="none" dirty="0">
              <a:solidFill>
                <a:srgbClr val="FF0000"/>
              </a:solidFill>
              <a:latin typeface="Century Gothic"/>
              <a:ea typeface="Century Gothic"/>
              <a:cs typeface="Century Gothic"/>
              <a:sym typeface="Century Gothic"/>
            </a:endParaRPr>
          </a:p>
        </p:txBody>
      </p:sp>
      <p:sp>
        <p:nvSpPr>
          <p:cNvPr id="928" name="Google Shape;928;p13"/>
          <p:cNvSpPr txBox="1"/>
          <p:nvPr/>
        </p:nvSpPr>
        <p:spPr>
          <a:xfrm>
            <a:off x="2119642" y="4385368"/>
            <a:ext cx="593172" cy="15124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In days</a:t>
            </a:r>
            <a:endParaRPr dirty="0">
              <a:solidFill>
                <a:srgbClr val="FF0000"/>
              </a:solidFill>
            </a:endParaRPr>
          </a:p>
        </p:txBody>
      </p:sp>
      <p:sp>
        <p:nvSpPr>
          <p:cNvPr id="929" name="Google Shape;929;p13"/>
          <p:cNvSpPr/>
          <p:nvPr/>
        </p:nvSpPr>
        <p:spPr>
          <a:xfrm>
            <a:off x="4026329" y="4331113"/>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69%</a:t>
            </a:r>
            <a:endParaRPr/>
          </a:p>
        </p:txBody>
      </p:sp>
      <p:sp>
        <p:nvSpPr>
          <p:cNvPr id="930" name="Google Shape;930;p13"/>
          <p:cNvSpPr/>
          <p:nvPr/>
        </p:nvSpPr>
        <p:spPr>
          <a:xfrm>
            <a:off x="4040024" y="4762931"/>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56%</a:t>
            </a:r>
            <a:endParaRPr/>
          </a:p>
        </p:txBody>
      </p:sp>
      <p:sp>
        <p:nvSpPr>
          <p:cNvPr id="931" name="Google Shape;931;p13"/>
          <p:cNvSpPr/>
          <p:nvPr/>
        </p:nvSpPr>
        <p:spPr>
          <a:xfrm>
            <a:off x="5644404" y="4322366"/>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71%</a:t>
            </a:r>
            <a:endParaRPr/>
          </a:p>
        </p:txBody>
      </p:sp>
      <p:sp>
        <p:nvSpPr>
          <p:cNvPr id="932" name="Google Shape;932;p13"/>
          <p:cNvSpPr/>
          <p:nvPr/>
        </p:nvSpPr>
        <p:spPr>
          <a:xfrm>
            <a:off x="5658099" y="4754184"/>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55%</a:t>
            </a:r>
            <a:endParaRPr/>
          </a:p>
        </p:txBody>
      </p:sp>
      <p:sp>
        <p:nvSpPr>
          <p:cNvPr id="933" name="Google Shape;933;p13"/>
          <p:cNvSpPr/>
          <p:nvPr/>
        </p:nvSpPr>
        <p:spPr>
          <a:xfrm>
            <a:off x="7322552" y="4320125"/>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84%</a:t>
            </a:r>
            <a:endParaRPr/>
          </a:p>
        </p:txBody>
      </p:sp>
      <p:sp>
        <p:nvSpPr>
          <p:cNvPr id="934" name="Google Shape;934;p13"/>
          <p:cNvSpPr/>
          <p:nvPr/>
        </p:nvSpPr>
        <p:spPr>
          <a:xfrm>
            <a:off x="7336247" y="4751943"/>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78%</a:t>
            </a:r>
            <a:endParaRPr/>
          </a:p>
        </p:txBody>
      </p:sp>
      <p:sp>
        <p:nvSpPr>
          <p:cNvPr id="935" name="Google Shape;935;p13"/>
          <p:cNvSpPr/>
          <p:nvPr/>
        </p:nvSpPr>
        <p:spPr>
          <a:xfrm>
            <a:off x="9007014" y="4323779"/>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80%</a:t>
            </a:r>
            <a:endParaRPr/>
          </a:p>
        </p:txBody>
      </p:sp>
      <p:sp>
        <p:nvSpPr>
          <p:cNvPr id="936" name="Google Shape;936;p13"/>
          <p:cNvSpPr/>
          <p:nvPr/>
        </p:nvSpPr>
        <p:spPr>
          <a:xfrm>
            <a:off x="9020709" y="4755597"/>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77%</a:t>
            </a:r>
            <a:endParaRPr/>
          </a:p>
        </p:txBody>
      </p:sp>
      <p:sp>
        <p:nvSpPr>
          <p:cNvPr id="937" name="Google Shape;937;p13"/>
          <p:cNvSpPr/>
          <p:nvPr/>
        </p:nvSpPr>
        <p:spPr>
          <a:xfrm>
            <a:off x="10691054" y="4316013"/>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a:solidFill>
                  <a:schemeClr val="lt1"/>
                </a:solidFill>
                <a:latin typeface="Calibri"/>
                <a:ea typeface="Calibri"/>
                <a:cs typeface="Calibri"/>
                <a:sym typeface="Calibri"/>
              </a:rPr>
              <a:t>73%</a:t>
            </a:r>
            <a:endParaRPr/>
          </a:p>
        </p:txBody>
      </p:sp>
      <p:sp>
        <p:nvSpPr>
          <p:cNvPr id="938" name="Google Shape;938;p13"/>
          <p:cNvSpPr/>
          <p:nvPr/>
        </p:nvSpPr>
        <p:spPr>
          <a:xfrm>
            <a:off x="10704749" y="4747831"/>
            <a:ext cx="554107" cy="29602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b="1" dirty="0">
                <a:solidFill>
                  <a:schemeClr val="lt1"/>
                </a:solidFill>
                <a:latin typeface="Calibri"/>
                <a:ea typeface="Calibri"/>
                <a:cs typeface="Calibri"/>
                <a:sym typeface="Calibri"/>
              </a:rPr>
              <a:t>63%</a:t>
            </a:r>
            <a:endParaRPr dirty="0"/>
          </a:p>
        </p:txBody>
      </p:sp>
      <p:sp>
        <p:nvSpPr>
          <p:cNvPr id="939" name="Google Shape;939;p13"/>
          <p:cNvSpPr txBox="1"/>
          <p:nvPr/>
        </p:nvSpPr>
        <p:spPr>
          <a:xfrm>
            <a:off x="2954103" y="4359019"/>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143</a:t>
            </a:r>
            <a:endParaRPr/>
          </a:p>
        </p:txBody>
      </p:sp>
      <p:sp>
        <p:nvSpPr>
          <p:cNvPr id="940" name="Google Shape;940;p13"/>
          <p:cNvSpPr txBox="1"/>
          <p:nvPr/>
        </p:nvSpPr>
        <p:spPr>
          <a:xfrm>
            <a:off x="3446546" y="4356968"/>
            <a:ext cx="365806"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10,0</a:t>
            </a:r>
            <a:endParaRPr/>
          </a:p>
        </p:txBody>
      </p:sp>
      <p:sp>
        <p:nvSpPr>
          <p:cNvPr id="941" name="Google Shape;941;p13"/>
          <p:cNvSpPr txBox="1"/>
          <p:nvPr/>
        </p:nvSpPr>
        <p:spPr>
          <a:xfrm>
            <a:off x="2988760" y="4798461"/>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320</a:t>
            </a:r>
            <a:endParaRPr/>
          </a:p>
        </p:txBody>
      </p:sp>
      <p:sp>
        <p:nvSpPr>
          <p:cNvPr id="942" name="Google Shape;942;p13"/>
          <p:cNvSpPr txBox="1"/>
          <p:nvPr/>
        </p:nvSpPr>
        <p:spPr>
          <a:xfrm>
            <a:off x="3444810" y="4796410"/>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737</a:t>
            </a:r>
            <a:endParaRPr/>
          </a:p>
        </p:txBody>
      </p:sp>
      <p:sp>
        <p:nvSpPr>
          <p:cNvPr id="943" name="Google Shape;943;p13"/>
          <p:cNvSpPr txBox="1"/>
          <p:nvPr/>
        </p:nvSpPr>
        <p:spPr>
          <a:xfrm>
            <a:off x="4646372" y="4377923"/>
            <a:ext cx="28725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98</a:t>
            </a:r>
            <a:endParaRPr/>
          </a:p>
        </p:txBody>
      </p:sp>
      <p:sp>
        <p:nvSpPr>
          <p:cNvPr id="944" name="Google Shape;944;p13"/>
          <p:cNvSpPr txBox="1"/>
          <p:nvPr/>
        </p:nvSpPr>
        <p:spPr>
          <a:xfrm>
            <a:off x="5138815" y="4375872"/>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5,0</a:t>
            </a:r>
            <a:endParaRPr/>
          </a:p>
        </p:txBody>
      </p:sp>
      <p:sp>
        <p:nvSpPr>
          <p:cNvPr id="945" name="Google Shape;945;p13"/>
          <p:cNvSpPr txBox="1"/>
          <p:nvPr/>
        </p:nvSpPr>
        <p:spPr>
          <a:xfrm>
            <a:off x="6319303" y="4359019"/>
            <a:ext cx="28725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29</a:t>
            </a:r>
            <a:endParaRPr/>
          </a:p>
        </p:txBody>
      </p:sp>
      <p:sp>
        <p:nvSpPr>
          <p:cNvPr id="946" name="Google Shape;946;p13"/>
          <p:cNvSpPr txBox="1"/>
          <p:nvPr/>
        </p:nvSpPr>
        <p:spPr>
          <a:xfrm>
            <a:off x="6811746" y="4356968"/>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5,0</a:t>
            </a:r>
            <a:endParaRPr/>
          </a:p>
        </p:txBody>
      </p:sp>
      <p:sp>
        <p:nvSpPr>
          <p:cNvPr id="947" name="Google Shape;947;p13"/>
          <p:cNvSpPr txBox="1"/>
          <p:nvPr/>
        </p:nvSpPr>
        <p:spPr>
          <a:xfrm>
            <a:off x="8011572" y="4374245"/>
            <a:ext cx="28725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14</a:t>
            </a:r>
            <a:endParaRPr/>
          </a:p>
        </p:txBody>
      </p:sp>
      <p:sp>
        <p:nvSpPr>
          <p:cNvPr id="948" name="Google Shape;948;p13"/>
          <p:cNvSpPr txBox="1"/>
          <p:nvPr/>
        </p:nvSpPr>
        <p:spPr>
          <a:xfrm>
            <a:off x="8504015" y="4372194"/>
            <a:ext cx="31451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1,0</a:t>
            </a:r>
            <a:endParaRPr/>
          </a:p>
        </p:txBody>
      </p:sp>
      <p:sp>
        <p:nvSpPr>
          <p:cNvPr id="949" name="Google Shape;949;p13"/>
          <p:cNvSpPr txBox="1"/>
          <p:nvPr/>
        </p:nvSpPr>
        <p:spPr>
          <a:xfrm>
            <a:off x="9747807" y="4374245"/>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284</a:t>
            </a:r>
            <a:endParaRPr/>
          </a:p>
        </p:txBody>
      </p:sp>
      <p:sp>
        <p:nvSpPr>
          <p:cNvPr id="950" name="Google Shape;950;p13"/>
          <p:cNvSpPr txBox="1"/>
          <p:nvPr/>
        </p:nvSpPr>
        <p:spPr>
          <a:xfrm>
            <a:off x="10240250" y="4372194"/>
            <a:ext cx="38985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1068</a:t>
            </a:r>
            <a:endParaRPr/>
          </a:p>
        </p:txBody>
      </p:sp>
      <p:sp>
        <p:nvSpPr>
          <p:cNvPr id="951" name="Google Shape;951;p13"/>
          <p:cNvSpPr txBox="1"/>
          <p:nvPr/>
        </p:nvSpPr>
        <p:spPr>
          <a:xfrm>
            <a:off x="2134761" y="4811636"/>
            <a:ext cx="593172" cy="15124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i="0" u="none" strike="noStrike" cap="none" dirty="0">
                <a:solidFill>
                  <a:srgbClr val="FF0000"/>
                </a:solidFill>
                <a:latin typeface="Century Gothic"/>
                <a:ea typeface="Century Gothic"/>
                <a:cs typeface="Century Gothic"/>
                <a:sym typeface="Century Gothic"/>
              </a:rPr>
              <a:t>In Hours</a:t>
            </a:r>
            <a:endParaRPr dirty="0">
              <a:solidFill>
                <a:srgbClr val="FF0000"/>
              </a:solidFill>
            </a:endParaRPr>
          </a:p>
        </p:txBody>
      </p:sp>
      <p:sp>
        <p:nvSpPr>
          <p:cNvPr id="952" name="Google Shape;952;p13"/>
          <p:cNvSpPr txBox="1"/>
          <p:nvPr/>
        </p:nvSpPr>
        <p:spPr>
          <a:xfrm>
            <a:off x="4706666" y="4804750"/>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319</a:t>
            </a:r>
            <a:endParaRPr/>
          </a:p>
        </p:txBody>
      </p:sp>
      <p:sp>
        <p:nvSpPr>
          <p:cNvPr id="953" name="Google Shape;953;p13"/>
          <p:cNvSpPr txBox="1"/>
          <p:nvPr/>
        </p:nvSpPr>
        <p:spPr>
          <a:xfrm>
            <a:off x="5162716" y="4802699"/>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710</a:t>
            </a:r>
            <a:endParaRPr/>
          </a:p>
        </p:txBody>
      </p:sp>
      <p:sp>
        <p:nvSpPr>
          <p:cNvPr id="954" name="Google Shape;954;p13"/>
          <p:cNvSpPr txBox="1"/>
          <p:nvPr/>
        </p:nvSpPr>
        <p:spPr>
          <a:xfrm>
            <a:off x="6364830" y="4822521"/>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104</a:t>
            </a:r>
            <a:endParaRPr/>
          </a:p>
        </p:txBody>
      </p:sp>
      <p:sp>
        <p:nvSpPr>
          <p:cNvPr id="955" name="Google Shape;955;p13"/>
          <p:cNvSpPr txBox="1"/>
          <p:nvPr/>
        </p:nvSpPr>
        <p:spPr>
          <a:xfrm>
            <a:off x="6820880" y="4820470"/>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474</a:t>
            </a:r>
            <a:endParaRPr/>
          </a:p>
        </p:txBody>
      </p:sp>
      <p:sp>
        <p:nvSpPr>
          <p:cNvPr id="956" name="Google Shape;956;p13"/>
          <p:cNvSpPr txBox="1"/>
          <p:nvPr/>
        </p:nvSpPr>
        <p:spPr>
          <a:xfrm>
            <a:off x="8098710" y="4822521"/>
            <a:ext cx="28725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72</a:t>
            </a:r>
            <a:endParaRPr/>
          </a:p>
        </p:txBody>
      </p:sp>
      <p:sp>
        <p:nvSpPr>
          <p:cNvPr id="957" name="Google Shape;957;p13"/>
          <p:cNvSpPr txBox="1"/>
          <p:nvPr/>
        </p:nvSpPr>
        <p:spPr>
          <a:xfrm>
            <a:off x="8554760" y="4820470"/>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317</a:t>
            </a:r>
            <a:endParaRPr/>
          </a:p>
        </p:txBody>
      </p:sp>
      <p:sp>
        <p:nvSpPr>
          <p:cNvPr id="958" name="Google Shape;958;p13"/>
          <p:cNvSpPr txBox="1"/>
          <p:nvPr/>
        </p:nvSpPr>
        <p:spPr>
          <a:xfrm>
            <a:off x="9812286" y="4805336"/>
            <a:ext cx="338554"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815</a:t>
            </a:r>
            <a:endParaRPr/>
          </a:p>
        </p:txBody>
      </p:sp>
      <p:sp>
        <p:nvSpPr>
          <p:cNvPr id="959" name="Google Shape;959;p13"/>
          <p:cNvSpPr txBox="1"/>
          <p:nvPr/>
        </p:nvSpPr>
        <p:spPr>
          <a:xfrm>
            <a:off x="10268336" y="4803285"/>
            <a:ext cx="38985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2238</a:t>
            </a:r>
            <a:endParaRPr/>
          </a:p>
        </p:txBody>
      </p:sp>
      <p:sp>
        <p:nvSpPr>
          <p:cNvPr id="960" name="Google Shape;960;p13"/>
          <p:cNvSpPr txBox="1"/>
          <p:nvPr/>
        </p:nvSpPr>
        <p:spPr>
          <a:xfrm>
            <a:off x="73004" y="4356968"/>
            <a:ext cx="1521578" cy="18078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B0F0"/>
              </a:buClr>
              <a:buSzPts val="800"/>
              <a:buFont typeface="Quattrocento Sans"/>
              <a:buNone/>
            </a:pPr>
            <a:r>
              <a:rPr lang="en-US" sz="800" b="1" dirty="0">
                <a:solidFill>
                  <a:srgbClr val="FF0000"/>
                </a:solidFill>
                <a:latin typeface="Century Gothic"/>
                <a:ea typeface="Century Gothic"/>
                <a:cs typeface="Century Gothic"/>
                <a:sym typeface="Century Gothic"/>
              </a:rPr>
              <a:t>Delta last first booking time</a:t>
            </a:r>
            <a:endParaRPr sz="800" b="1" i="0" u="none" strike="noStrike" cap="none" dirty="0">
              <a:solidFill>
                <a:srgbClr val="FF0000"/>
              </a:solidFill>
              <a:latin typeface="Century Gothic"/>
              <a:ea typeface="Century Gothic"/>
              <a:cs typeface="Century Gothic"/>
              <a:sym typeface="Century Gothic"/>
            </a:endParaRPr>
          </a:p>
        </p:txBody>
      </p:sp>
      <p:sp>
        <p:nvSpPr>
          <p:cNvPr id="154" name="Google Shape;775;p10">
            <a:extLst>
              <a:ext uri="{FF2B5EF4-FFF2-40B4-BE49-F238E27FC236}">
                <a16:creationId xmlns:a16="http://schemas.microsoft.com/office/drawing/2014/main" id="{7AE1D4E5-7E08-4C40-BAE9-57D82F64272F}"/>
              </a:ext>
            </a:extLst>
          </p:cNvPr>
          <p:cNvSpPr/>
          <p:nvPr/>
        </p:nvSpPr>
        <p:spPr>
          <a:xfrm>
            <a:off x="2704" y="2897428"/>
            <a:ext cx="1993940" cy="400110"/>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 name="Google Shape;775;p10">
            <a:extLst>
              <a:ext uri="{FF2B5EF4-FFF2-40B4-BE49-F238E27FC236}">
                <a16:creationId xmlns:a16="http://schemas.microsoft.com/office/drawing/2014/main" id="{DD68CA05-E521-4ED4-AEFA-564888CFE2E8}"/>
              </a:ext>
            </a:extLst>
          </p:cNvPr>
          <p:cNvSpPr/>
          <p:nvPr/>
        </p:nvSpPr>
        <p:spPr>
          <a:xfrm>
            <a:off x="-63709" y="3297538"/>
            <a:ext cx="1993940" cy="400110"/>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14"/>
          <p:cNvSpPr/>
          <p:nvPr/>
        </p:nvSpPr>
        <p:spPr>
          <a:xfrm>
            <a:off x="114486" y="88904"/>
            <a:ext cx="9457162" cy="4001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rgbClr val="FF0000"/>
                </a:solidFill>
                <a:latin typeface="Century Gothic"/>
                <a:ea typeface="Century Gothic"/>
                <a:cs typeface="Century Gothic"/>
                <a:sym typeface="Century Gothic"/>
              </a:rPr>
              <a:t>Advanced Analysis and Feature Building – Clustering</a:t>
            </a:r>
            <a:endParaRPr sz="2000" b="1" i="0" u="none" strike="noStrike" cap="none" dirty="0">
              <a:solidFill>
                <a:srgbClr val="FF0000"/>
              </a:solidFill>
              <a:latin typeface="Century Gothic"/>
              <a:ea typeface="Century Gothic"/>
              <a:cs typeface="Century Gothic"/>
              <a:sym typeface="Century Gothic"/>
            </a:endParaRPr>
          </a:p>
        </p:txBody>
      </p:sp>
      <p:pic>
        <p:nvPicPr>
          <p:cNvPr id="967" name="Google Shape;967;p14"/>
          <p:cNvPicPr preferRelativeResize="0"/>
          <p:nvPr/>
        </p:nvPicPr>
        <p:blipFill rotWithShape="1">
          <a:blip r:embed="rId3">
            <a:alphaModFix/>
          </a:blip>
          <a:srcRect/>
          <a:stretch/>
        </p:blipFill>
        <p:spPr>
          <a:xfrm>
            <a:off x="179017" y="753438"/>
            <a:ext cx="5145013" cy="1786598"/>
          </a:xfrm>
          <a:prstGeom prst="rect">
            <a:avLst/>
          </a:prstGeom>
          <a:noFill/>
          <a:ln>
            <a:noFill/>
          </a:ln>
        </p:spPr>
      </p:pic>
      <p:sp>
        <p:nvSpPr>
          <p:cNvPr id="968" name="Google Shape;968;p14"/>
          <p:cNvSpPr/>
          <p:nvPr/>
        </p:nvSpPr>
        <p:spPr>
          <a:xfrm>
            <a:off x="3666147" y="489015"/>
            <a:ext cx="1657884" cy="2051022"/>
          </a:xfrm>
          <a:prstGeom prst="ellipse">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9" name="Google Shape;969;p14"/>
          <p:cNvSpPr txBox="1"/>
          <p:nvPr/>
        </p:nvSpPr>
        <p:spPr>
          <a:xfrm>
            <a:off x="5324031" y="753438"/>
            <a:ext cx="2940143" cy="6001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Century Gothic"/>
                <a:ea typeface="Century Gothic"/>
                <a:cs typeface="Century Gothic"/>
                <a:sym typeface="Century Gothic"/>
              </a:rPr>
              <a:t>The circle on the table marked the limit of lower and upper of dataset to detect outlier</a:t>
            </a:r>
            <a:endParaRPr/>
          </a:p>
        </p:txBody>
      </p:sp>
      <p:pic>
        <p:nvPicPr>
          <p:cNvPr id="970" name="Google Shape;970;p14"/>
          <p:cNvPicPr preferRelativeResize="0"/>
          <p:nvPr/>
        </p:nvPicPr>
        <p:blipFill rotWithShape="1">
          <a:blip r:embed="rId4">
            <a:alphaModFix/>
          </a:blip>
          <a:srcRect/>
          <a:stretch/>
        </p:blipFill>
        <p:spPr>
          <a:xfrm>
            <a:off x="345036" y="2886643"/>
            <a:ext cx="3369714" cy="3713425"/>
          </a:xfrm>
          <a:prstGeom prst="rect">
            <a:avLst/>
          </a:prstGeom>
          <a:noFill/>
          <a:ln>
            <a:noFill/>
          </a:ln>
        </p:spPr>
      </p:pic>
      <p:sp>
        <p:nvSpPr>
          <p:cNvPr id="971" name="Google Shape;971;p14"/>
          <p:cNvSpPr txBox="1"/>
          <p:nvPr/>
        </p:nvSpPr>
        <p:spPr>
          <a:xfrm>
            <a:off x="2788807" y="2871471"/>
            <a:ext cx="3324558" cy="9387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Century Gothic"/>
                <a:ea typeface="Century Gothic"/>
                <a:cs typeface="Century Gothic"/>
                <a:sym typeface="Century Gothic"/>
              </a:rPr>
              <a:t>Marked ‘Yes’ means this features have outlier,</a:t>
            </a:r>
            <a:endParaRPr/>
          </a:p>
          <a:p>
            <a:pPr marL="0" marR="0" lvl="0" indent="0" algn="l" rtl="0">
              <a:spcBef>
                <a:spcPts val="0"/>
              </a:spcBef>
              <a:spcAft>
                <a:spcPts val="0"/>
              </a:spcAft>
              <a:buNone/>
            </a:pPr>
            <a:r>
              <a:rPr lang="en-US" sz="1100">
                <a:solidFill>
                  <a:schemeClr val="dk1"/>
                </a:solidFill>
                <a:latin typeface="Century Gothic"/>
                <a:ea typeface="Century Gothic"/>
                <a:cs typeface="Century Gothic"/>
                <a:sym typeface="Century Gothic"/>
              </a:rPr>
              <a:t>Then for upper outlier data point will be replaced or imputation with limit upper outlier as well as lower outlier data point is replaced with limit lower outlier</a:t>
            </a:r>
            <a:endParaRPr/>
          </a:p>
        </p:txBody>
      </p:sp>
      <p:sp>
        <p:nvSpPr>
          <p:cNvPr id="972" name="Google Shape;972;p14"/>
          <p:cNvSpPr/>
          <p:nvPr/>
        </p:nvSpPr>
        <p:spPr>
          <a:xfrm>
            <a:off x="9258425" y="1958728"/>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a:solidFill>
                  <a:schemeClr val="lt1"/>
                </a:solidFill>
                <a:latin typeface="Century Gothic"/>
                <a:ea typeface="Century Gothic"/>
                <a:cs typeface="Century Gothic"/>
                <a:sym typeface="Century Gothic"/>
              </a:rPr>
              <a:t>Standardized</a:t>
            </a:r>
            <a:endParaRPr sz="1100" b="1">
              <a:solidFill>
                <a:schemeClr val="lt1"/>
              </a:solidFill>
              <a:latin typeface="Century Gothic"/>
              <a:ea typeface="Century Gothic"/>
              <a:cs typeface="Century Gothic"/>
              <a:sym typeface="Century Gothic"/>
            </a:endParaRPr>
          </a:p>
        </p:txBody>
      </p:sp>
      <p:cxnSp>
        <p:nvCxnSpPr>
          <p:cNvPr id="973" name="Google Shape;973;p14"/>
          <p:cNvCxnSpPr/>
          <p:nvPr/>
        </p:nvCxnSpPr>
        <p:spPr>
          <a:xfrm>
            <a:off x="8343210" y="1113785"/>
            <a:ext cx="3578173" cy="0"/>
          </a:xfrm>
          <a:prstGeom prst="straightConnector1">
            <a:avLst/>
          </a:prstGeom>
          <a:noFill/>
          <a:ln w="9525" cap="flat" cmpd="sng">
            <a:solidFill>
              <a:srgbClr val="FF0000"/>
            </a:solidFill>
            <a:prstDash val="solid"/>
            <a:miter lim="800000"/>
            <a:headEnd type="none" w="sm" len="sm"/>
            <a:tailEnd type="none" w="sm" len="sm"/>
          </a:ln>
        </p:spPr>
      </p:cxnSp>
      <p:sp>
        <p:nvSpPr>
          <p:cNvPr id="974" name="Google Shape;974;p14"/>
          <p:cNvSpPr txBox="1"/>
          <p:nvPr/>
        </p:nvSpPr>
        <p:spPr>
          <a:xfrm>
            <a:off x="9195721" y="862901"/>
            <a:ext cx="1724959" cy="250884"/>
          </a:xfrm>
          <a:prstGeom prst="rect">
            <a:avLst/>
          </a:prstGeom>
          <a:noFill/>
          <a:ln>
            <a:noFill/>
          </a:ln>
        </p:spPr>
        <p:txBody>
          <a:bodyPr spcFirstLastPara="1" wrap="square" lIns="0" tIns="0" rIns="0" bIns="0" anchor="t" anchorCtr="0">
            <a:noAutofit/>
          </a:bodyPr>
          <a:lstStyle/>
          <a:p>
            <a:pPr marL="0" marR="0" lvl="0" indent="-76200" algn="ctr" rtl="0">
              <a:lnSpc>
                <a:spcPct val="100000"/>
              </a:lnSpc>
              <a:spcBef>
                <a:spcPts val="0"/>
              </a:spcBef>
              <a:spcAft>
                <a:spcPts val="0"/>
              </a:spcAft>
              <a:buClr>
                <a:srgbClr val="00B0F0"/>
              </a:buClr>
              <a:buSzPts val="1200"/>
              <a:buFont typeface="Quattrocento Sans"/>
              <a:buChar char="​"/>
            </a:pPr>
            <a:r>
              <a:rPr lang="en-US" sz="1200" b="1" i="0" u="none" strike="noStrike" cap="none" dirty="0">
                <a:solidFill>
                  <a:srgbClr val="FF0000"/>
                </a:solidFill>
                <a:latin typeface="Century Gothic"/>
                <a:ea typeface="Century Gothic"/>
                <a:cs typeface="Century Gothic"/>
                <a:sym typeface="Century Gothic"/>
              </a:rPr>
              <a:t>Clustering Processing</a:t>
            </a:r>
            <a:endParaRPr dirty="0">
              <a:solidFill>
                <a:srgbClr val="FF0000"/>
              </a:solidFill>
            </a:endParaRPr>
          </a:p>
        </p:txBody>
      </p:sp>
      <p:sp>
        <p:nvSpPr>
          <p:cNvPr id="975" name="Google Shape;975;p14"/>
          <p:cNvSpPr/>
          <p:nvPr/>
        </p:nvSpPr>
        <p:spPr>
          <a:xfrm>
            <a:off x="7241333" y="3843518"/>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err="1">
                <a:solidFill>
                  <a:schemeClr val="lt1"/>
                </a:solidFill>
                <a:latin typeface="Century Gothic"/>
                <a:ea typeface="Century Gothic"/>
                <a:cs typeface="Century Gothic"/>
                <a:sym typeface="Century Gothic"/>
              </a:rPr>
              <a:t>Silhoutte</a:t>
            </a:r>
            <a:r>
              <a:rPr lang="en-US" sz="1100" dirty="0">
                <a:solidFill>
                  <a:schemeClr val="lt1"/>
                </a:solidFill>
                <a:latin typeface="Century Gothic"/>
                <a:ea typeface="Century Gothic"/>
                <a:cs typeface="Century Gothic"/>
                <a:sym typeface="Century Gothic"/>
              </a:rPr>
              <a:t> Score</a:t>
            </a:r>
            <a:endParaRPr sz="1100" b="1" dirty="0">
              <a:solidFill>
                <a:schemeClr val="lt1"/>
              </a:solidFill>
              <a:latin typeface="Century Gothic"/>
              <a:ea typeface="Century Gothic"/>
              <a:cs typeface="Century Gothic"/>
              <a:sym typeface="Century Gothic"/>
            </a:endParaRPr>
          </a:p>
        </p:txBody>
      </p:sp>
      <p:sp>
        <p:nvSpPr>
          <p:cNvPr id="976" name="Google Shape;976;p14"/>
          <p:cNvSpPr/>
          <p:nvPr/>
        </p:nvSpPr>
        <p:spPr>
          <a:xfrm>
            <a:off x="9275887" y="4839892"/>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a:solidFill>
                  <a:schemeClr val="lt1"/>
                </a:solidFill>
                <a:latin typeface="Century Gothic"/>
                <a:ea typeface="Century Gothic"/>
                <a:cs typeface="Century Gothic"/>
                <a:sym typeface="Century Gothic"/>
              </a:rPr>
              <a:t>K-means Clustering</a:t>
            </a:r>
            <a:endParaRPr sz="1100" b="1">
              <a:solidFill>
                <a:schemeClr val="lt1"/>
              </a:solidFill>
              <a:latin typeface="Century Gothic"/>
              <a:ea typeface="Century Gothic"/>
              <a:cs typeface="Century Gothic"/>
              <a:sym typeface="Century Gothic"/>
            </a:endParaRPr>
          </a:p>
        </p:txBody>
      </p:sp>
      <p:sp>
        <p:nvSpPr>
          <p:cNvPr id="977" name="Google Shape;977;p14"/>
          <p:cNvSpPr/>
          <p:nvPr/>
        </p:nvSpPr>
        <p:spPr>
          <a:xfrm>
            <a:off x="9509032" y="1167327"/>
            <a:ext cx="951019" cy="60016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900">
                <a:solidFill>
                  <a:schemeClr val="dk1"/>
                </a:solidFill>
                <a:latin typeface="Century Gothic"/>
                <a:ea typeface="Century Gothic"/>
                <a:cs typeface="Century Gothic"/>
                <a:sym typeface="Century Gothic"/>
              </a:rPr>
              <a:t>Dataset</a:t>
            </a:r>
            <a:endParaRPr sz="900">
              <a:solidFill>
                <a:schemeClr val="dk1"/>
              </a:solidFill>
              <a:latin typeface="Century Gothic"/>
              <a:ea typeface="Century Gothic"/>
              <a:cs typeface="Century Gothic"/>
              <a:sym typeface="Century Gothic"/>
            </a:endParaRPr>
          </a:p>
        </p:txBody>
      </p:sp>
      <p:sp>
        <p:nvSpPr>
          <p:cNvPr id="978" name="Google Shape;978;p14"/>
          <p:cNvSpPr/>
          <p:nvPr/>
        </p:nvSpPr>
        <p:spPr>
          <a:xfrm>
            <a:off x="9420557" y="2750309"/>
            <a:ext cx="1127969" cy="60016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a:solidFill>
                  <a:schemeClr val="dk1"/>
                </a:solidFill>
                <a:latin typeface="Century Gothic"/>
                <a:ea typeface="Century Gothic"/>
                <a:cs typeface="Century Gothic"/>
                <a:sym typeface="Century Gothic"/>
              </a:rPr>
              <a:t>Standardize Data</a:t>
            </a:r>
            <a:endParaRPr sz="800">
              <a:solidFill>
                <a:schemeClr val="dk1"/>
              </a:solidFill>
              <a:latin typeface="Century Gothic"/>
              <a:ea typeface="Century Gothic"/>
              <a:cs typeface="Century Gothic"/>
              <a:sym typeface="Century Gothic"/>
            </a:endParaRPr>
          </a:p>
        </p:txBody>
      </p:sp>
      <p:cxnSp>
        <p:nvCxnSpPr>
          <p:cNvPr id="979" name="Google Shape;979;p14"/>
          <p:cNvCxnSpPr>
            <a:stCxn id="977" idx="4"/>
            <a:endCxn id="972" idx="0"/>
          </p:cNvCxnSpPr>
          <p:nvPr/>
        </p:nvCxnSpPr>
        <p:spPr>
          <a:xfrm>
            <a:off x="9984542" y="1767489"/>
            <a:ext cx="0" cy="191100"/>
          </a:xfrm>
          <a:prstGeom prst="straightConnector1">
            <a:avLst/>
          </a:prstGeom>
          <a:noFill/>
          <a:ln w="19050" cap="flat" cmpd="sng">
            <a:solidFill>
              <a:schemeClr val="dk1"/>
            </a:solidFill>
            <a:prstDash val="solid"/>
            <a:miter lim="800000"/>
            <a:headEnd type="none" w="sm" len="sm"/>
            <a:tailEnd type="triangle" w="med" len="med"/>
          </a:ln>
        </p:spPr>
      </p:cxnSp>
      <p:cxnSp>
        <p:nvCxnSpPr>
          <p:cNvPr id="980" name="Google Shape;980;p14"/>
          <p:cNvCxnSpPr>
            <a:stCxn id="972" idx="2"/>
            <a:endCxn id="978" idx="0"/>
          </p:cNvCxnSpPr>
          <p:nvPr/>
        </p:nvCxnSpPr>
        <p:spPr>
          <a:xfrm>
            <a:off x="9984542" y="2559070"/>
            <a:ext cx="0" cy="191100"/>
          </a:xfrm>
          <a:prstGeom prst="straightConnector1">
            <a:avLst/>
          </a:prstGeom>
          <a:noFill/>
          <a:ln w="19050" cap="flat" cmpd="sng">
            <a:solidFill>
              <a:schemeClr val="dk1"/>
            </a:solidFill>
            <a:prstDash val="solid"/>
            <a:miter lim="800000"/>
            <a:headEnd type="none" w="sm" len="sm"/>
            <a:tailEnd type="triangle" w="med" len="med"/>
          </a:ln>
        </p:spPr>
      </p:cxnSp>
      <p:cxnSp>
        <p:nvCxnSpPr>
          <p:cNvPr id="981" name="Google Shape;981;p14"/>
          <p:cNvCxnSpPr>
            <a:stCxn id="978" idx="2"/>
            <a:endCxn id="975" idx="0"/>
          </p:cNvCxnSpPr>
          <p:nvPr/>
        </p:nvCxnSpPr>
        <p:spPr>
          <a:xfrm rot="10800000" flipV="1">
            <a:off x="7967451" y="3050390"/>
            <a:ext cx="1453107" cy="793128"/>
          </a:xfrm>
          <a:prstGeom prst="bentConnector2">
            <a:avLst/>
          </a:prstGeom>
          <a:noFill/>
          <a:ln w="19050" cap="flat" cmpd="sng">
            <a:solidFill>
              <a:schemeClr val="dk1"/>
            </a:solidFill>
            <a:prstDash val="solid"/>
            <a:miter lim="800000"/>
            <a:headEnd type="none" w="sm" len="sm"/>
            <a:tailEnd type="triangle" w="med" len="med"/>
          </a:ln>
        </p:spPr>
      </p:cxnSp>
      <p:cxnSp>
        <p:nvCxnSpPr>
          <p:cNvPr id="982" name="Google Shape;982;p14"/>
          <p:cNvCxnSpPr>
            <a:stCxn id="978" idx="4"/>
            <a:endCxn id="976" idx="0"/>
          </p:cNvCxnSpPr>
          <p:nvPr/>
        </p:nvCxnSpPr>
        <p:spPr>
          <a:xfrm>
            <a:off x="9984542" y="3350471"/>
            <a:ext cx="17400" cy="1489500"/>
          </a:xfrm>
          <a:prstGeom prst="straightConnector1">
            <a:avLst/>
          </a:prstGeom>
          <a:noFill/>
          <a:ln w="19050" cap="flat" cmpd="sng">
            <a:solidFill>
              <a:schemeClr val="dk1"/>
            </a:solidFill>
            <a:prstDash val="solid"/>
            <a:miter lim="800000"/>
            <a:headEnd type="none" w="sm" len="sm"/>
            <a:tailEnd type="triangle" w="med" len="med"/>
          </a:ln>
        </p:spPr>
      </p:cxnSp>
      <p:sp>
        <p:nvSpPr>
          <p:cNvPr id="983" name="Google Shape;983;p14"/>
          <p:cNvSpPr/>
          <p:nvPr/>
        </p:nvSpPr>
        <p:spPr>
          <a:xfrm>
            <a:off x="7491940" y="4826560"/>
            <a:ext cx="951019" cy="60016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900">
                <a:solidFill>
                  <a:schemeClr val="dk1"/>
                </a:solidFill>
                <a:latin typeface="Century Gothic"/>
                <a:ea typeface="Century Gothic"/>
                <a:cs typeface="Century Gothic"/>
                <a:sym typeface="Century Gothic"/>
              </a:rPr>
              <a:t>Number cluster</a:t>
            </a:r>
            <a:endParaRPr sz="900">
              <a:solidFill>
                <a:schemeClr val="dk1"/>
              </a:solidFill>
              <a:latin typeface="Century Gothic"/>
              <a:ea typeface="Century Gothic"/>
              <a:cs typeface="Century Gothic"/>
              <a:sym typeface="Century Gothic"/>
            </a:endParaRPr>
          </a:p>
        </p:txBody>
      </p:sp>
      <p:cxnSp>
        <p:nvCxnSpPr>
          <p:cNvPr id="984" name="Google Shape;984;p14"/>
          <p:cNvCxnSpPr>
            <a:stCxn id="975" idx="2"/>
            <a:endCxn id="983" idx="0"/>
          </p:cNvCxnSpPr>
          <p:nvPr/>
        </p:nvCxnSpPr>
        <p:spPr>
          <a:xfrm>
            <a:off x="7967450" y="4443860"/>
            <a:ext cx="0" cy="382700"/>
          </a:xfrm>
          <a:prstGeom prst="straightConnector1">
            <a:avLst/>
          </a:prstGeom>
          <a:noFill/>
          <a:ln w="19050" cap="flat" cmpd="sng">
            <a:solidFill>
              <a:schemeClr val="dk1"/>
            </a:solidFill>
            <a:prstDash val="solid"/>
            <a:miter lim="800000"/>
            <a:headEnd type="none" w="sm" len="sm"/>
            <a:tailEnd type="triangle" w="med" len="med"/>
          </a:ln>
        </p:spPr>
      </p:cxnSp>
      <p:cxnSp>
        <p:nvCxnSpPr>
          <p:cNvPr id="985" name="Google Shape;985;p14"/>
          <p:cNvCxnSpPr>
            <a:stCxn id="983" idx="6"/>
            <a:endCxn id="976" idx="1"/>
          </p:cNvCxnSpPr>
          <p:nvPr/>
        </p:nvCxnSpPr>
        <p:spPr>
          <a:xfrm>
            <a:off x="8442959" y="5126641"/>
            <a:ext cx="832800" cy="13500"/>
          </a:xfrm>
          <a:prstGeom prst="straightConnector1">
            <a:avLst/>
          </a:prstGeom>
          <a:noFill/>
          <a:ln w="19050" cap="flat" cmpd="sng">
            <a:solidFill>
              <a:schemeClr val="dk1"/>
            </a:solidFill>
            <a:prstDash val="solid"/>
            <a:miter lim="800000"/>
            <a:headEnd type="none" w="sm" len="sm"/>
            <a:tailEnd type="triangle" w="med" len="med"/>
          </a:ln>
        </p:spPr>
      </p:cxnSp>
      <p:sp>
        <p:nvSpPr>
          <p:cNvPr id="986" name="Google Shape;986;p14"/>
          <p:cNvSpPr/>
          <p:nvPr/>
        </p:nvSpPr>
        <p:spPr>
          <a:xfrm>
            <a:off x="7491940" y="5804391"/>
            <a:ext cx="1452234" cy="600342"/>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a:solidFill>
                  <a:schemeClr val="lt1"/>
                </a:solidFill>
                <a:latin typeface="Century Gothic"/>
                <a:ea typeface="Century Gothic"/>
                <a:cs typeface="Century Gothic"/>
                <a:sym typeface="Century Gothic"/>
              </a:rPr>
              <a:t>Summary</a:t>
            </a:r>
            <a:endParaRPr sz="1100" b="1">
              <a:solidFill>
                <a:schemeClr val="lt1"/>
              </a:solidFill>
              <a:latin typeface="Century Gothic"/>
              <a:ea typeface="Century Gothic"/>
              <a:cs typeface="Century Gothic"/>
              <a:sym typeface="Century Gothic"/>
            </a:endParaRPr>
          </a:p>
        </p:txBody>
      </p:sp>
      <p:sp>
        <p:nvSpPr>
          <p:cNvPr id="987" name="Google Shape;987;p14"/>
          <p:cNvSpPr/>
          <p:nvPr/>
        </p:nvSpPr>
        <p:spPr>
          <a:xfrm>
            <a:off x="9451485" y="5804391"/>
            <a:ext cx="1127969" cy="60016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800">
                <a:solidFill>
                  <a:schemeClr val="dk1"/>
                </a:solidFill>
                <a:latin typeface="Century Gothic"/>
                <a:ea typeface="Century Gothic"/>
                <a:cs typeface="Century Gothic"/>
                <a:sym typeface="Century Gothic"/>
              </a:rPr>
              <a:t>Dataset with segment clustering</a:t>
            </a:r>
            <a:endParaRPr sz="800">
              <a:solidFill>
                <a:schemeClr val="dk1"/>
              </a:solidFill>
              <a:latin typeface="Century Gothic"/>
              <a:ea typeface="Century Gothic"/>
              <a:cs typeface="Century Gothic"/>
              <a:sym typeface="Century Gothic"/>
            </a:endParaRPr>
          </a:p>
        </p:txBody>
      </p:sp>
      <p:cxnSp>
        <p:nvCxnSpPr>
          <p:cNvPr id="988" name="Google Shape;988;p14"/>
          <p:cNvCxnSpPr>
            <a:stCxn id="976" idx="2"/>
            <a:endCxn id="987" idx="0"/>
          </p:cNvCxnSpPr>
          <p:nvPr/>
        </p:nvCxnSpPr>
        <p:spPr>
          <a:xfrm>
            <a:off x="10002004" y="5440234"/>
            <a:ext cx="13500" cy="364200"/>
          </a:xfrm>
          <a:prstGeom prst="straightConnector1">
            <a:avLst/>
          </a:prstGeom>
          <a:noFill/>
          <a:ln w="19050" cap="flat" cmpd="sng">
            <a:solidFill>
              <a:schemeClr val="dk1"/>
            </a:solidFill>
            <a:prstDash val="solid"/>
            <a:miter lim="800000"/>
            <a:headEnd type="none" w="sm" len="sm"/>
            <a:tailEnd type="triangle" w="med" len="med"/>
          </a:ln>
        </p:spPr>
      </p:cxnSp>
      <p:cxnSp>
        <p:nvCxnSpPr>
          <p:cNvPr id="989" name="Google Shape;989;p14"/>
          <p:cNvCxnSpPr>
            <a:stCxn id="987" idx="2"/>
            <a:endCxn id="986" idx="3"/>
          </p:cNvCxnSpPr>
          <p:nvPr/>
        </p:nvCxnSpPr>
        <p:spPr>
          <a:xfrm rot="10800000">
            <a:off x="8944185" y="6104472"/>
            <a:ext cx="507300" cy="0"/>
          </a:xfrm>
          <a:prstGeom prst="straightConnector1">
            <a:avLst/>
          </a:prstGeom>
          <a:noFill/>
          <a:ln w="19050" cap="flat" cmpd="sng">
            <a:solidFill>
              <a:schemeClr val="dk1"/>
            </a:solidFill>
            <a:prstDash val="solid"/>
            <a:miter lim="800000"/>
            <a:headEnd type="none" w="sm" len="sm"/>
            <a:tailEnd type="triangle" w="med" len="med"/>
          </a:ln>
        </p:spPr>
      </p:cxnSp>
      <p:sp>
        <p:nvSpPr>
          <p:cNvPr id="990" name="Google Shape;990;p14"/>
          <p:cNvSpPr/>
          <p:nvPr/>
        </p:nvSpPr>
        <p:spPr>
          <a:xfrm>
            <a:off x="6058191" y="1822284"/>
            <a:ext cx="3200234" cy="897337"/>
          </a:xfrm>
          <a:prstGeom prst="rect">
            <a:avLst/>
          </a:prstGeom>
          <a:solidFill>
            <a:srgbClr val="F2F2F2">
              <a:alpha val="48627"/>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0" i="0" dirty="0">
                <a:solidFill>
                  <a:srgbClr val="292929"/>
                </a:solidFill>
                <a:latin typeface="Century Gothic"/>
                <a:ea typeface="Century Gothic"/>
                <a:cs typeface="Century Gothic"/>
                <a:sym typeface="Century Gothic"/>
              </a:rPr>
              <a:t>Perform standardizations is needed because if there are large differences between the ranges of initial variables, those variables with larger ranges will dominate over those with small ranges</a:t>
            </a:r>
            <a:endParaRPr sz="1200" dirty="0">
              <a:solidFill>
                <a:schemeClr val="lt1"/>
              </a:solidFill>
              <a:latin typeface="Century Gothic"/>
              <a:ea typeface="Century Gothic"/>
              <a:cs typeface="Century Gothic"/>
              <a:sym typeface="Century Gothic"/>
            </a:endParaRPr>
          </a:p>
        </p:txBody>
      </p:sp>
      <p:pic>
        <p:nvPicPr>
          <p:cNvPr id="991" name="Google Shape;991;p14"/>
          <p:cNvPicPr preferRelativeResize="0"/>
          <p:nvPr/>
        </p:nvPicPr>
        <p:blipFill rotWithShape="1">
          <a:blip r:embed="rId5">
            <a:alphaModFix/>
          </a:blip>
          <a:srcRect/>
          <a:stretch/>
        </p:blipFill>
        <p:spPr>
          <a:xfrm>
            <a:off x="4190260" y="4474440"/>
            <a:ext cx="3297626" cy="565797"/>
          </a:xfrm>
          <a:prstGeom prst="rect">
            <a:avLst/>
          </a:prstGeom>
          <a:noFill/>
          <a:ln>
            <a:noFill/>
          </a:ln>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cxnSp>
        <p:nvCxnSpPr>
          <p:cNvPr id="997" name="Google Shape;997;p15"/>
          <p:cNvCxnSpPr/>
          <p:nvPr/>
        </p:nvCxnSpPr>
        <p:spPr>
          <a:xfrm>
            <a:off x="332588" y="5787538"/>
            <a:ext cx="11155537" cy="0"/>
          </a:xfrm>
          <a:prstGeom prst="straightConnector1">
            <a:avLst/>
          </a:prstGeom>
          <a:noFill/>
          <a:ln w="12700" cap="flat" cmpd="sng">
            <a:solidFill>
              <a:srgbClr val="A5A5A5"/>
            </a:solidFill>
            <a:prstDash val="dash"/>
            <a:miter lim="800000"/>
            <a:headEnd type="none" w="sm" len="sm"/>
            <a:tailEnd type="none" w="sm" len="sm"/>
          </a:ln>
        </p:spPr>
      </p:cxnSp>
      <p:sp>
        <p:nvSpPr>
          <p:cNvPr id="998" name="Google Shape;998;p15"/>
          <p:cNvSpPr txBox="1"/>
          <p:nvPr/>
        </p:nvSpPr>
        <p:spPr>
          <a:xfrm>
            <a:off x="175325" y="233538"/>
            <a:ext cx="9710140" cy="307777"/>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Advanced Analysis and Feature Building – Summary Clustering</a:t>
            </a:r>
            <a:endParaRPr sz="2000" b="1" i="0" u="none" strike="noStrike" cap="none" dirty="0">
              <a:solidFill>
                <a:srgbClr val="FF0000"/>
              </a:solidFill>
              <a:latin typeface="Century Gothic"/>
              <a:ea typeface="Century Gothic"/>
              <a:cs typeface="Century Gothic"/>
              <a:sym typeface="Century Gothic"/>
            </a:endParaRPr>
          </a:p>
        </p:txBody>
      </p:sp>
      <p:sp>
        <p:nvSpPr>
          <p:cNvPr id="999" name="Google Shape;999;p15"/>
          <p:cNvSpPr/>
          <p:nvPr/>
        </p:nvSpPr>
        <p:spPr>
          <a:xfrm>
            <a:off x="2277730" y="2752997"/>
            <a:ext cx="1261139" cy="1092543"/>
          </a:xfrm>
          <a:prstGeom prst="ellipse">
            <a:avLst/>
          </a:prstGeom>
          <a:solidFill>
            <a:srgbClr val="FFFF00">
              <a:alpha val="2862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A</a:t>
            </a:r>
            <a:endParaRPr/>
          </a:p>
        </p:txBody>
      </p:sp>
      <p:sp>
        <p:nvSpPr>
          <p:cNvPr id="1000" name="Google Shape;1000;p15"/>
          <p:cNvSpPr txBox="1"/>
          <p:nvPr/>
        </p:nvSpPr>
        <p:spPr>
          <a:xfrm>
            <a:off x="2590194" y="1951562"/>
            <a:ext cx="769757" cy="3231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dirty="0">
                <a:solidFill>
                  <a:schemeClr val="dk1"/>
                </a:solidFill>
                <a:latin typeface="Century Gothic"/>
                <a:ea typeface="Century Gothic"/>
                <a:cs typeface="Century Gothic"/>
                <a:sym typeface="Century Gothic"/>
              </a:rPr>
              <a:t>Hotel</a:t>
            </a:r>
            <a:endParaRPr sz="1500" dirty="0"/>
          </a:p>
        </p:txBody>
      </p:sp>
      <p:sp>
        <p:nvSpPr>
          <p:cNvPr id="1001" name="Google Shape;1001;p15"/>
          <p:cNvSpPr txBox="1"/>
          <p:nvPr/>
        </p:nvSpPr>
        <p:spPr>
          <a:xfrm>
            <a:off x="4140237" y="5224046"/>
            <a:ext cx="161935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Century Gothic"/>
                <a:ea typeface="Century Gothic"/>
                <a:cs typeface="Century Gothic"/>
                <a:sym typeface="Century Gothic"/>
              </a:rPr>
              <a:t>Silhouette  </a:t>
            </a:r>
            <a:r>
              <a:rPr lang="en-US" sz="1400" b="1" i="0" u="none" strike="noStrike" cap="none">
                <a:solidFill>
                  <a:schemeClr val="dk1"/>
                </a:solidFill>
                <a:latin typeface="Century Gothic"/>
                <a:ea typeface="Century Gothic"/>
                <a:cs typeface="Century Gothic"/>
                <a:sym typeface="Century Gothic"/>
              </a:rPr>
              <a:t>index</a:t>
            </a:r>
            <a:endParaRPr/>
          </a:p>
        </p:txBody>
      </p:sp>
      <p:sp>
        <p:nvSpPr>
          <p:cNvPr id="1002" name="Google Shape;1002;p15"/>
          <p:cNvSpPr/>
          <p:nvPr/>
        </p:nvSpPr>
        <p:spPr>
          <a:xfrm>
            <a:off x="5825673" y="5191345"/>
            <a:ext cx="749317" cy="381171"/>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a:solidFill>
                  <a:schemeClr val="lt1"/>
                </a:solidFill>
                <a:latin typeface="Calibri"/>
                <a:ea typeface="Calibri"/>
                <a:cs typeface="Calibri"/>
                <a:sym typeface="Calibri"/>
              </a:rPr>
              <a:t>0.32</a:t>
            </a:r>
            <a:endParaRPr dirty="0"/>
          </a:p>
        </p:txBody>
      </p:sp>
      <p:grpSp>
        <p:nvGrpSpPr>
          <p:cNvPr id="1003" name="Google Shape;1003;p15"/>
          <p:cNvGrpSpPr/>
          <p:nvPr/>
        </p:nvGrpSpPr>
        <p:grpSpPr>
          <a:xfrm rot="5400000">
            <a:off x="5578629" y="5634856"/>
            <a:ext cx="243587" cy="274142"/>
            <a:chOff x="2049320" y="1166749"/>
            <a:chExt cx="212873" cy="335873"/>
          </a:xfrm>
        </p:grpSpPr>
        <p:sp>
          <p:nvSpPr>
            <p:cNvPr id="1004" name="Google Shape;1004;p15"/>
            <p:cNvSpPr/>
            <p:nvPr/>
          </p:nvSpPr>
          <p:spPr>
            <a:xfrm>
              <a:off x="2121379" y="1166749"/>
              <a:ext cx="140814" cy="335873"/>
            </a:xfrm>
            <a:prstGeom prst="chevron">
              <a:avLst>
                <a:gd name="adj" fmla="val 43408"/>
              </a:avLst>
            </a:prstGeom>
            <a:solidFill>
              <a:srgbClr val="CC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p:txBody>
        </p:sp>
        <p:sp>
          <p:nvSpPr>
            <p:cNvPr id="1005" name="Google Shape;1005;p15"/>
            <p:cNvSpPr/>
            <p:nvPr/>
          </p:nvSpPr>
          <p:spPr>
            <a:xfrm>
              <a:off x="2049320" y="1196163"/>
              <a:ext cx="107895" cy="277038"/>
            </a:xfrm>
            <a:prstGeom prst="chevron">
              <a:avLst>
                <a:gd name="adj" fmla="val 46728"/>
              </a:avLst>
            </a:prstGeom>
            <a:solidFill>
              <a:srgbClr val="FFC5C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p:txBody>
        </p:sp>
      </p:grpSp>
      <p:sp>
        <p:nvSpPr>
          <p:cNvPr id="1006" name="Google Shape;1006;p15"/>
          <p:cNvSpPr/>
          <p:nvPr/>
        </p:nvSpPr>
        <p:spPr>
          <a:xfrm>
            <a:off x="2882652" y="6003448"/>
            <a:ext cx="5635540" cy="304898"/>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lt1"/>
                </a:solidFill>
                <a:latin typeface="Century Gothic"/>
                <a:ea typeface="Century Gothic"/>
                <a:cs typeface="Century Gothic"/>
                <a:sym typeface="Century Gothic"/>
              </a:rPr>
              <a:t>Detail Charasterisctic  &amp; Profile for Each Segment and product</a:t>
            </a:r>
            <a:endParaRPr/>
          </a:p>
        </p:txBody>
      </p:sp>
      <p:sp>
        <p:nvSpPr>
          <p:cNvPr id="1008" name="Google Shape;1008;p15"/>
          <p:cNvSpPr txBox="1"/>
          <p:nvPr/>
        </p:nvSpPr>
        <p:spPr>
          <a:xfrm>
            <a:off x="546107" y="6546753"/>
            <a:ext cx="688009"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a:solidFill>
                  <a:schemeClr val="dk1"/>
                </a:solidFill>
                <a:latin typeface="Century Gothic"/>
                <a:ea typeface="Century Gothic"/>
                <a:cs typeface="Century Gothic"/>
                <a:sym typeface="Century Gothic"/>
              </a:rPr>
              <a:t>Segment</a:t>
            </a:r>
            <a:endParaRPr/>
          </a:p>
        </p:txBody>
      </p:sp>
      <p:sp>
        <p:nvSpPr>
          <p:cNvPr id="1009" name="Google Shape;1009;p15"/>
          <p:cNvSpPr/>
          <p:nvPr/>
        </p:nvSpPr>
        <p:spPr>
          <a:xfrm>
            <a:off x="10208759" y="710420"/>
            <a:ext cx="254305" cy="253563"/>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lt1"/>
                </a:solidFill>
                <a:latin typeface="Calibri"/>
                <a:ea typeface="Calibri"/>
                <a:cs typeface="Calibri"/>
                <a:sym typeface="Calibri"/>
              </a:rPr>
              <a:t>2</a:t>
            </a:r>
            <a:endParaRPr/>
          </a:p>
        </p:txBody>
      </p:sp>
      <p:sp>
        <p:nvSpPr>
          <p:cNvPr id="1010" name="Google Shape;1010;p15"/>
          <p:cNvSpPr txBox="1"/>
          <p:nvPr/>
        </p:nvSpPr>
        <p:spPr>
          <a:xfrm>
            <a:off x="10463064" y="706396"/>
            <a:ext cx="800219"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rgbClr val="FF0000"/>
                </a:solidFill>
                <a:latin typeface="Century Gothic"/>
                <a:ea typeface="Century Gothic"/>
                <a:cs typeface="Century Gothic"/>
                <a:sym typeface="Century Gothic"/>
              </a:rPr>
              <a:t>Segment</a:t>
            </a:r>
            <a:endParaRPr/>
          </a:p>
        </p:txBody>
      </p:sp>
      <p:sp>
        <p:nvSpPr>
          <p:cNvPr id="1011" name="Google Shape;1011;p15"/>
          <p:cNvSpPr/>
          <p:nvPr/>
        </p:nvSpPr>
        <p:spPr>
          <a:xfrm>
            <a:off x="8416035" y="710420"/>
            <a:ext cx="254305" cy="25356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lt1"/>
                </a:solidFill>
                <a:latin typeface="Calibri"/>
                <a:ea typeface="Calibri"/>
                <a:cs typeface="Calibri"/>
                <a:sym typeface="Calibri"/>
              </a:rPr>
              <a:t>1</a:t>
            </a:r>
            <a:endParaRPr/>
          </a:p>
        </p:txBody>
      </p:sp>
      <p:sp>
        <p:nvSpPr>
          <p:cNvPr id="1012" name="Google Shape;1012;p15"/>
          <p:cNvSpPr txBox="1"/>
          <p:nvPr/>
        </p:nvSpPr>
        <p:spPr>
          <a:xfrm>
            <a:off x="8674824" y="706396"/>
            <a:ext cx="723275"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rgbClr val="BFBFBF"/>
                </a:solidFill>
                <a:latin typeface="Century Gothic"/>
                <a:ea typeface="Century Gothic"/>
                <a:cs typeface="Century Gothic"/>
                <a:sym typeface="Century Gothic"/>
              </a:rPr>
              <a:t>Product</a:t>
            </a:r>
            <a:endParaRPr/>
          </a:p>
        </p:txBody>
      </p:sp>
      <p:pic>
        <p:nvPicPr>
          <p:cNvPr id="1013" name="Google Shape;1013;p15" descr="bauweda: Asal Muasal Ditemukannya Tanda Baca"/>
          <p:cNvPicPr preferRelativeResize="0"/>
          <p:nvPr/>
        </p:nvPicPr>
        <p:blipFill rotWithShape="1">
          <a:blip r:embed="rId3">
            <a:alphaModFix/>
          </a:blip>
          <a:srcRect/>
          <a:stretch/>
        </p:blipFill>
        <p:spPr>
          <a:xfrm>
            <a:off x="6631732" y="5023297"/>
            <a:ext cx="311046" cy="612372"/>
          </a:xfrm>
          <a:prstGeom prst="rect">
            <a:avLst/>
          </a:prstGeom>
          <a:noFill/>
          <a:ln>
            <a:noFill/>
          </a:ln>
        </p:spPr>
      </p:pic>
      <p:sp>
        <p:nvSpPr>
          <p:cNvPr id="1014" name="Google Shape;1014;p15"/>
          <p:cNvSpPr/>
          <p:nvPr/>
        </p:nvSpPr>
        <p:spPr>
          <a:xfrm>
            <a:off x="6349689" y="5035020"/>
            <a:ext cx="3859069" cy="654859"/>
          </a:xfrm>
          <a:prstGeom prst="rect">
            <a:avLst/>
          </a:prstGeom>
          <a:noFill/>
          <a:ln>
            <a:noFill/>
          </a:ln>
        </p:spPr>
        <p:txBody>
          <a:bodyPr spcFirstLastPara="1" wrap="square" lIns="91425" tIns="45700" rIns="91425" bIns="45700" anchor="t" anchorCtr="0">
            <a:noAutofit/>
          </a:bodyPr>
          <a:lstStyle/>
          <a:p>
            <a:pPr marL="457200" marR="0" lvl="1" indent="0" algn="l" rtl="0">
              <a:lnSpc>
                <a:spcPct val="120000"/>
              </a:lnSpc>
              <a:spcBef>
                <a:spcPts val="0"/>
              </a:spcBef>
              <a:spcAft>
                <a:spcPts val="0"/>
              </a:spcAft>
              <a:buNone/>
            </a:pPr>
            <a:r>
              <a:rPr lang="en-US" sz="1050" b="0" i="0" u="none" strike="noStrike" cap="none" dirty="0">
                <a:solidFill>
                  <a:srgbClr val="000000"/>
                </a:solidFill>
                <a:latin typeface="Century Gothic"/>
                <a:ea typeface="Century Gothic"/>
                <a:cs typeface="Century Gothic"/>
                <a:sym typeface="Century Gothic"/>
              </a:rPr>
              <a:t>Quality cluster is </a:t>
            </a:r>
            <a:r>
              <a:rPr lang="en-US" sz="1050" b="1" dirty="0">
                <a:latin typeface="Century Gothic"/>
                <a:ea typeface="Century Gothic"/>
                <a:cs typeface="Century Gothic"/>
                <a:sym typeface="Century Gothic"/>
              </a:rPr>
              <a:t>Weak </a:t>
            </a:r>
            <a:r>
              <a:rPr lang="en-US" sz="1050" dirty="0">
                <a:latin typeface="Century Gothic"/>
                <a:ea typeface="Century Gothic"/>
                <a:cs typeface="Century Gothic"/>
                <a:sym typeface="Century Gothic"/>
              </a:rPr>
              <a:t>according to the (Kauffman &amp; </a:t>
            </a:r>
            <a:r>
              <a:rPr lang="en-US" sz="1050" dirty="0" err="1">
                <a:latin typeface="Century Gothic"/>
                <a:ea typeface="Century Gothic"/>
                <a:cs typeface="Century Gothic"/>
                <a:sym typeface="Century Gothic"/>
              </a:rPr>
              <a:t>rouusseuw</a:t>
            </a:r>
            <a:r>
              <a:rPr lang="en-US" sz="1050" dirty="0">
                <a:latin typeface="Century Gothic"/>
                <a:ea typeface="Century Gothic"/>
                <a:cs typeface="Century Gothic"/>
                <a:sym typeface="Century Gothic"/>
              </a:rPr>
              <a:t>, 1991), but 2 cluster Is the biggest silhouette score for this dataset</a:t>
            </a:r>
            <a:endParaRPr sz="1050" i="0" u="none" strike="noStrike" cap="none" dirty="0">
              <a:solidFill>
                <a:srgbClr val="FF0000"/>
              </a:solidFill>
              <a:latin typeface="Century Gothic"/>
              <a:ea typeface="Century Gothic"/>
              <a:cs typeface="Century Gothic"/>
              <a:sym typeface="Century Gothic"/>
            </a:endParaRPr>
          </a:p>
        </p:txBody>
      </p:sp>
      <p:sp>
        <p:nvSpPr>
          <p:cNvPr id="1015" name="Google Shape;1015;p15"/>
          <p:cNvSpPr txBox="1"/>
          <p:nvPr/>
        </p:nvSpPr>
        <p:spPr>
          <a:xfrm>
            <a:off x="1573512" y="1132652"/>
            <a:ext cx="2951238"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F0"/>
              </a:buClr>
              <a:buSzPts val="1500"/>
              <a:buFont typeface="Century Gothic"/>
              <a:buNone/>
            </a:pPr>
            <a:r>
              <a:rPr lang="en-US" sz="2000" b="1" i="0" u="none" strike="noStrike" cap="none" dirty="0">
                <a:solidFill>
                  <a:srgbClr val="FF0000"/>
                </a:solidFill>
                <a:latin typeface="Century Gothic"/>
                <a:ea typeface="Century Gothic"/>
                <a:cs typeface="Century Gothic"/>
                <a:sym typeface="Century Gothic"/>
              </a:rPr>
              <a:t>Segment A (69.5%)</a:t>
            </a:r>
            <a:endParaRPr sz="2000" dirty="0">
              <a:solidFill>
                <a:srgbClr val="FF0000"/>
              </a:solidFill>
            </a:endParaRPr>
          </a:p>
        </p:txBody>
      </p:sp>
      <p:sp>
        <p:nvSpPr>
          <p:cNvPr id="1016" name="Google Shape;1016;p15"/>
          <p:cNvSpPr txBox="1"/>
          <p:nvPr/>
        </p:nvSpPr>
        <p:spPr>
          <a:xfrm>
            <a:off x="1545852" y="1511455"/>
            <a:ext cx="2951238" cy="3231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000"/>
              <a:buFont typeface="Century Gothic"/>
              <a:buNone/>
            </a:pPr>
            <a:r>
              <a:rPr lang="en-US" sz="1500" b="1" i="0" u="none" strike="noStrike" cap="none" dirty="0">
                <a:solidFill>
                  <a:schemeClr val="dk1"/>
                </a:solidFill>
                <a:latin typeface="Century Gothic"/>
                <a:ea typeface="Century Gothic"/>
                <a:cs typeface="Century Gothic"/>
                <a:sym typeface="Century Gothic"/>
              </a:rPr>
              <a:t>52% </a:t>
            </a:r>
            <a:r>
              <a:rPr lang="en-US" sz="1500" i="0" u="none" strike="noStrike" cap="none" dirty="0">
                <a:solidFill>
                  <a:schemeClr val="dk1"/>
                </a:solidFill>
                <a:latin typeface="Century Gothic"/>
                <a:ea typeface="Century Gothic"/>
                <a:cs typeface="Century Gothic"/>
                <a:sym typeface="Century Gothic"/>
              </a:rPr>
              <a:t>non-churns  </a:t>
            </a:r>
            <a:r>
              <a:rPr lang="en-US" sz="1500" b="1" dirty="0">
                <a:solidFill>
                  <a:schemeClr val="dk1"/>
                </a:solidFill>
                <a:latin typeface="Century Gothic"/>
                <a:ea typeface="Century Gothic"/>
                <a:cs typeface="Century Gothic"/>
                <a:sym typeface="Century Gothic"/>
              </a:rPr>
              <a:t>48</a:t>
            </a:r>
            <a:r>
              <a:rPr lang="en-US" sz="1500" b="1" i="0" u="none" strike="noStrike" cap="none" dirty="0">
                <a:solidFill>
                  <a:schemeClr val="dk1"/>
                </a:solidFill>
                <a:latin typeface="Century Gothic"/>
                <a:ea typeface="Century Gothic"/>
                <a:cs typeface="Century Gothic"/>
                <a:sym typeface="Century Gothic"/>
              </a:rPr>
              <a:t>% </a:t>
            </a:r>
            <a:r>
              <a:rPr lang="en-US" sz="1500" i="0" u="none" strike="noStrike" cap="none" dirty="0">
                <a:solidFill>
                  <a:schemeClr val="dk1"/>
                </a:solidFill>
                <a:latin typeface="Century Gothic"/>
                <a:ea typeface="Century Gothic"/>
                <a:cs typeface="Century Gothic"/>
                <a:sym typeface="Century Gothic"/>
              </a:rPr>
              <a:t>churns</a:t>
            </a:r>
            <a:endParaRPr sz="1500" dirty="0"/>
          </a:p>
        </p:txBody>
      </p:sp>
      <p:cxnSp>
        <p:nvCxnSpPr>
          <p:cNvPr id="1017" name="Google Shape;1017;p15"/>
          <p:cNvCxnSpPr>
            <a:cxnSpLocks/>
          </p:cNvCxnSpPr>
          <p:nvPr/>
        </p:nvCxnSpPr>
        <p:spPr>
          <a:xfrm flipV="1">
            <a:off x="1573512" y="1830934"/>
            <a:ext cx="2831471" cy="22969"/>
          </a:xfrm>
          <a:prstGeom prst="straightConnector1">
            <a:avLst/>
          </a:prstGeom>
          <a:noFill/>
          <a:ln w="9525" cap="flat" cmpd="sng">
            <a:solidFill>
              <a:srgbClr val="FF0000"/>
            </a:solidFill>
            <a:prstDash val="solid"/>
            <a:miter lim="800000"/>
            <a:headEnd type="none" w="sm" len="sm"/>
            <a:tailEnd type="none" w="sm" len="sm"/>
          </a:ln>
        </p:spPr>
      </p:cxnSp>
      <p:pic>
        <p:nvPicPr>
          <p:cNvPr id="1027" name="Google Shape;1027;p15" descr="Airplane"/>
          <p:cNvPicPr preferRelativeResize="0"/>
          <p:nvPr/>
        </p:nvPicPr>
        <p:blipFill rotWithShape="1">
          <a:blip r:embed="rId4">
            <a:alphaModFix/>
          </a:blip>
          <a:srcRect/>
          <a:stretch/>
        </p:blipFill>
        <p:spPr>
          <a:xfrm>
            <a:off x="1647219" y="2873654"/>
            <a:ext cx="360000" cy="360000"/>
          </a:xfrm>
          <a:prstGeom prst="rect">
            <a:avLst/>
          </a:prstGeom>
          <a:noFill/>
          <a:ln>
            <a:noFill/>
          </a:ln>
        </p:spPr>
      </p:pic>
      <p:pic>
        <p:nvPicPr>
          <p:cNvPr id="1028" name="Google Shape;1028;p15" descr="Train"/>
          <p:cNvPicPr preferRelativeResize="0"/>
          <p:nvPr/>
        </p:nvPicPr>
        <p:blipFill rotWithShape="1">
          <a:blip r:embed="rId5">
            <a:alphaModFix/>
          </a:blip>
          <a:srcRect/>
          <a:stretch/>
        </p:blipFill>
        <p:spPr>
          <a:xfrm>
            <a:off x="3711962" y="2994997"/>
            <a:ext cx="360000" cy="360000"/>
          </a:xfrm>
          <a:prstGeom prst="rect">
            <a:avLst/>
          </a:prstGeom>
          <a:noFill/>
          <a:ln>
            <a:noFill/>
          </a:ln>
        </p:spPr>
      </p:pic>
      <p:pic>
        <p:nvPicPr>
          <p:cNvPr id="1029" name="Google Shape;1029;p15" descr="Send"/>
          <p:cNvPicPr preferRelativeResize="0"/>
          <p:nvPr/>
        </p:nvPicPr>
        <p:blipFill rotWithShape="1">
          <a:blip r:embed="rId6">
            <a:alphaModFix/>
          </a:blip>
          <a:srcRect/>
          <a:stretch/>
        </p:blipFill>
        <p:spPr>
          <a:xfrm>
            <a:off x="2629247" y="3938121"/>
            <a:ext cx="360000" cy="360000"/>
          </a:xfrm>
          <a:prstGeom prst="rect">
            <a:avLst/>
          </a:prstGeom>
          <a:noFill/>
          <a:ln>
            <a:noFill/>
          </a:ln>
        </p:spPr>
      </p:pic>
      <p:pic>
        <p:nvPicPr>
          <p:cNvPr id="1030" name="Google Shape;1030;p15" descr="Building"/>
          <p:cNvPicPr preferRelativeResize="0"/>
          <p:nvPr/>
        </p:nvPicPr>
        <p:blipFill rotWithShape="1">
          <a:blip r:embed="rId7">
            <a:alphaModFix/>
          </a:blip>
          <a:srcRect/>
          <a:stretch/>
        </p:blipFill>
        <p:spPr>
          <a:xfrm>
            <a:off x="2696055" y="2274612"/>
            <a:ext cx="360000" cy="360000"/>
          </a:xfrm>
          <a:prstGeom prst="rect">
            <a:avLst/>
          </a:prstGeom>
          <a:noFill/>
          <a:ln>
            <a:noFill/>
          </a:ln>
        </p:spPr>
      </p:pic>
      <p:sp>
        <p:nvSpPr>
          <p:cNvPr id="1031" name="Google Shape;1031;p15"/>
          <p:cNvSpPr txBox="1"/>
          <p:nvPr/>
        </p:nvSpPr>
        <p:spPr>
          <a:xfrm>
            <a:off x="3021471" y="2232615"/>
            <a:ext cx="149820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800"/>
              <a:buFont typeface="Century Gothic"/>
              <a:buNone/>
            </a:pPr>
            <a:r>
              <a:rPr lang="en-US" sz="1200" i="0" u="none" strike="noStrike" cap="none" dirty="0">
                <a:solidFill>
                  <a:schemeClr val="dk1"/>
                </a:solidFill>
                <a:latin typeface="Century Gothic"/>
                <a:ea typeface="Century Gothic"/>
                <a:cs typeface="Century Gothic"/>
                <a:sym typeface="Century Gothic"/>
              </a:rPr>
              <a:t>52 % non-churns</a:t>
            </a:r>
            <a:endParaRPr sz="1200" dirty="0"/>
          </a:p>
          <a:p>
            <a:pPr marL="0" marR="0" lvl="0" indent="0" algn="l" rtl="0">
              <a:lnSpc>
                <a:spcPct val="100000"/>
              </a:lnSpc>
              <a:spcBef>
                <a:spcPts val="0"/>
              </a:spcBef>
              <a:spcAft>
                <a:spcPts val="0"/>
              </a:spcAft>
              <a:buClr>
                <a:schemeClr val="dk1"/>
              </a:buClr>
              <a:buSzPts val="800"/>
              <a:buFont typeface="Century Gothic"/>
              <a:buNone/>
            </a:pPr>
            <a:r>
              <a:rPr lang="en-US" sz="1200" dirty="0">
                <a:solidFill>
                  <a:schemeClr val="dk1"/>
                </a:solidFill>
                <a:latin typeface="Century Gothic"/>
                <a:ea typeface="Century Gothic"/>
                <a:cs typeface="Century Gothic"/>
                <a:sym typeface="Century Gothic"/>
              </a:rPr>
              <a:t>48 </a:t>
            </a:r>
            <a:r>
              <a:rPr lang="en-US" sz="1200" i="0" u="none" strike="noStrike" cap="none" dirty="0">
                <a:solidFill>
                  <a:schemeClr val="dk1"/>
                </a:solidFill>
                <a:latin typeface="Century Gothic"/>
                <a:ea typeface="Century Gothic"/>
                <a:cs typeface="Century Gothic"/>
                <a:sym typeface="Century Gothic"/>
              </a:rPr>
              <a:t>% churns</a:t>
            </a:r>
            <a:endParaRPr sz="1200" dirty="0"/>
          </a:p>
        </p:txBody>
      </p:sp>
      <p:sp>
        <p:nvSpPr>
          <p:cNvPr id="1032" name="Google Shape;1032;p15"/>
          <p:cNvSpPr txBox="1"/>
          <p:nvPr/>
        </p:nvSpPr>
        <p:spPr>
          <a:xfrm>
            <a:off x="2577896" y="4246285"/>
            <a:ext cx="499221" cy="3231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dirty="0">
                <a:solidFill>
                  <a:schemeClr val="dk1"/>
                </a:solidFill>
                <a:latin typeface="Century Gothic"/>
                <a:ea typeface="Century Gothic"/>
                <a:cs typeface="Century Gothic"/>
                <a:sym typeface="Century Gothic"/>
              </a:rPr>
              <a:t>Trip</a:t>
            </a:r>
            <a:endParaRPr sz="1500" dirty="0"/>
          </a:p>
        </p:txBody>
      </p:sp>
      <p:sp>
        <p:nvSpPr>
          <p:cNvPr id="1033" name="Google Shape;1033;p15"/>
          <p:cNvSpPr txBox="1"/>
          <p:nvPr/>
        </p:nvSpPr>
        <p:spPr>
          <a:xfrm>
            <a:off x="2277730" y="4552405"/>
            <a:ext cx="153196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800"/>
              <a:buFont typeface="Century Gothic"/>
              <a:buNone/>
            </a:pPr>
            <a:r>
              <a:rPr lang="en-US" sz="1200" dirty="0">
                <a:solidFill>
                  <a:schemeClr val="dk1"/>
                </a:solidFill>
                <a:latin typeface="Century Gothic"/>
                <a:ea typeface="Century Gothic"/>
                <a:cs typeface="Century Gothic"/>
                <a:sym typeface="Century Gothic"/>
              </a:rPr>
              <a:t>72 </a:t>
            </a:r>
            <a:r>
              <a:rPr lang="en-US" sz="1200" i="0" u="none" strike="noStrike" cap="none" dirty="0">
                <a:solidFill>
                  <a:schemeClr val="dk1"/>
                </a:solidFill>
                <a:latin typeface="Century Gothic"/>
                <a:ea typeface="Century Gothic"/>
                <a:cs typeface="Century Gothic"/>
                <a:sym typeface="Century Gothic"/>
              </a:rPr>
              <a:t>% non-churns</a:t>
            </a:r>
            <a:endParaRPr sz="1200" dirty="0"/>
          </a:p>
          <a:p>
            <a:pPr marL="0" marR="0" lvl="0" indent="0" algn="l" rtl="0">
              <a:lnSpc>
                <a:spcPct val="100000"/>
              </a:lnSpc>
              <a:spcBef>
                <a:spcPts val="0"/>
              </a:spcBef>
              <a:spcAft>
                <a:spcPts val="0"/>
              </a:spcAft>
              <a:buClr>
                <a:schemeClr val="dk1"/>
              </a:buClr>
              <a:buSzPts val="800"/>
              <a:buFont typeface="Century Gothic"/>
              <a:buNone/>
            </a:pPr>
            <a:r>
              <a:rPr lang="en-US" sz="1200" i="0" u="none" strike="noStrike" cap="none" dirty="0">
                <a:solidFill>
                  <a:schemeClr val="dk1"/>
                </a:solidFill>
                <a:latin typeface="Century Gothic"/>
                <a:ea typeface="Century Gothic"/>
                <a:cs typeface="Century Gothic"/>
                <a:sym typeface="Century Gothic"/>
              </a:rPr>
              <a:t>28 % churns</a:t>
            </a:r>
            <a:endParaRPr sz="1200" dirty="0"/>
          </a:p>
        </p:txBody>
      </p:sp>
      <p:sp>
        <p:nvSpPr>
          <p:cNvPr id="1034" name="Google Shape;1034;p15"/>
          <p:cNvSpPr txBox="1"/>
          <p:nvPr/>
        </p:nvSpPr>
        <p:spPr>
          <a:xfrm>
            <a:off x="4008488" y="2991829"/>
            <a:ext cx="719286" cy="3231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dirty="0">
                <a:solidFill>
                  <a:schemeClr val="dk1"/>
                </a:solidFill>
                <a:latin typeface="Century Gothic"/>
                <a:ea typeface="Century Gothic"/>
                <a:cs typeface="Century Gothic"/>
                <a:sym typeface="Century Gothic"/>
              </a:rPr>
              <a:t>Train</a:t>
            </a:r>
            <a:endParaRPr sz="1500" dirty="0"/>
          </a:p>
        </p:txBody>
      </p:sp>
      <p:sp>
        <p:nvSpPr>
          <p:cNvPr id="1035" name="Google Shape;1035;p15"/>
          <p:cNvSpPr txBox="1"/>
          <p:nvPr/>
        </p:nvSpPr>
        <p:spPr>
          <a:xfrm>
            <a:off x="3686865" y="3334277"/>
            <a:ext cx="153196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800"/>
              <a:buFont typeface="Century Gothic"/>
              <a:buNone/>
            </a:pPr>
            <a:r>
              <a:rPr lang="en-US" sz="1200" dirty="0">
                <a:solidFill>
                  <a:schemeClr val="dk1"/>
                </a:solidFill>
                <a:latin typeface="Century Gothic"/>
                <a:ea typeface="Century Gothic"/>
                <a:cs typeface="Century Gothic"/>
                <a:sym typeface="Century Gothic"/>
              </a:rPr>
              <a:t>66 </a:t>
            </a:r>
            <a:r>
              <a:rPr lang="en-US" sz="1200" i="0" u="none" strike="noStrike" cap="none" dirty="0">
                <a:solidFill>
                  <a:schemeClr val="dk1"/>
                </a:solidFill>
                <a:latin typeface="Century Gothic"/>
                <a:ea typeface="Century Gothic"/>
                <a:cs typeface="Century Gothic"/>
                <a:sym typeface="Century Gothic"/>
              </a:rPr>
              <a:t>% non-churns </a:t>
            </a:r>
            <a:endParaRPr sz="1200" dirty="0"/>
          </a:p>
          <a:p>
            <a:pPr marL="0" marR="0" lvl="0" indent="0" algn="l" rtl="0">
              <a:lnSpc>
                <a:spcPct val="100000"/>
              </a:lnSpc>
              <a:spcBef>
                <a:spcPts val="0"/>
              </a:spcBef>
              <a:spcAft>
                <a:spcPts val="0"/>
              </a:spcAft>
              <a:buClr>
                <a:schemeClr val="dk1"/>
              </a:buClr>
              <a:buSzPts val="800"/>
              <a:buFont typeface="Century Gothic"/>
              <a:buNone/>
            </a:pPr>
            <a:r>
              <a:rPr lang="en-US" sz="1200" i="0" u="none" strike="noStrike" cap="none" dirty="0">
                <a:solidFill>
                  <a:schemeClr val="dk1"/>
                </a:solidFill>
                <a:latin typeface="Century Gothic"/>
                <a:ea typeface="Century Gothic"/>
                <a:cs typeface="Century Gothic"/>
                <a:sym typeface="Century Gothic"/>
              </a:rPr>
              <a:t>34 % churns</a:t>
            </a:r>
            <a:endParaRPr sz="1200" dirty="0"/>
          </a:p>
        </p:txBody>
      </p:sp>
      <p:sp>
        <p:nvSpPr>
          <p:cNvPr id="1036" name="Google Shape;1036;p15"/>
          <p:cNvSpPr txBox="1"/>
          <p:nvPr/>
        </p:nvSpPr>
        <p:spPr>
          <a:xfrm>
            <a:off x="958453" y="2906858"/>
            <a:ext cx="779425" cy="3231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dirty="0">
                <a:solidFill>
                  <a:schemeClr val="dk1"/>
                </a:solidFill>
                <a:latin typeface="Century Gothic"/>
                <a:ea typeface="Century Gothic"/>
                <a:cs typeface="Century Gothic"/>
                <a:sym typeface="Century Gothic"/>
              </a:rPr>
              <a:t>Flight</a:t>
            </a:r>
            <a:endParaRPr sz="1500" dirty="0"/>
          </a:p>
        </p:txBody>
      </p:sp>
      <p:sp>
        <p:nvSpPr>
          <p:cNvPr id="1037" name="Google Shape;1037;p15"/>
          <p:cNvSpPr txBox="1"/>
          <p:nvPr/>
        </p:nvSpPr>
        <p:spPr>
          <a:xfrm>
            <a:off x="853301" y="3314954"/>
            <a:ext cx="1406033"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800"/>
              <a:buFont typeface="Century Gothic"/>
              <a:buNone/>
            </a:pPr>
            <a:r>
              <a:rPr lang="en-US" sz="1200" dirty="0">
                <a:solidFill>
                  <a:schemeClr val="dk1"/>
                </a:solidFill>
                <a:latin typeface="Century Gothic"/>
                <a:ea typeface="Century Gothic"/>
                <a:cs typeface="Century Gothic"/>
                <a:sym typeface="Century Gothic"/>
              </a:rPr>
              <a:t>45 </a:t>
            </a:r>
            <a:r>
              <a:rPr lang="en-US" sz="1200" i="0" u="none" strike="noStrike" cap="none" dirty="0">
                <a:solidFill>
                  <a:schemeClr val="dk1"/>
                </a:solidFill>
                <a:latin typeface="Century Gothic"/>
                <a:ea typeface="Century Gothic"/>
                <a:cs typeface="Century Gothic"/>
                <a:sym typeface="Century Gothic"/>
              </a:rPr>
              <a:t>% non-churns  </a:t>
            </a:r>
            <a:endParaRPr sz="1200" dirty="0"/>
          </a:p>
          <a:p>
            <a:pPr marL="0" marR="0" lvl="0" indent="0" algn="l" rtl="0">
              <a:lnSpc>
                <a:spcPct val="100000"/>
              </a:lnSpc>
              <a:spcBef>
                <a:spcPts val="0"/>
              </a:spcBef>
              <a:spcAft>
                <a:spcPts val="0"/>
              </a:spcAft>
              <a:buClr>
                <a:schemeClr val="dk1"/>
              </a:buClr>
              <a:buSzPts val="800"/>
              <a:buFont typeface="Century Gothic"/>
              <a:buNone/>
            </a:pPr>
            <a:r>
              <a:rPr lang="en-US" sz="1200" i="0" u="none" strike="noStrike" cap="none" dirty="0">
                <a:solidFill>
                  <a:schemeClr val="dk1"/>
                </a:solidFill>
                <a:latin typeface="Century Gothic"/>
                <a:ea typeface="Century Gothic"/>
                <a:cs typeface="Century Gothic"/>
                <a:sym typeface="Century Gothic"/>
              </a:rPr>
              <a:t>55 % churns</a:t>
            </a:r>
            <a:endParaRPr sz="1200" dirty="0"/>
          </a:p>
        </p:txBody>
      </p:sp>
      <p:sp>
        <p:nvSpPr>
          <p:cNvPr id="82" name="Google Shape;999;p15">
            <a:extLst>
              <a:ext uri="{FF2B5EF4-FFF2-40B4-BE49-F238E27FC236}">
                <a16:creationId xmlns:a16="http://schemas.microsoft.com/office/drawing/2014/main" id="{3CDDB643-0673-456A-B923-2F02C37ADEF5}"/>
              </a:ext>
            </a:extLst>
          </p:cNvPr>
          <p:cNvSpPr/>
          <p:nvPr/>
        </p:nvSpPr>
        <p:spPr>
          <a:xfrm>
            <a:off x="257159" y="6491223"/>
            <a:ext cx="373373" cy="286362"/>
          </a:xfrm>
          <a:prstGeom prst="ellipse">
            <a:avLst/>
          </a:prstGeom>
          <a:solidFill>
            <a:srgbClr val="FFFF00">
              <a:alpha val="2862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dirty="0"/>
          </a:p>
        </p:txBody>
      </p:sp>
      <p:sp>
        <p:nvSpPr>
          <p:cNvPr id="3" name="Oval 2">
            <a:extLst>
              <a:ext uri="{FF2B5EF4-FFF2-40B4-BE49-F238E27FC236}">
                <a16:creationId xmlns:a16="http://schemas.microsoft.com/office/drawing/2014/main" id="{F62D7CF3-A2A5-48AC-A6E4-48235C04FE47}"/>
              </a:ext>
            </a:extLst>
          </p:cNvPr>
          <p:cNvSpPr/>
          <p:nvPr/>
        </p:nvSpPr>
        <p:spPr>
          <a:xfrm rot="3355103">
            <a:off x="1520117" y="1322133"/>
            <a:ext cx="1371314" cy="313347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0" name="Google Shape;999;p15">
            <a:extLst>
              <a:ext uri="{FF2B5EF4-FFF2-40B4-BE49-F238E27FC236}">
                <a16:creationId xmlns:a16="http://schemas.microsoft.com/office/drawing/2014/main" id="{6F0D6F18-74EC-444C-A401-1C2020C6AF45}"/>
              </a:ext>
            </a:extLst>
          </p:cNvPr>
          <p:cNvSpPr/>
          <p:nvPr/>
        </p:nvSpPr>
        <p:spPr>
          <a:xfrm>
            <a:off x="8201481" y="2671949"/>
            <a:ext cx="1261139" cy="1092543"/>
          </a:xfrm>
          <a:prstGeom prst="ellipse">
            <a:avLst/>
          </a:prstGeom>
          <a:solidFill>
            <a:srgbClr val="FFFF00">
              <a:alpha val="2862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b="1" dirty="0"/>
              <a:t>B</a:t>
            </a:r>
            <a:endParaRPr b="1" dirty="0"/>
          </a:p>
        </p:txBody>
      </p:sp>
      <p:sp>
        <p:nvSpPr>
          <p:cNvPr id="91" name="Google Shape;1000;p15">
            <a:extLst>
              <a:ext uri="{FF2B5EF4-FFF2-40B4-BE49-F238E27FC236}">
                <a16:creationId xmlns:a16="http://schemas.microsoft.com/office/drawing/2014/main" id="{8A42549F-BD9A-4BA5-9AC9-0755B49E105B}"/>
              </a:ext>
            </a:extLst>
          </p:cNvPr>
          <p:cNvSpPr txBox="1"/>
          <p:nvPr/>
        </p:nvSpPr>
        <p:spPr>
          <a:xfrm>
            <a:off x="8513945" y="1870514"/>
            <a:ext cx="769757" cy="3231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dirty="0">
                <a:solidFill>
                  <a:schemeClr val="dk1"/>
                </a:solidFill>
                <a:latin typeface="Century Gothic"/>
                <a:ea typeface="Century Gothic"/>
                <a:cs typeface="Century Gothic"/>
                <a:sym typeface="Century Gothic"/>
              </a:rPr>
              <a:t>Hotel</a:t>
            </a:r>
            <a:endParaRPr sz="1500" dirty="0"/>
          </a:p>
        </p:txBody>
      </p:sp>
      <p:sp>
        <p:nvSpPr>
          <p:cNvPr id="92" name="Google Shape;1015;p15">
            <a:extLst>
              <a:ext uri="{FF2B5EF4-FFF2-40B4-BE49-F238E27FC236}">
                <a16:creationId xmlns:a16="http://schemas.microsoft.com/office/drawing/2014/main" id="{EB88B149-E5AE-4C20-ABD0-B136799FA2B6}"/>
              </a:ext>
            </a:extLst>
          </p:cNvPr>
          <p:cNvSpPr txBox="1"/>
          <p:nvPr/>
        </p:nvSpPr>
        <p:spPr>
          <a:xfrm>
            <a:off x="7497263" y="1051604"/>
            <a:ext cx="2951238"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F0"/>
              </a:buClr>
              <a:buSzPts val="1500"/>
              <a:buFont typeface="Century Gothic"/>
              <a:buNone/>
            </a:pPr>
            <a:r>
              <a:rPr lang="en-US" sz="2000" b="1" i="0" u="none" strike="noStrike" cap="none" dirty="0">
                <a:solidFill>
                  <a:srgbClr val="FF0000"/>
                </a:solidFill>
                <a:latin typeface="Century Gothic"/>
                <a:ea typeface="Century Gothic"/>
                <a:cs typeface="Century Gothic"/>
                <a:sym typeface="Century Gothic"/>
              </a:rPr>
              <a:t>Segment </a:t>
            </a:r>
            <a:r>
              <a:rPr lang="en-US" sz="2000" b="1" dirty="0">
                <a:solidFill>
                  <a:srgbClr val="FF0000"/>
                </a:solidFill>
                <a:latin typeface="Century Gothic"/>
                <a:ea typeface="Century Gothic"/>
                <a:cs typeface="Century Gothic"/>
                <a:sym typeface="Century Gothic"/>
              </a:rPr>
              <a:t>B</a:t>
            </a:r>
            <a:r>
              <a:rPr lang="en-US" sz="2000" b="1" i="0" u="none" strike="noStrike" cap="none" dirty="0">
                <a:solidFill>
                  <a:srgbClr val="FF0000"/>
                </a:solidFill>
                <a:latin typeface="Century Gothic"/>
                <a:ea typeface="Century Gothic"/>
                <a:cs typeface="Century Gothic"/>
                <a:sym typeface="Century Gothic"/>
              </a:rPr>
              <a:t> (30.5%)</a:t>
            </a:r>
            <a:endParaRPr sz="2000" dirty="0">
              <a:solidFill>
                <a:srgbClr val="FF0000"/>
              </a:solidFill>
            </a:endParaRPr>
          </a:p>
        </p:txBody>
      </p:sp>
      <p:sp>
        <p:nvSpPr>
          <p:cNvPr id="93" name="Google Shape;1016;p15">
            <a:extLst>
              <a:ext uri="{FF2B5EF4-FFF2-40B4-BE49-F238E27FC236}">
                <a16:creationId xmlns:a16="http://schemas.microsoft.com/office/drawing/2014/main" id="{22F4DE56-C8ED-4B9E-B560-484537890C5B}"/>
              </a:ext>
            </a:extLst>
          </p:cNvPr>
          <p:cNvSpPr txBox="1"/>
          <p:nvPr/>
        </p:nvSpPr>
        <p:spPr>
          <a:xfrm>
            <a:off x="7469603" y="1430407"/>
            <a:ext cx="2951238" cy="3231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000"/>
              <a:buFont typeface="Century Gothic"/>
              <a:buNone/>
            </a:pPr>
            <a:r>
              <a:rPr lang="en-US" sz="1500" b="1" i="0" u="none" strike="noStrike" cap="none" dirty="0">
                <a:solidFill>
                  <a:schemeClr val="dk1"/>
                </a:solidFill>
                <a:latin typeface="Century Gothic"/>
                <a:ea typeface="Century Gothic"/>
                <a:cs typeface="Century Gothic"/>
                <a:sym typeface="Century Gothic"/>
              </a:rPr>
              <a:t>80% </a:t>
            </a:r>
            <a:r>
              <a:rPr lang="en-US" sz="1500" i="0" u="none" strike="noStrike" cap="none" dirty="0">
                <a:solidFill>
                  <a:schemeClr val="dk1"/>
                </a:solidFill>
                <a:latin typeface="Century Gothic"/>
                <a:ea typeface="Century Gothic"/>
                <a:cs typeface="Century Gothic"/>
                <a:sym typeface="Century Gothic"/>
              </a:rPr>
              <a:t>non-churns  </a:t>
            </a:r>
            <a:r>
              <a:rPr lang="en-US" sz="1500" b="1" i="0" u="none" strike="noStrike" cap="none" dirty="0">
                <a:solidFill>
                  <a:schemeClr val="dk1"/>
                </a:solidFill>
                <a:latin typeface="Century Gothic"/>
                <a:ea typeface="Century Gothic"/>
                <a:cs typeface="Century Gothic"/>
                <a:sym typeface="Century Gothic"/>
              </a:rPr>
              <a:t>20% </a:t>
            </a:r>
            <a:r>
              <a:rPr lang="en-US" sz="1500" i="0" u="none" strike="noStrike" cap="none" dirty="0">
                <a:solidFill>
                  <a:schemeClr val="dk1"/>
                </a:solidFill>
                <a:latin typeface="Century Gothic"/>
                <a:ea typeface="Century Gothic"/>
                <a:cs typeface="Century Gothic"/>
                <a:sym typeface="Century Gothic"/>
              </a:rPr>
              <a:t>churns</a:t>
            </a:r>
            <a:endParaRPr sz="1500" dirty="0"/>
          </a:p>
        </p:txBody>
      </p:sp>
      <p:cxnSp>
        <p:nvCxnSpPr>
          <p:cNvPr id="94" name="Google Shape;1017;p15">
            <a:extLst>
              <a:ext uri="{FF2B5EF4-FFF2-40B4-BE49-F238E27FC236}">
                <a16:creationId xmlns:a16="http://schemas.microsoft.com/office/drawing/2014/main" id="{A91A94E1-A315-4AC2-A81C-AF8E9019B4BF}"/>
              </a:ext>
            </a:extLst>
          </p:cNvPr>
          <p:cNvCxnSpPr>
            <a:cxnSpLocks/>
          </p:cNvCxnSpPr>
          <p:nvPr/>
        </p:nvCxnSpPr>
        <p:spPr>
          <a:xfrm flipV="1">
            <a:off x="7497263" y="1749886"/>
            <a:ext cx="2831471" cy="22969"/>
          </a:xfrm>
          <a:prstGeom prst="straightConnector1">
            <a:avLst/>
          </a:prstGeom>
          <a:noFill/>
          <a:ln w="9525" cap="flat" cmpd="sng">
            <a:solidFill>
              <a:srgbClr val="FF0000"/>
            </a:solidFill>
            <a:prstDash val="solid"/>
            <a:miter lim="800000"/>
            <a:headEnd type="none" w="sm" len="sm"/>
            <a:tailEnd type="none" w="sm" len="sm"/>
          </a:ln>
        </p:spPr>
      </p:cxnSp>
      <p:pic>
        <p:nvPicPr>
          <p:cNvPr id="95" name="Google Shape;1027;p15" descr="Airplane">
            <a:extLst>
              <a:ext uri="{FF2B5EF4-FFF2-40B4-BE49-F238E27FC236}">
                <a16:creationId xmlns:a16="http://schemas.microsoft.com/office/drawing/2014/main" id="{0C46E499-BD9C-4B98-B5A0-C4E2587B7C9A}"/>
              </a:ext>
            </a:extLst>
          </p:cNvPr>
          <p:cNvPicPr preferRelativeResize="0"/>
          <p:nvPr/>
        </p:nvPicPr>
        <p:blipFill rotWithShape="1">
          <a:blip r:embed="rId4">
            <a:alphaModFix/>
          </a:blip>
          <a:srcRect/>
          <a:stretch/>
        </p:blipFill>
        <p:spPr>
          <a:xfrm>
            <a:off x="7570970" y="2792606"/>
            <a:ext cx="360000" cy="360000"/>
          </a:xfrm>
          <a:prstGeom prst="rect">
            <a:avLst/>
          </a:prstGeom>
          <a:noFill/>
          <a:ln>
            <a:noFill/>
          </a:ln>
        </p:spPr>
      </p:pic>
      <p:pic>
        <p:nvPicPr>
          <p:cNvPr id="96" name="Google Shape;1028;p15" descr="Train">
            <a:extLst>
              <a:ext uri="{FF2B5EF4-FFF2-40B4-BE49-F238E27FC236}">
                <a16:creationId xmlns:a16="http://schemas.microsoft.com/office/drawing/2014/main" id="{A7782C0F-F875-414C-91EA-D056F73809F3}"/>
              </a:ext>
            </a:extLst>
          </p:cNvPr>
          <p:cNvPicPr preferRelativeResize="0"/>
          <p:nvPr/>
        </p:nvPicPr>
        <p:blipFill rotWithShape="1">
          <a:blip r:embed="rId5">
            <a:alphaModFix/>
          </a:blip>
          <a:srcRect/>
          <a:stretch/>
        </p:blipFill>
        <p:spPr>
          <a:xfrm>
            <a:off x="9635713" y="2913949"/>
            <a:ext cx="360000" cy="360000"/>
          </a:xfrm>
          <a:prstGeom prst="rect">
            <a:avLst/>
          </a:prstGeom>
          <a:noFill/>
          <a:ln>
            <a:noFill/>
          </a:ln>
        </p:spPr>
      </p:pic>
      <p:pic>
        <p:nvPicPr>
          <p:cNvPr id="97" name="Google Shape;1029;p15" descr="Send">
            <a:extLst>
              <a:ext uri="{FF2B5EF4-FFF2-40B4-BE49-F238E27FC236}">
                <a16:creationId xmlns:a16="http://schemas.microsoft.com/office/drawing/2014/main" id="{D8C39F86-C350-4D65-9FAB-EF61840F1C5B}"/>
              </a:ext>
            </a:extLst>
          </p:cNvPr>
          <p:cNvPicPr preferRelativeResize="0"/>
          <p:nvPr/>
        </p:nvPicPr>
        <p:blipFill rotWithShape="1">
          <a:blip r:embed="rId6">
            <a:alphaModFix/>
          </a:blip>
          <a:srcRect/>
          <a:stretch/>
        </p:blipFill>
        <p:spPr>
          <a:xfrm>
            <a:off x="8552998" y="3857073"/>
            <a:ext cx="360000" cy="360000"/>
          </a:xfrm>
          <a:prstGeom prst="rect">
            <a:avLst/>
          </a:prstGeom>
          <a:noFill/>
          <a:ln>
            <a:noFill/>
          </a:ln>
        </p:spPr>
      </p:pic>
      <p:pic>
        <p:nvPicPr>
          <p:cNvPr id="98" name="Google Shape;1030;p15" descr="Building">
            <a:extLst>
              <a:ext uri="{FF2B5EF4-FFF2-40B4-BE49-F238E27FC236}">
                <a16:creationId xmlns:a16="http://schemas.microsoft.com/office/drawing/2014/main" id="{2C2BB02B-C8CE-4C46-89CE-B4EE60A15C25}"/>
              </a:ext>
            </a:extLst>
          </p:cNvPr>
          <p:cNvPicPr preferRelativeResize="0"/>
          <p:nvPr/>
        </p:nvPicPr>
        <p:blipFill rotWithShape="1">
          <a:blip r:embed="rId7">
            <a:alphaModFix/>
          </a:blip>
          <a:srcRect/>
          <a:stretch/>
        </p:blipFill>
        <p:spPr>
          <a:xfrm>
            <a:off x="8619806" y="2193564"/>
            <a:ext cx="360000" cy="360000"/>
          </a:xfrm>
          <a:prstGeom prst="rect">
            <a:avLst/>
          </a:prstGeom>
          <a:noFill/>
          <a:ln>
            <a:noFill/>
          </a:ln>
        </p:spPr>
      </p:pic>
      <p:sp>
        <p:nvSpPr>
          <p:cNvPr id="99" name="Google Shape;1031;p15">
            <a:extLst>
              <a:ext uri="{FF2B5EF4-FFF2-40B4-BE49-F238E27FC236}">
                <a16:creationId xmlns:a16="http://schemas.microsoft.com/office/drawing/2014/main" id="{D355F9B8-AC80-4BB3-B0E4-2CF57F46336C}"/>
              </a:ext>
            </a:extLst>
          </p:cNvPr>
          <p:cNvSpPr txBox="1"/>
          <p:nvPr/>
        </p:nvSpPr>
        <p:spPr>
          <a:xfrm>
            <a:off x="8945222" y="2151567"/>
            <a:ext cx="149820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800"/>
              <a:buFont typeface="Century Gothic"/>
              <a:buNone/>
            </a:pPr>
            <a:r>
              <a:rPr lang="en-US" sz="1200" dirty="0">
                <a:solidFill>
                  <a:schemeClr val="dk1"/>
                </a:solidFill>
                <a:latin typeface="Century Gothic"/>
                <a:ea typeface="Century Gothic"/>
                <a:cs typeface="Century Gothic"/>
                <a:sym typeface="Century Gothic"/>
              </a:rPr>
              <a:t>83</a:t>
            </a:r>
            <a:r>
              <a:rPr lang="en-US" sz="1200" i="0" u="none" strike="noStrike" cap="none" dirty="0">
                <a:solidFill>
                  <a:schemeClr val="dk1"/>
                </a:solidFill>
                <a:latin typeface="Century Gothic"/>
                <a:ea typeface="Century Gothic"/>
                <a:cs typeface="Century Gothic"/>
                <a:sym typeface="Century Gothic"/>
              </a:rPr>
              <a:t> % non-churns</a:t>
            </a:r>
            <a:endParaRPr sz="1200" dirty="0"/>
          </a:p>
          <a:p>
            <a:pPr marL="0" marR="0" lvl="0" indent="0" algn="l" rtl="0">
              <a:lnSpc>
                <a:spcPct val="100000"/>
              </a:lnSpc>
              <a:spcBef>
                <a:spcPts val="0"/>
              </a:spcBef>
              <a:spcAft>
                <a:spcPts val="0"/>
              </a:spcAft>
              <a:buClr>
                <a:schemeClr val="dk1"/>
              </a:buClr>
              <a:buSzPts val="800"/>
              <a:buFont typeface="Century Gothic"/>
              <a:buNone/>
            </a:pPr>
            <a:r>
              <a:rPr lang="en-US" sz="1200" dirty="0">
                <a:solidFill>
                  <a:schemeClr val="dk1"/>
                </a:solidFill>
                <a:latin typeface="Century Gothic"/>
                <a:ea typeface="Century Gothic"/>
                <a:cs typeface="Century Gothic"/>
                <a:sym typeface="Century Gothic"/>
              </a:rPr>
              <a:t>17 </a:t>
            </a:r>
            <a:r>
              <a:rPr lang="en-US" sz="1200" i="0" u="none" strike="noStrike" cap="none" dirty="0">
                <a:solidFill>
                  <a:schemeClr val="dk1"/>
                </a:solidFill>
                <a:latin typeface="Century Gothic"/>
                <a:ea typeface="Century Gothic"/>
                <a:cs typeface="Century Gothic"/>
                <a:sym typeface="Century Gothic"/>
              </a:rPr>
              <a:t>% churns</a:t>
            </a:r>
            <a:endParaRPr sz="1200" dirty="0"/>
          </a:p>
        </p:txBody>
      </p:sp>
      <p:sp>
        <p:nvSpPr>
          <p:cNvPr id="100" name="Google Shape;1032;p15">
            <a:extLst>
              <a:ext uri="{FF2B5EF4-FFF2-40B4-BE49-F238E27FC236}">
                <a16:creationId xmlns:a16="http://schemas.microsoft.com/office/drawing/2014/main" id="{63556D5C-2598-45FE-A4B2-76922E56C6DB}"/>
              </a:ext>
            </a:extLst>
          </p:cNvPr>
          <p:cNvSpPr txBox="1"/>
          <p:nvPr/>
        </p:nvSpPr>
        <p:spPr>
          <a:xfrm>
            <a:off x="8501647" y="4165237"/>
            <a:ext cx="499221" cy="3231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dirty="0">
                <a:solidFill>
                  <a:schemeClr val="dk1"/>
                </a:solidFill>
                <a:latin typeface="Century Gothic"/>
                <a:ea typeface="Century Gothic"/>
                <a:cs typeface="Century Gothic"/>
                <a:sym typeface="Century Gothic"/>
              </a:rPr>
              <a:t>Trip</a:t>
            </a:r>
            <a:endParaRPr sz="1500" dirty="0"/>
          </a:p>
        </p:txBody>
      </p:sp>
      <p:sp>
        <p:nvSpPr>
          <p:cNvPr id="101" name="Google Shape;1033;p15">
            <a:extLst>
              <a:ext uri="{FF2B5EF4-FFF2-40B4-BE49-F238E27FC236}">
                <a16:creationId xmlns:a16="http://schemas.microsoft.com/office/drawing/2014/main" id="{7B9A1443-5791-4EB2-833C-4DB18C5B6BE2}"/>
              </a:ext>
            </a:extLst>
          </p:cNvPr>
          <p:cNvSpPr txBox="1"/>
          <p:nvPr/>
        </p:nvSpPr>
        <p:spPr>
          <a:xfrm>
            <a:off x="8201481" y="4471357"/>
            <a:ext cx="153196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800"/>
              <a:buFont typeface="Century Gothic"/>
              <a:buNone/>
            </a:pPr>
            <a:r>
              <a:rPr lang="en-US" sz="1200" dirty="0">
                <a:solidFill>
                  <a:schemeClr val="dk1"/>
                </a:solidFill>
                <a:latin typeface="Century Gothic"/>
                <a:ea typeface="Century Gothic"/>
                <a:cs typeface="Century Gothic"/>
                <a:sym typeface="Century Gothic"/>
              </a:rPr>
              <a:t>100 </a:t>
            </a:r>
            <a:r>
              <a:rPr lang="en-US" sz="1200" i="0" u="none" strike="noStrike" cap="none" dirty="0">
                <a:solidFill>
                  <a:schemeClr val="dk1"/>
                </a:solidFill>
                <a:latin typeface="Century Gothic"/>
                <a:ea typeface="Century Gothic"/>
                <a:cs typeface="Century Gothic"/>
                <a:sym typeface="Century Gothic"/>
              </a:rPr>
              <a:t>% non-churns</a:t>
            </a:r>
            <a:endParaRPr sz="1200" dirty="0"/>
          </a:p>
          <a:p>
            <a:pPr marL="0" marR="0" lvl="0" indent="0" algn="l" rtl="0">
              <a:lnSpc>
                <a:spcPct val="100000"/>
              </a:lnSpc>
              <a:spcBef>
                <a:spcPts val="0"/>
              </a:spcBef>
              <a:spcAft>
                <a:spcPts val="0"/>
              </a:spcAft>
              <a:buClr>
                <a:schemeClr val="dk1"/>
              </a:buClr>
              <a:buSzPts val="800"/>
              <a:buFont typeface="Century Gothic"/>
              <a:buNone/>
            </a:pPr>
            <a:r>
              <a:rPr lang="en-US" sz="1200" dirty="0">
                <a:solidFill>
                  <a:schemeClr val="dk1"/>
                </a:solidFill>
                <a:latin typeface="Century Gothic"/>
                <a:ea typeface="Century Gothic"/>
                <a:cs typeface="Century Gothic"/>
                <a:sym typeface="Century Gothic"/>
              </a:rPr>
              <a:t>0 </a:t>
            </a:r>
            <a:r>
              <a:rPr lang="en-US" sz="1200" i="0" u="none" strike="noStrike" cap="none" dirty="0">
                <a:solidFill>
                  <a:schemeClr val="dk1"/>
                </a:solidFill>
                <a:latin typeface="Century Gothic"/>
                <a:ea typeface="Century Gothic"/>
                <a:cs typeface="Century Gothic"/>
                <a:sym typeface="Century Gothic"/>
              </a:rPr>
              <a:t>% churns</a:t>
            </a:r>
            <a:endParaRPr sz="1200" dirty="0"/>
          </a:p>
        </p:txBody>
      </p:sp>
      <p:sp>
        <p:nvSpPr>
          <p:cNvPr id="102" name="Google Shape;1034;p15">
            <a:extLst>
              <a:ext uri="{FF2B5EF4-FFF2-40B4-BE49-F238E27FC236}">
                <a16:creationId xmlns:a16="http://schemas.microsoft.com/office/drawing/2014/main" id="{ACE5EACC-D003-4BAD-925E-422CF0CDDACC}"/>
              </a:ext>
            </a:extLst>
          </p:cNvPr>
          <p:cNvSpPr txBox="1"/>
          <p:nvPr/>
        </p:nvSpPr>
        <p:spPr>
          <a:xfrm>
            <a:off x="9932239" y="2910781"/>
            <a:ext cx="719286" cy="3231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dirty="0">
                <a:solidFill>
                  <a:schemeClr val="dk1"/>
                </a:solidFill>
                <a:latin typeface="Century Gothic"/>
                <a:ea typeface="Century Gothic"/>
                <a:cs typeface="Century Gothic"/>
                <a:sym typeface="Century Gothic"/>
              </a:rPr>
              <a:t>Train</a:t>
            </a:r>
            <a:endParaRPr sz="1500" dirty="0"/>
          </a:p>
        </p:txBody>
      </p:sp>
      <p:sp>
        <p:nvSpPr>
          <p:cNvPr id="103" name="Google Shape;1036;p15">
            <a:extLst>
              <a:ext uri="{FF2B5EF4-FFF2-40B4-BE49-F238E27FC236}">
                <a16:creationId xmlns:a16="http://schemas.microsoft.com/office/drawing/2014/main" id="{44EFB9E3-2F35-49FF-A403-D7A8D23C5355}"/>
              </a:ext>
            </a:extLst>
          </p:cNvPr>
          <p:cNvSpPr txBox="1"/>
          <p:nvPr/>
        </p:nvSpPr>
        <p:spPr>
          <a:xfrm>
            <a:off x="6882204" y="2825810"/>
            <a:ext cx="779425" cy="3231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dirty="0">
                <a:solidFill>
                  <a:schemeClr val="dk1"/>
                </a:solidFill>
                <a:latin typeface="Century Gothic"/>
                <a:ea typeface="Century Gothic"/>
                <a:cs typeface="Century Gothic"/>
                <a:sym typeface="Century Gothic"/>
              </a:rPr>
              <a:t>Flight</a:t>
            </a:r>
            <a:endParaRPr sz="1500" dirty="0"/>
          </a:p>
        </p:txBody>
      </p:sp>
      <p:sp>
        <p:nvSpPr>
          <p:cNvPr id="104" name="Google Shape;1037;p15">
            <a:extLst>
              <a:ext uri="{FF2B5EF4-FFF2-40B4-BE49-F238E27FC236}">
                <a16:creationId xmlns:a16="http://schemas.microsoft.com/office/drawing/2014/main" id="{DF9C22E4-9C7B-43C3-A062-010EFB61162D}"/>
              </a:ext>
            </a:extLst>
          </p:cNvPr>
          <p:cNvSpPr txBox="1"/>
          <p:nvPr/>
        </p:nvSpPr>
        <p:spPr>
          <a:xfrm>
            <a:off x="6777052" y="3233906"/>
            <a:ext cx="1406033"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800"/>
              <a:buFont typeface="Century Gothic"/>
              <a:buNone/>
            </a:pPr>
            <a:r>
              <a:rPr lang="en-US" sz="1200" dirty="0">
                <a:solidFill>
                  <a:schemeClr val="dk1"/>
                </a:solidFill>
                <a:latin typeface="Century Gothic"/>
                <a:ea typeface="Century Gothic"/>
                <a:cs typeface="Century Gothic"/>
                <a:sym typeface="Century Gothic"/>
              </a:rPr>
              <a:t>77 </a:t>
            </a:r>
            <a:r>
              <a:rPr lang="en-US" sz="1200" i="0" u="none" strike="noStrike" cap="none" dirty="0">
                <a:solidFill>
                  <a:schemeClr val="dk1"/>
                </a:solidFill>
                <a:latin typeface="Century Gothic"/>
                <a:ea typeface="Century Gothic"/>
                <a:cs typeface="Century Gothic"/>
                <a:sym typeface="Century Gothic"/>
              </a:rPr>
              <a:t>% non-churns  </a:t>
            </a:r>
            <a:endParaRPr sz="1200" dirty="0"/>
          </a:p>
          <a:p>
            <a:pPr marL="0" marR="0" lvl="0" indent="0" algn="l" rtl="0">
              <a:lnSpc>
                <a:spcPct val="100000"/>
              </a:lnSpc>
              <a:spcBef>
                <a:spcPts val="0"/>
              </a:spcBef>
              <a:spcAft>
                <a:spcPts val="0"/>
              </a:spcAft>
              <a:buClr>
                <a:schemeClr val="dk1"/>
              </a:buClr>
              <a:buSzPts val="800"/>
              <a:buFont typeface="Century Gothic"/>
              <a:buNone/>
            </a:pPr>
            <a:r>
              <a:rPr lang="en-US" sz="1200" dirty="0">
                <a:solidFill>
                  <a:schemeClr val="dk1"/>
                </a:solidFill>
                <a:latin typeface="Century Gothic"/>
                <a:ea typeface="Century Gothic"/>
                <a:cs typeface="Century Gothic"/>
                <a:sym typeface="Century Gothic"/>
              </a:rPr>
              <a:t>23</a:t>
            </a:r>
            <a:r>
              <a:rPr lang="en-US" sz="1200" i="0" u="none" strike="noStrike" cap="none" dirty="0">
                <a:solidFill>
                  <a:schemeClr val="dk1"/>
                </a:solidFill>
                <a:latin typeface="Century Gothic"/>
                <a:ea typeface="Century Gothic"/>
                <a:cs typeface="Century Gothic"/>
                <a:sym typeface="Century Gothic"/>
              </a:rPr>
              <a:t> % churns</a:t>
            </a:r>
            <a:endParaRPr sz="1200" dirty="0"/>
          </a:p>
        </p:txBody>
      </p:sp>
      <p:sp>
        <p:nvSpPr>
          <p:cNvPr id="105" name="Google Shape;1035;p15">
            <a:extLst>
              <a:ext uri="{FF2B5EF4-FFF2-40B4-BE49-F238E27FC236}">
                <a16:creationId xmlns:a16="http://schemas.microsoft.com/office/drawing/2014/main" id="{67F43C73-B67A-4C91-9595-9CD727B6FD99}"/>
              </a:ext>
            </a:extLst>
          </p:cNvPr>
          <p:cNvSpPr txBox="1"/>
          <p:nvPr/>
        </p:nvSpPr>
        <p:spPr>
          <a:xfrm>
            <a:off x="9418407" y="3345001"/>
            <a:ext cx="153196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800"/>
              <a:buFont typeface="Century Gothic"/>
              <a:buNone/>
            </a:pPr>
            <a:r>
              <a:rPr lang="en-US" sz="1200" dirty="0">
                <a:solidFill>
                  <a:schemeClr val="dk1"/>
                </a:solidFill>
                <a:latin typeface="Century Gothic"/>
                <a:ea typeface="Century Gothic"/>
                <a:cs typeface="Century Gothic"/>
                <a:sym typeface="Century Gothic"/>
              </a:rPr>
              <a:t>96 </a:t>
            </a:r>
            <a:r>
              <a:rPr lang="en-US" sz="1200" i="0" u="none" strike="noStrike" cap="none" dirty="0">
                <a:solidFill>
                  <a:schemeClr val="dk1"/>
                </a:solidFill>
                <a:latin typeface="Century Gothic"/>
                <a:ea typeface="Century Gothic"/>
                <a:cs typeface="Century Gothic"/>
                <a:sym typeface="Century Gothic"/>
              </a:rPr>
              <a:t>% non-churns </a:t>
            </a:r>
            <a:endParaRPr sz="1200" dirty="0"/>
          </a:p>
          <a:p>
            <a:pPr marL="0" marR="0" lvl="0" indent="0" algn="l" rtl="0">
              <a:lnSpc>
                <a:spcPct val="100000"/>
              </a:lnSpc>
              <a:spcBef>
                <a:spcPts val="0"/>
              </a:spcBef>
              <a:spcAft>
                <a:spcPts val="0"/>
              </a:spcAft>
              <a:buClr>
                <a:schemeClr val="dk1"/>
              </a:buClr>
              <a:buSzPts val="800"/>
              <a:buFont typeface="Century Gothic"/>
              <a:buNone/>
            </a:pPr>
            <a:r>
              <a:rPr lang="en-US" sz="1200" i="0" u="none" strike="noStrike" cap="none" dirty="0">
                <a:solidFill>
                  <a:schemeClr val="dk1"/>
                </a:solidFill>
                <a:latin typeface="Century Gothic"/>
                <a:ea typeface="Century Gothic"/>
                <a:cs typeface="Century Gothic"/>
                <a:sym typeface="Century Gothic"/>
              </a:rPr>
              <a:t>4 % churns</a:t>
            </a:r>
            <a:endParaRPr sz="1200" dirty="0"/>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graphicFrame>
        <p:nvGraphicFramePr>
          <p:cNvPr id="249" name="Google Shape;249;p10"/>
          <p:cNvGraphicFramePr/>
          <p:nvPr>
            <p:extLst>
              <p:ext uri="{D42A27DB-BD31-4B8C-83A1-F6EECF244321}">
                <p14:modId xmlns:p14="http://schemas.microsoft.com/office/powerpoint/2010/main" val="1779522832"/>
              </p:ext>
            </p:extLst>
          </p:nvPr>
        </p:nvGraphicFramePr>
        <p:xfrm>
          <a:off x="1332181" y="1145976"/>
          <a:ext cx="10038550" cy="4738290"/>
        </p:xfrm>
        <a:graphic>
          <a:graphicData uri="http://schemas.openxmlformats.org/drawingml/2006/table">
            <a:tbl>
              <a:tblPr firstRow="1" bandRow="1">
                <a:noFill/>
              </a:tblPr>
              <a:tblGrid>
                <a:gridCol w="4463800">
                  <a:extLst>
                    <a:ext uri="{9D8B030D-6E8A-4147-A177-3AD203B41FA5}">
                      <a16:colId xmlns:a16="http://schemas.microsoft.com/office/drawing/2014/main" val="20000"/>
                    </a:ext>
                  </a:extLst>
                </a:gridCol>
                <a:gridCol w="2699175">
                  <a:extLst>
                    <a:ext uri="{9D8B030D-6E8A-4147-A177-3AD203B41FA5}">
                      <a16:colId xmlns:a16="http://schemas.microsoft.com/office/drawing/2014/main" val="20001"/>
                    </a:ext>
                  </a:extLst>
                </a:gridCol>
                <a:gridCol w="2875575">
                  <a:extLst>
                    <a:ext uri="{9D8B030D-6E8A-4147-A177-3AD203B41FA5}">
                      <a16:colId xmlns:a16="http://schemas.microsoft.com/office/drawing/2014/main" val="20002"/>
                    </a:ext>
                  </a:extLst>
                </a:gridCol>
              </a:tblGrid>
              <a:tr h="558025">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lt1"/>
                        </a:solidFill>
                        <a:latin typeface="Century Gothic"/>
                        <a:ea typeface="Century Gothic"/>
                        <a:cs typeface="Century Gothic"/>
                        <a:sym typeface="Century Gothic"/>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lt1"/>
                        </a:buClr>
                        <a:buSzPts val="1200"/>
                        <a:buFont typeface="Century Gothic"/>
                        <a:buNone/>
                      </a:pPr>
                      <a:r>
                        <a:rPr lang="en-US" sz="1200" b="1" i="0" u="none" strike="noStrike" cap="none" dirty="0">
                          <a:solidFill>
                            <a:schemeClr val="lt1"/>
                          </a:solidFill>
                          <a:latin typeface="Century Gothic"/>
                          <a:ea typeface="Century Gothic"/>
                          <a:cs typeface="Century Gothic"/>
                          <a:sym typeface="Century Gothic"/>
                        </a:rPr>
                        <a:t>Segment A</a:t>
                      </a:r>
                      <a:endParaRPr sz="1200" u="none" strike="noStrike" cap="none" dirty="0">
                        <a:solidFill>
                          <a:schemeClr val="lt1"/>
                        </a:solidFill>
                        <a:latin typeface="Century Gothic"/>
                        <a:ea typeface="Century Gothic"/>
                        <a:cs typeface="Century Gothic"/>
                        <a:sym typeface="Century Gothic"/>
                      </a:endParaRPr>
                    </a:p>
                  </a:txBody>
                  <a:tcPr marL="91450" marR="91450" marT="45725" marB="45725" anchor="ctr">
                    <a:lnL w="9525" cap="flat" cmpd="sng">
                      <a:solidFill>
                        <a:srgbClr val="000000">
                          <a:alpha val="0"/>
                        </a:srgbClr>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0000"/>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solidFill>
                            <a:schemeClr val="lt1"/>
                          </a:solidFill>
                          <a:latin typeface="Century Gothic"/>
                          <a:ea typeface="Century Gothic"/>
                          <a:cs typeface="Century Gothic"/>
                          <a:sym typeface="Century Gothic"/>
                        </a:rPr>
                        <a:t>Segment B</a:t>
                      </a:r>
                      <a:endParaRPr sz="1400" b="1" u="none" strike="noStrike" cap="none" dirty="0"/>
                    </a:p>
                  </a:txBody>
                  <a:tcPr marL="91450" marR="91450" marT="45725" marB="45725" anchor="ct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0000"/>
                    </a:solidFill>
                  </a:tcPr>
                </a:tc>
                <a:extLst>
                  <a:ext uri="{0D108BD9-81ED-4DB2-BD59-A6C34878D82A}">
                    <a16:rowId xmlns:a16="http://schemas.microsoft.com/office/drawing/2014/main" val="10000"/>
                  </a:ext>
                </a:extLst>
              </a:tr>
              <a:tr h="1358900">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lt1"/>
                        </a:solidFill>
                        <a:latin typeface="Century Gothic"/>
                        <a:ea typeface="Century Gothic"/>
                        <a:cs typeface="Century Gothic"/>
                        <a:sym typeface="Century Gothic"/>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rgbClr val="F2F2F2"/>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F2F2F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dirty="0">
                        <a:solidFill>
                          <a:schemeClr val="lt1"/>
                        </a:solidFill>
                        <a:latin typeface="Century Gothic"/>
                        <a:ea typeface="Century Gothic"/>
                        <a:cs typeface="Century Gothic"/>
                        <a:sym typeface="Century Gothic"/>
                      </a:endParaRPr>
                    </a:p>
                  </a:txBody>
                  <a:tcPr marL="91450" marR="91450" marT="45725" marB="45725" anchor="ctr">
                    <a:lnL w="12700" cap="flat" cmpd="sng">
                      <a:solidFill>
                        <a:srgbClr val="F2F2F2"/>
                      </a:solidFill>
                      <a:prstDash val="solid"/>
                      <a:round/>
                      <a:headEnd type="none" w="sm" len="sm"/>
                      <a:tailEnd type="none" w="sm" len="sm"/>
                    </a:lnL>
                    <a:lnR w="9525" cap="flat" cmpd="sng">
                      <a:solidFill>
                        <a:srgbClr val="D8D8D8"/>
                      </a:solidFill>
                      <a:prstDash val="dash"/>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lt1"/>
                        </a:solidFill>
                        <a:latin typeface="Century Gothic"/>
                        <a:ea typeface="Century Gothic"/>
                        <a:cs typeface="Century Gothic"/>
                        <a:sym typeface="Century Gothic"/>
                      </a:endParaRPr>
                    </a:p>
                  </a:txBody>
                  <a:tcPr marL="91450" marR="91450" marT="45725" marB="45725" anchor="ctr">
                    <a:lnL w="9525" cap="flat" cmpd="sng">
                      <a:solidFill>
                        <a:srgbClr val="D8D8D8"/>
                      </a:solidFill>
                      <a:prstDash val="dash"/>
                      <a:round/>
                      <a:headEnd type="none" w="sm" len="sm"/>
                      <a:tailEnd type="none" w="sm" len="sm"/>
                    </a:lnL>
                    <a:lnR w="9525" cap="flat" cmpd="sng">
                      <a:solidFill>
                        <a:srgbClr val="D8D8D8"/>
                      </a:solidFill>
                      <a:prstDash val="dash"/>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extLst>
                  <a:ext uri="{0D108BD9-81ED-4DB2-BD59-A6C34878D82A}">
                    <a16:rowId xmlns:a16="http://schemas.microsoft.com/office/drawing/2014/main" val="10001"/>
                  </a:ext>
                </a:extLst>
              </a:tr>
              <a:tr h="383650">
                <a:tc>
                  <a:txBody>
                    <a:bodyPr/>
                    <a:lstStyle/>
                    <a:p>
                      <a:pPr marL="0" marR="0" lvl="0" indent="0" algn="l" rtl="0">
                        <a:lnSpc>
                          <a:spcPct val="100000"/>
                        </a:lnSpc>
                        <a:spcBef>
                          <a:spcPts val="0"/>
                        </a:spcBef>
                        <a:spcAft>
                          <a:spcPts val="0"/>
                        </a:spcAft>
                        <a:buClr>
                          <a:schemeClr val="dk1"/>
                        </a:buClr>
                        <a:buSzPts val="1050"/>
                        <a:buFont typeface="Noto Sans Symbols"/>
                        <a:buNone/>
                      </a:pPr>
                      <a:r>
                        <a:rPr lang="en-US" sz="1050" b="1" u="none" strike="noStrike" cap="none">
                          <a:latin typeface="Century Gothic"/>
                          <a:ea typeface="Century Gothic"/>
                          <a:cs typeface="Century Gothic"/>
                          <a:sym typeface="Century Gothic"/>
                        </a:rPr>
                        <a:t>Total Subs (K)</a:t>
                      </a:r>
                      <a:endParaRPr sz="1400" u="none" strike="noStrike" cap="none"/>
                    </a:p>
                  </a:txBody>
                  <a:tcPr marL="91450" marR="7625" marT="7625" marB="0" anchor="ctr">
                    <a:lnL w="9525" cap="flat" cmpd="sng">
                      <a:solidFill>
                        <a:srgbClr val="D8D8D8"/>
                      </a:solidFill>
                      <a:prstDash val="solid"/>
                      <a:round/>
                      <a:headEnd type="none" w="sm" len="sm"/>
                      <a:tailEnd type="none" w="sm" len="sm"/>
                    </a:lnL>
                    <a:lnR w="9525" cap="flat" cmpd="sng">
                      <a:solidFill>
                        <a:srgbClr val="D8D8D8"/>
                      </a:solidFill>
                      <a:prstDash val="dash"/>
                      <a:round/>
                      <a:headEnd type="none" w="sm" len="sm"/>
                      <a:tailEnd type="none" w="sm" len="sm"/>
                    </a:lnR>
                    <a:lnT w="12700" cap="flat" cmpd="sng">
                      <a:solidFill>
                        <a:srgbClr val="F2F2F2"/>
                      </a:solidFill>
                      <a:prstDash val="solid"/>
                      <a:round/>
                      <a:headEnd type="none" w="sm" len="sm"/>
                      <a:tailEnd type="none" w="sm" len="sm"/>
                    </a:lnT>
                    <a:lnB w="12700" cap="flat" cmpd="sng">
                      <a:solidFill>
                        <a:srgbClr val="F2F2F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050"/>
                        <a:buFont typeface="Noto Sans Symbols"/>
                        <a:buNone/>
                      </a:pPr>
                      <a:r>
                        <a:rPr lang="en-US" sz="1400" b="1" i="0" u="none" strike="noStrike" cap="none" dirty="0">
                          <a:latin typeface="Century Gothic"/>
                          <a:ea typeface="Century Gothic"/>
                          <a:cs typeface="Century Gothic"/>
                          <a:sym typeface="Century Gothic"/>
                        </a:rPr>
                        <a:t>143.3</a:t>
                      </a:r>
                      <a:r>
                        <a:rPr lang="en-US" sz="1400" i="0" u="none" strike="noStrike" cap="none" dirty="0">
                          <a:latin typeface="Century Gothic"/>
                          <a:ea typeface="Century Gothic"/>
                          <a:cs typeface="Century Gothic"/>
                          <a:sym typeface="Century Gothic"/>
                        </a:rPr>
                        <a:t>     </a:t>
                      </a:r>
                      <a:r>
                        <a:rPr lang="en-US" sz="1400" u="none" strike="noStrike" cap="none" dirty="0">
                          <a:latin typeface="Century Gothic"/>
                          <a:ea typeface="Century Gothic"/>
                          <a:cs typeface="Century Gothic"/>
                          <a:sym typeface="Century Gothic"/>
                        </a:rPr>
                        <a:t>( 69.5 % )</a:t>
                      </a:r>
                      <a:endParaRPr sz="1400" u="none" strike="noStrike" cap="none" dirty="0">
                        <a:latin typeface="Century Gothic"/>
                        <a:ea typeface="Century Gothic"/>
                        <a:cs typeface="Century Gothic"/>
                        <a:sym typeface="Century Gothic"/>
                      </a:endParaRPr>
                    </a:p>
                  </a:txBody>
                  <a:tcPr marL="91450" marR="91450" marT="45725" marB="45725" anchor="ctr">
                    <a:lnL w="9525" cap="flat" cmpd="sng">
                      <a:solidFill>
                        <a:srgbClr val="D8D8D8"/>
                      </a:solidFill>
                      <a:prstDash val="dash"/>
                      <a:round/>
                      <a:headEnd type="none" w="sm" len="sm"/>
                      <a:tailEnd type="none" w="sm" len="sm"/>
                    </a:lnL>
                    <a:lnR w="9525" cap="flat" cmpd="sng">
                      <a:solidFill>
                        <a:srgbClr val="D8D8D8"/>
                      </a:solidFill>
                      <a:prstDash val="dash"/>
                      <a:round/>
                      <a:headEnd type="none" w="sm" len="sm"/>
                      <a:tailEnd type="none" w="sm" len="sm"/>
                    </a:lnR>
                    <a:lnT w="9525" cap="flat" cmpd="sng">
                      <a:solidFill>
                        <a:srgbClr val="D8D8D8"/>
                      </a:solidFill>
                      <a:prstDash val="solid"/>
                      <a:round/>
                      <a:headEnd type="none" w="sm" len="sm"/>
                      <a:tailEnd type="none" w="sm" len="sm"/>
                    </a:lnT>
                    <a:solidFill>
                      <a:schemeClr val="lt1"/>
                    </a:solidFill>
                  </a:tcPr>
                </a:tc>
                <a:tc>
                  <a:txBody>
                    <a:bodyPr/>
                    <a:lstStyle/>
                    <a:p>
                      <a:pPr marL="0" marR="0" lvl="0" indent="0" algn="ctr" rtl="0">
                        <a:lnSpc>
                          <a:spcPct val="100000"/>
                        </a:lnSpc>
                        <a:spcBef>
                          <a:spcPts val="0"/>
                        </a:spcBef>
                        <a:spcAft>
                          <a:spcPts val="0"/>
                        </a:spcAft>
                        <a:buClr>
                          <a:schemeClr val="dk1"/>
                        </a:buClr>
                        <a:buSzPts val="1050"/>
                        <a:buFont typeface="Noto Sans Symbols"/>
                        <a:buNone/>
                      </a:pPr>
                      <a:r>
                        <a:rPr lang="en-US" sz="1400" i="0" u="none" strike="noStrike" cap="none" dirty="0">
                          <a:latin typeface="Century Gothic"/>
                          <a:ea typeface="Century Gothic"/>
                          <a:cs typeface="Century Gothic"/>
                          <a:sym typeface="Century Gothic"/>
                        </a:rPr>
                        <a:t>62.6      </a:t>
                      </a:r>
                      <a:r>
                        <a:rPr lang="en-US" sz="1400" u="none" strike="noStrike" cap="none" dirty="0">
                          <a:latin typeface="Century Gothic"/>
                          <a:ea typeface="Century Gothic"/>
                          <a:cs typeface="Century Gothic"/>
                          <a:sym typeface="Century Gothic"/>
                        </a:rPr>
                        <a:t>(30.5 %)</a:t>
                      </a:r>
                      <a:endParaRPr sz="1400" u="none" strike="noStrike" cap="none" dirty="0">
                        <a:latin typeface="Century Gothic"/>
                        <a:ea typeface="Century Gothic"/>
                        <a:cs typeface="Century Gothic"/>
                        <a:sym typeface="Century Gothic"/>
                      </a:endParaRPr>
                    </a:p>
                  </a:txBody>
                  <a:tcPr marL="91450" marR="91450" marT="45725" marB="45725" anchor="ctr">
                    <a:lnL w="9525" cap="flat" cmpd="sng">
                      <a:solidFill>
                        <a:srgbClr val="D8D8D8"/>
                      </a:solidFill>
                      <a:prstDash val="dash"/>
                      <a:round/>
                      <a:headEnd type="none" w="sm" len="sm"/>
                      <a:tailEnd type="none" w="sm" len="sm"/>
                    </a:lnL>
                    <a:lnR w="9525" cap="flat" cmpd="sng">
                      <a:solidFill>
                        <a:srgbClr val="D8D8D8"/>
                      </a:solidFill>
                      <a:prstDash val="dash"/>
                      <a:round/>
                      <a:headEnd type="none" w="sm" len="sm"/>
                      <a:tailEnd type="none" w="sm" len="sm"/>
                    </a:lnR>
                    <a:lnT w="9525" cap="flat" cmpd="sng">
                      <a:solidFill>
                        <a:srgbClr val="D8D8D8"/>
                      </a:solidFill>
                      <a:prstDash val="solid"/>
                      <a:round/>
                      <a:headEnd type="none" w="sm" len="sm"/>
                      <a:tailEnd type="none" w="sm" len="sm"/>
                    </a:lnT>
                    <a:solidFill>
                      <a:schemeClr val="lt1"/>
                    </a:solidFill>
                  </a:tcPr>
                </a:tc>
                <a:extLst>
                  <a:ext uri="{0D108BD9-81ED-4DB2-BD59-A6C34878D82A}">
                    <a16:rowId xmlns:a16="http://schemas.microsoft.com/office/drawing/2014/main" val="10002"/>
                  </a:ext>
                </a:extLst>
              </a:tr>
              <a:tr h="348775">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Tenure (Hours,000)</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12700" cap="flat" cmpd="sng">
                      <a:solidFill>
                        <a:srgbClr val="F2F2F2"/>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400" u="none" strike="noStrike" cap="none" dirty="0">
                          <a:latin typeface="Century Gothic"/>
                          <a:ea typeface="Century Gothic"/>
                          <a:cs typeface="Century Gothic"/>
                          <a:sym typeface="Century Gothic"/>
                        </a:rPr>
                        <a:t>2.3	( 11% )</a:t>
                      </a:r>
                      <a:endParaRPr sz="1400" u="none" strike="noStrike" cap="none" dirty="0">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050"/>
                        <a:buFont typeface="Arial"/>
                        <a:buNone/>
                      </a:pPr>
                      <a:r>
                        <a:rPr lang="en-US" sz="1400" b="1" u="none" strike="noStrike" cap="none" dirty="0">
                          <a:solidFill>
                            <a:srgbClr val="FF0000"/>
                          </a:solidFill>
                          <a:latin typeface="Century Gothic"/>
                          <a:ea typeface="Century Gothic"/>
                          <a:cs typeface="Century Gothic"/>
                          <a:sym typeface="Century Gothic"/>
                        </a:rPr>
                        <a:t>18.5                       (89%)</a:t>
                      </a:r>
                      <a:endParaRPr sz="1400" b="1" u="none" strike="noStrike" cap="none" dirty="0">
                        <a:solidFill>
                          <a:srgbClr val="FF0000"/>
                        </a:solidFill>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3"/>
                  </a:ext>
                </a:extLst>
              </a:tr>
              <a:tr h="383650">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Diff last first issued time (days)</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400" u="none" strike="noStrike" cap="none" dirty="0">
                          <a:latin typeface="Century Gothic"/>
                          <a:ea typeface="Century Gothic"/>
                          <a:cs typeface="Century Gothic"/>
                          <a:sym typeface="Century Gothic"/>
                        </a:rPr>
                        <a:t>67    	( 9% )</a:t>
                      </a:r>
                      <a:endParaRPr sz="1400" u="none" strike="noStrike" cap="none" dirty="0">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050"/>
                        <a:buFont typeface="Arial"/>
                        <a:buNone/>
                      </a:pPr>
                      <a:r>
                        <a:rPr lang="en-US" sz="1400" b="1" u="none" strike="noStrike" cap="none" dirty="0">
                          <a:solidFill>
                            <a:srgbClr val="FF0000"/>
                          </a:solidFill>
                          <a:latin typeface="Century Gothic"/>
                          <a:ea typeface="Century Gothic"/>
                          <a:cs typeface="Century Gothic"/>
                          <a:sym typeface="Century Gothic"/>
                        </a:rPr>
                        <a:t>702                            (91%)</a:t>
                      </a:r>
                      <a:endParaRPr sz="1400" b="1" u="none" strike="noStrike" cap="none" dirty="0">
                        <a:solidFill>
                          <a:srgbClr val="FF0000"/>
                        </a:solidFill>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4"/>
                  </a:ext>
                </a:extLst>
              </a:tr>
              <a:tr h="348775">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Count issued (Transactions)</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400" b="0" u="none" strike="noStrike" cap="none" dirty="0">
                          <a:solidFill>
                            <a:schemeClr val="tx1"/>
                          </a:solidFill>
                          <a:latin typeface="Century Gothic"/>
                          <a:ea typeface="Century Gothic"/>
                          <a:cs typeface="Century Gothic"/>
                          <a:sym typeface="Century Gothic"/>
                        </a:rPr>
                        <a:t>2</a:t>
                      </a:r>
                      <a:r>
                        <a:rPr lang="en-US" sz="1400" b="1" u="none" strike="noStrike" cap="none" dirty="0">
                          <a:solidFill>
                            <a:srgbClr val="FF0000"/>
                          </a:solidFill>
                          <a:latin typeface="Century Gothic"/>
                          <a:ea typeface="Century Gothic"/>
                          <a:cs typeface="Century Gothic"/>
                          <a:sym typeface="Century Gothic"/>
                        </a:rPr>
                        <a:t>     	</a:t>
                      </a:r>
                      <a:r>
                        <a:rPr lang="en-US" sz="1400" u="none" strike="noStrike" cap="none" dirty="0">
                          <a:latin typeface="Century Gothic"/>
                          <a:ea typeface="Century Gothic"/>
                          <a:cs typeface="Century Gothic"/>
                          <a:sym typeface="Century Gothic"/>
                        </a:rPr>
                        <a:t>(10%)</a:t>
                      </a:r>
                      <a:endParaRPr sz="1400" b="1" u="none" strike="noStrike" cap="none" dirty="0">
                        <a:solidFill>
                          <a:srgbClr val="FF0000"/>
                        </a:solidFill>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050"/>
                        <a:buFont typeface="Arial"/>
                        <a:buNone/>
                      </a:pPr>
                      <a:r>
                        <a:rPr lang="en-US" sz="1400" b="1" u="none" strike="noStrike" cap="none" dirty="0">
                          <a:solidFill>
                            <a:srgbClr val="FF0000"/>
                          </a:solidFill>
                          <a:latin typeface="Century Gothic"/>
                          <a:ea typeface="Century Gothic"/>
                          <a:cs typeface="Century Gothic"/>
                          <a:sym typeface="Century Gothic"/>
                        </a:rPr>
                        <a:t>   18        </a:t>
                      </a:r>
                      <a:r>
                        <a:rPr lang="en-US" sz="1400" u="none" strike="noStrike" cap="none" dirty="0">
                          <a:latin typeface="Century Gothic"/>
                          <a:ea typeface="Century Gothic"/>
                          <a:cs typeface="Century Gothic"/>
                          <a:sym typeface="Century Gothic"/>
                        </a:rPr>
                        <a:t>                      </a:t>
                      </a:r>
                      <a:r>
                        <a:rPr lang="en-US" sz="1400" b="1" u="none" strike="noStrike" cap="none" dirty="0">
                          <a:solidFill>
                            <a:srgbClr val="FF0000"/>
                          </a:solidFill>
                          <a:latin typeface="Century Gothic"/>
                          <a:ea typeface="Century Gothic"/>
                          <a:cs typeface="Century Gothic"/>
                          <a:sym typeface="Century Gothic"/>
                        </a:rPr>
                        <a:t>( 90% )</a:t>
                      </a:r>
                      <a:endParaRPr sz="1400" u="none" strike="noStrike" cap="none" dirty="0">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5"/>
                  </a:ext>
                </a:extLst>
              </a:tr>
              <a:tr h="348775">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Invoice per count issued (IDR,000)</a:t>
                      </a:r>
                      <a:endParaRPr sz="1000" b="1" i="0" u="none" strike="noStrike" cap="none" dirty="0">
                        <a:solidFill>
                          <a:srgbClr val="000000"/>
                        </a:solidFill>
                        <a:latin typeface="Century Gothic"/>
                        <a:ea typeface="Century Gothic"/>
                        <a:cs typeface="Century Gothic"/>
                        <a:sym typeface="Century Gothic"/>
                      </a:endParaRPr>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400" b="1" u="none" strike="noStrike" cap="none" dirty="0">
                          <a:solidFill>
                            <a:srgbClr val="FF0000"/>
                          </a:solidFill>
                          <a:latin typeface="Century Gothic"/>
                          <a:ea typeface="Century Gothic"/>
                          <a:cs typeface="Century Gothic"/>
                          <a:sym typeface="Century Gothic"/>
                        </a:rPr>
                        <a:t>817	</a:t>
                      </a:r>
                      <a:r>
                        <a:rPr lang="en-US" sz="1400" u="none" strike="noStrike" cap="none" dirty="0">
                          <a:latin typeface="Century Gothic"/>
                          <a:ea typeface="Century Gothic"/>
                          <a:cs typeface="Century Gothic"/>
                          <a:sym typeface="Century Gothic"/>
                        </a:rPr>
                        <a:t> </a:t>
                      </a:r>
                      <a:r>
                        <a:rPr lang="en-US" sz="1400" b="1" u="none" strike="noStrike" cap="none" dirty="0">
                          <a:solidFill>
                            <a:srgbClr val="FF0000"/>
                          </a:solidFill>
                          <a:latin typeface="Century Gothic"/>
                          <a:ea typeface="Century Gothic"/>
                          <a:cs typeface="Century Gothic"/>
                          <a:sym typeface="Century Gothic"/>
                        </a:rPr>
                        <a:t>( 86% )</a:t>
                      </a:r>
                      <a:endParaRPr sz="1400" b="1" u="none" strike="noStrike" cap="none" dirty="0">
                        <a:solidFill>
                          <a:srgbClr val="FF0000"/>
                        </a:solidFill>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050"/>
                        <a:buFont typeface="Arial"/>
                        <a:buNone/>
                      </a:pPr>
                      <a:r>
                        <a:rPr lang="en-US" sz="1400" b="0" u="none" strike="noStrike" cap="none" dirty="0">
                          <a:solidFill>
                            <a:schemeClr val="tx1"/>
                          </a:solidFill>
                          <a:latin typeface="Century Gothic"/>
                          <a:ea typeface="Century Gothic"/>
                          <a:cs typeface="Century Gothic"/>
                          <a:sym typeface="Century Gothic"/>
                        </a:rPr>
                        <a:t>128           </a:t>
                      </a:r>
                      <a:r>
                        <a:rPr lang="en-US" sz="1400" u="none" strike="noStrike" cap="none" dirty="0">
                          <a:latin typeface="Century Gothic"/>
                          <a:ea typeface="Century Gothic"/>
                          <a:cs typeface="Century Gothic"/>
                          <a:sym typeface="Century Gothic"/>
                        </a:rPr>
                        <a:t>                   (14%)</a:t>
                      </a:r>
                      <a:endParaRPr sz="1400" u="none" strike="noStrike" cap="none" dirty="0">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6"/>
                  </a:ext>
                </a:extLst>
              </a:tr>
              <a:tr h="348775">
                <a:tc>
                  <a:txBody>
                    <a:bodyPr/>
                    <a:lstStyle/>
                    <a:p>
                      <a:pPr marL="0" marR="0" lvl="0" indent="0" algn="l" rtl="0">
                        <a:lnSpc>
                          <a:spcPct val="100000"/>
                        </a:lnSpc>
                        <a:spcBef>
                          <a:spcPts val="0"/>
                        </a:spcBef>
                        <a:spcAft>
                          <a:spcPts val="0"/>
                        </a:spcAft>
                        <a:buClr>
                          <a:srgbClr val="000000"/>
                        </a:buClr>
                        <a:buSzPts val="1000"/>
                        <a:buFont typeface="Century Gothic"/>
                        <a:buNone/>
                      </a:pPr>
                      <a:r>
                        <a:rPr lang="en-US" sz="1000" b="1" i="0" u="none" strike="noStrike" cap="none" dirty="0">
                          <a:solidFill>
                            <a:srgbClr val="000000"/>
                          </a:solidFill>
                          <a:latin typeface="Century Gothic"/>
                          <a:sym typeface="Century Gothic"/>
                        </a:rPr>
                        <a:t>Avg issued invoice amount (IDR,000000)</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400" b="1" u="none" strike="noStrike" cap="none" dirty="0">
                          <a:solidFill>
                            <a:srgbClr val="FF0000"/>
                          </a:solidFill>
                          <a:latin typeface="Century Gothic"/>
                          <a:ea typeface="Century Gothic"/>
                          <a:cs typeface="Century Gothic"/>
                          <a:sym typeface="Century Gothic"/>
                        </a:rPr>
                        <a:t>   1.15	</a:t>
                      </a:r>
                      <a:r>
                        <a:rPr lang="en-US" sz="1400" u="none" strike="noStrike" cap="none" dirty="0">
                          <a:latin typeface="Century Gothic"/>
                          <a:ea typeface="Century Gothic"/>
                          <a:cs typeface="Century Gothic"/>
                          <a:sym typeface="Century Gothic"/>
                        </a:rPr>
                        <a:t>     </a:t>
                      </a:r>
                      <a:r>
                        <a:rPr lang="en-US" sz="1400" b="1" u="none" strike="noStrike" cap="none" dirty="0">
                          <a:solidFill>
                            <a:srgbClr val="FF0000"/>
                          </a:solidFill>
                          <a:latin typeface="Century Gothic"/>
                          <a:ea typeface="Century Gothic"/>
                          <a:cs typeface="Century Gothic"/>
                          <a:sym typeface="Century Gothic"/>
                        </a:rPr>
                        <a:t>( 52% )</a:t>
                      </a:r>
                      <a:r>
                        <a:rPr lang="en-US" sz="1400" u="none" strike="noStrike" cap="none" dirty="0">
                          <a:latin typeface="Century Gothic"/>
                          <a:ea typeface="Century Gothic"/>
                          <a:cs typeface="Century Gothic"/>
                          <a:sym typeface="Century Gothic"/>
                        </a:rPr>
                        <a:t>	</a:t>
                      </a:r>
                      <a:endParaRPr sz="1400" u="none" strike="noStrike" cap="none" dirty="0">
                        <a:latin typeface="Century Gothic"/>
                        <a:ea typeface="Century Gothic"/>
                        <a:cs typeface="Century Gothic"/>
                        <a:sym typeface="Century Gothic"/>
                      </a:endParaRPr>
                    </a:p>
                  </a:txBody>
                  <a:tcPr marL="91425" marR="91425" marT="91425" marB="91425"/>
                </a:tc>
                <a:tc>
                  <a:txBody>
                    <a:bodyPr/>
                    <a:lstStyle/>
                    <a:p>
                      <a:pPr marL="0" marR="0" lvl="0" indent="0" algn="ctr" defTabSz="914400" rtl="0" eaLnBrk="1" fontAlgn="auto" latinLnBrk="0" hangingPunct="1">
                        <a:lnSpc>
                          <a:spcPct val="115000"/>
                        </a:lnSpc>
                        <a:spcBef>
                          <a:spcPts val="0"/>
                        </a:spcBef>
                        <a:spcAft>
                          <a:spcPts val="0"/>
                        </a:spcAft>
                        <a:buClr>
                          <a:srgbClr val="000000"/>
                        </a:buClr>
                        <a:buSzPts val="1050"/>
                        <a:buFont typeface="Arial"/>
                        <a:buNone/>
                        <a:tabLst/>
                        <a:defRPr/>
                      </a:pPr>
                      <a:r>
                        <a:rPr lang="en-US" sz="1400" b="0" u="none" strike="noStrike" cap="none" dirty="0">
                          <a:solidFill>
                            <a:schemeClr val="tx1"/>
                          </a:solidFill>
                          <a:latin typeface="Century Gothic"/>
                          <a:ea typeface="Century Gothic"/>
                          <a:cs typeface="Century Gothic"/>
                          <a:sym typeface="Century Gothic"/>
                        </a:rPr>
                        <a:t>1.03                          </a:t>
                      </a:r>
                      <a:r>
                        <a:rPr lang="en-US" sz="1400" u="none" strike="noStrike" cap="none" dirty="0">
                          <a:latin typeface="Century Gothic"/>
                          <a:ea typeface="Century Gothic"/>
                          <a:cs typeface="Century Gothic"/>
                          <a:sym typeface="Century Gothic"/>
                        </a:rPr>
                        <a:t>  (48%)</a:t>
                      </a:r>
                      <a:endParaRPr sz="1400" u="none" strike="noStrike" cap="none" dirty="0">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7"/>
                  </a:ext>
                </a:extLst>
              </a:tr>
              <a:tr h="348775">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Pct success transaction (%)</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400" b="1" u="none" strike="noStrike" cap="none" dirty="0">
                          <a:solidFill>
                            <a:srgbClr val="FF0000"/>
                          </a:solidFill>
                          <a:latin typeface="Century Gothic"/>
                          <a:ea typeface="Century Gothic"/>
                          <a:cs typeface="Century Gothic"/>
                          <a:sym typeface="Century Gothic"/>
                        </a:rPr>
                        <a:t>63%</a:t>
                      </a:r>
                      <a:endParaRPr sz="1400" u="none" strike="noStrike" cap="none" dirty="0">
                        <a:latin typeface="Century Gothic"/>
                        <a:ea typeface="Century Gothic"/>
                        <a:cs typeface="Century Gothic"/>
                        <a:sym typeface="Century Gothic"/>
                      </a:endParaRPr>
                    </a:p>
                  </a:txBody>
                  <a:tcPr marL="91425" marR="91425" marT="91425" marB="91425"/>
                </a:tc>
                <a:tc>
                  <a:txBody>
                    <a:bodyPr/>
                    <a:lstStyle/>
                    <a:p>
                      <a:pPr marL="0" marR="0" lvl="0" indent="0" algn="ctr" defTabSz="914400" rtl="0" eaLnBrk="1" fontAlgn="auto" latinLnBrk="0" hangingPunct="1">
                        <a:lnSpc>
                          <a:spcPct val="115000"/>
                        </a:lnSpc>
                        <a:spcBef>
                          <a:spcPts val="0"/>
                        </a:spcBef>
                        <a:spcAft>
                          <a:spcPts val="0"/>
                        </a:spcAft>
                        <a:buClr>
                          <a:srgbClr val="000000"/>
                        </a:buClr>
                        <a:buSzPts val="1050"/>
                        <a:buFont typeface="Arial"/>
                        <a:buNone/>
                        <a:tabLst/>
                        <a:defRPr/>
                      </a:pPr>
                      <a:r>
                        <a:rPr lang="en-US" sz="1400" u="none" strike="noStrike" cap="none" dirty="0">
                          <a:latin typeface="Century Gothic"/>
                          <a:ea typeface="Century Gothic"/>
                          <a:cs typeface="Century Gothic"/>
                          <a:sym typeface="Century Gothic"/>
                        </a:rPr>
                        <a:t>55% </a:t>
                      </a:r>
                    </a:p>
                  </a:txBody>
                  <a:tcPr marL="91425" marR="91425" marT="91425" marB="91425"/>
                </a:tc>
                <a:extLst>
                  <a:ext uri="{0D108BD9-81ED-4DB2-BD59-A6C34878D82A}">
                    <a16:rowId xmlns:a16="http://schemas.microsoft.com/office/drawing/2014/main" val="10008"/>
                  </a:ext>
                </a:extLst>
              </a:tr>
            </a:tbl>
          </a:graphicData>
        </a:graphic>
      </p:graphicFrame>
      <p:sp>
        <p:nvSpPr>
          <p:cNvPr id="250" name="Google Shape;250;p10"/>
          <p:cNvSpPr txBox="1"/>
          <p:nvPr/>
        </p:nvSpPr>
        <p:spPr>
          <a:xfrm>
            <a:off x="2810868" y="2157260"/>
            <a:ext cx="1299578" cy="255014"/>
          </a:xfrm>
          <a:prstGeom prst="rect">
            <a:avLst/>
          </a:prstGeom>
          <a:noFill/>
          <a:ln>
            <a:noFill/>
          </a:ln>
        </p:spPr>
        <p:txBody>
          <a:bodyPr spcFirstLastPara="1" wrap="square" lIns="0" tIns="0" rIns="0"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dirty="0">
                <a:solidFill>
                  <a:srgbClr val="000000"/>
                </a:solidFill>
                <a:latin typeface="Century Gothic"/>
                <a:ea typeface="Century Gothic"/>
                <a:cs typeface="Century Gothic"/>
                <a:sym typeface="Century Gothic"/>
              </a:rPr>
              <a:t>Total Subs : </a:t>
            </a:r>
            <a:r>
              <a:rPr lang="en-US" sz="1200" b="1" dirty="0">
                <a:latin typeface="Century Gothic"/>
                <a:ea typeface="Century Gothic"/>
                <a:cs typeface="Century Gothic"/>
                <a:sym typeface="Century Gothic"/>
              </a:rPr>
              <a:t>206</a:t>
            </a:r>
            <a:r>
              <a:rPr lang="en-US" sz="1200" b="1" i="0" u="none" strike="noStrike" cap="none" dirty="0">
                <a:solidFill>
                  <a:srgbClr val="000000"/>
                </a:solidFill>
                <a:latin typeface="Century Gothic"/>
                <a:ea typeface="Century Gothic"/>
                <a:cs typeface="Century Gothic"/>
                <a:sym typeface="Century Gothic"/>
              </a:rPr>
              <a:t> K</a:t>
            </a:r>
            <a:endParaRPr sz="1400" b="0" i="0" u="none" strike="noStrike" cap="none" dirty="0">
              <a:solidFill>
                <a:srgbClr val="000000"/>
              </a:solidFill>
              <a:latin typeface="Arial"/>
              <a:ea typeface="Arial"/>
              <a:cs typeface="Arial"/>
              <a:sym typeface="Arial"/>
            </a:endParaRPr>
          </a:p>
        </p:txBody>
      </p:sp>
      <p:sp>
        <p:nvSpPr>
          <p:cNvPr id="6" name="Google Shape;998;p15">
            <a:extLst>
              <a:ext uri="{FF2B5EF4-FFF2-40B4-BE49-F238E27FC236}">
                <a16:creationId xmlns:a16="http://schemas.microsoft.com/office/drawing/2014/main" id="{80A7C0BB-EB95-4301-81E6-34652236996C}"/>
              </a:ext>
            </a:extLst>
          </p:cNvPr>
          <p:cNvSpPr txBox="1"/>
          <p:nvPr/>
        </p:nvSpPr>
        <p:spPr>
          <a:xfrm>
            <a:off x="175325" y="233538"/>
            <a:ext cx="9710140" cy="307777"/>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Advanced Analysis and Feature Building – Summary Clustering – All Product</a:t>
            </a:r>
            <a:endParaRPr sz="2000" b="1" i="0" u="none" strike="noStrike" cap="none" dirty="0">
              <a:solidFill>
                <a:srgbClr val="FF0000"/>
              </a:solidFill>
              <a:latin typeface="Century Gothic"/>
              <a:ea typeface="Century Gothic"/>
              <a:cs typeface="Century Gothic"/>
              <a:sym typeface="Century Gothic"/>
            </a:endParaRPr>
          </a:p>
        </p:txBody>
      </p:sp>
      <p:sp>
        <p:nvSpPr>
          <p:cNvPr id="7" name="Google Shape;1016;p15">
            <a:extLst>
              <a:ext uri="{FF2B5EF4-FFF2-40B4-BE49-F238E27FC236}">
                <a16:creationId xmlns:a16="http://schemas.microsoft.com/office/drawing/2014/main" id="{DE02D7BC-3184-4514-9E75-E1EC626735C4}"/>
              </a:ext>
            </a:extLst>
          </p:cNvPr>
          <p:cNvSpPr txBox="1"/>
          <p:nvPr/>
        </p:nvSpPr>
        <p:spPr>
          <a:xfrm>
            <a:off x="6351456" y="2283450"/>
            <a:ext cx="1933543"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000"/>
              <a:buFont typeface="Century Gothic"/>
              <a:buNone/>
            </a:pPr>
            <a:r>
              <a:rPr lang="en-US" sz="1000" b="1" i="0" u="none" strike="noStrike" cap="none" dirty="0">
                <a:solidFill>
                  <a:schemeClr val="dk1"/>
                </a:solidFill>
                <a:latin typeface="Century Gothic"/>
                <a:ea typeface="Century Gothic"/>
                <a:cs typeface="Century Gothic"/>
                <a:sym typeface="Century Gothic"/>
              </a:rPr>
              <a:t>Most Churners Segment</a:t>
            </a:r>
            <a:endParaRPr dirty="0"/>
          </a:p>
        </p:txBody>
      </p:sp>
      <p:sp>
        <p:nvSpPr>
          <p:cNvPr id="8" name="Google Shape;1016;p15">
            <a:extLst>
              <a:ext uri="{FF2B5EF4-FFF2-40B4-BE49-F238E27FC236}">
                <a16:creationId xmlns:a16="http://schemas.microsoft.com/office/drawing/2014/main" id="{663BD36E-84E0-4734-9994-68D960B69447}"/>
              </a:ext>
            </a:extLst>
          </p:cNvPr>
          <p:cNvSpPr txBox="1"/>
          <p:nvPr/>
        </p:nvSpPr>
        <p:spPr>
          <a:xfrm>
            <a:off x="9129721" y="2283450"/>
            <a:ext cx="1933543"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000"/>
              <a:buFont typeface="Century Gothic"/>
              <a:buNone/>
            </a:pPr>
            <a:r>
              <a:rPr lang="en-US" sz="1000" b="1" i="0" u="none" strike="noStrike" cap="none" dirty="0">
                <a:solidFill>
                  <a:schemeClr val="dk1"/>
                </a:solidFill>
                <a:latin typeface="Century Gothic"/>
                <a:ea typeface="Century Gothic"/>
                <a:cs typeface="Century Gothic"/>
                <a:sym typeface="Century Gothic"/>
              </a:rPr>
              <a:t>Dominant non churner Segment</a:t>
            </a:r>
            <a:endParaRPr dirty="0"/>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graphicFrame>
        <p:nvGraphicFramePr>
          <p:cNvPr id="249" name="Google Shape;249;p10"/>
          <p:cNvGraphicFramePr/>
          <p:nvPr>
            <p:extLst>
              <p:ext uri="{D42A27DB-BD31-4B8C-83A1-F6EECF244321}">
                <p14:modId xmlns:p14="http://schemas.microsoft.com/office/powerpoint/2010/main" val="2814676884"/>
              </p:ext>
            </p:extLst>
          </p:nvPr>
        </p:nvGraphicFramePr>
        <p:xfrm>
          <a:off x="1332181" y="1145976"/>
          <a:ext cx="10038550" cy="4436296"/>
        </p:xfrm>
        <a:graphic>
          <a:graphicData uri="http://schemas.openxmlformats.org/drawingml/2006/table">
            <a:tbl>
              <a:tblPr firstRow="1" bandRow="1">
                <a:noFill/>
              </a:tblPr>
              <a:tblGrid>
                <a:gridCol w="4463800">
                  <a:extLst>
                    <a:ext uri="{9D8B030D-6E8A-4147-A177-3AD203B41FA5}">
                      <a16:colId xmlns:a16="http://schemas.microsoft.com/office/drawing/2014/main" val="20000"/>
                    </a:ext>
                  </a:extLst>
                </a:gridCol>
                <a:gridCol w="2699175">
                  <a:extLst>
                    <a:ext uri="{9D8B030D-6E8A-4147-A177-3AD203B41FA5}">
                      <a16:colId xmlns:a16="http://schemas.microsoft.com/office/drawing/2014/main" val="20001"/>
                    </a:ext>
                  </a:extLst>
                </a:gridCol>
                <a:gridCol w="2875575">
                  <a:extLst>
                    <a:ext uri="{9D8B030D-6E8A-4147-A177-3AD203B41FA5}">
                      <a16:colId xmlns:a16="http://schemas.microsoft.com/office/drawing/2014/main" val="20002"/>
                    </a:ext>
                  </a:extLst>
                </a:gridCol>
              </a:tblGrid>
              <a:tr h="558025">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lt1"/>
                        </a:solidFill>
                        <a:latin typeface="Century Gothic"/>
                        <a:ea typeface="Century Gothic"/>
                        <a:cs typeface="Century Gothic"/>
                        <a:sym typeface="Century Gothic"/>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lt1"/>
                        </a:buClr>
                        <a:buSzPts val="1200"/>
                        <a:buFont typeface="Century Gothic"/>
                        <a:buNone/>
                      </a:pPr>
                      <a:r>
                        <a:rPr lang="en-US" sz="1200" b="1" i="0" u="none" strike="noStrike" cap="none" dirty="0">
                          <a:solidFill>
                            <a:schemeClr val="lt1"/>
                          </a:solidFill>
                          <a:latin typeface="Century Gothic"/>
                          <a:ea typeface="Century Gothic"/>
                          <a:cs typeface="Century Gothic"/>
                          <a:sym typeface="Century Gothic"/>
                        </a:rPr>
                        <a:t>Segment A</a:t>
                      </a:r>
                      <a:endParaRPr sz="1200" u="none" strike="noStrike" cap="none" dirty="0">
                        <a:solidFill>
                          <a:schemeClr val="lt1"/>
                        </a:solidFill>
                        <a:latin typeface="Century Gothic"/>
                        <a:ea typeface="Century Gothic"/>
                        <a:cs typeface="Century Gothic"/>
                        <a:sym typeface="Century Gothic"/>
                      </a:endParaRPr>
                    </a:p>
                  </a:txBody>
                  <a:tcPr marL="91450" marR="91450" marT="45725" marB="45725" anchor="ctr">
                    <a:lnL w="9525" cap="flat" cmpd="sng">
                      <a:solidFill>
                        <a:srgbClr val="000000">
                          <a:alpha val="0"/>
                        </a:srgbClr>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0000"/>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solidFill>
                            <a:schemeClr val="lt1"/>
                          </a:solidFill>
                          <a:latin typeface="Century Gothic"/>
                          <a:ea typeface="Century Gothic"/>
                          <a:cs typeface="Century Gothic"/>
                          <a:sym typeface="Century Gothic"/>
                        </a:rPr>
                        <a:t>Segment B</a:t>
                      </a:r>
                      <a:endParaRPr sz="1400" b="1" u="none" strike="noStrike" cap="none" dirty="0"/>
                    </a:p>
                  </a:txBody>
                  <a:tcPr marL="91450" marR="91450" marT="45725" marB="45725" anchor="ct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0000"/>
                    </a:solidFill>
                  </a:tcPr>
                </a:tc>
                <a:extLst>
                  <a:ext uri="{0D108BD9-81ED-4DB2-BD59-A6C34878D82A}">
                    <a16:rowId xmlns:a16="http://schemas.microsoft.com/office/drawing/2014/main" val="10000"/>
                  </a:ext>
                </a:extLst>
              </a:tr>
              <a:tr h="1358900">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lt1"/>
                        </a:solidFill>
                        <a:latin typeface="Century Gothic"/>
                        <a:ea typeface="Century Gothic"/>
                        <a:cs typeface="Century Gothic"/>
                        <a:sym typeface="Century Gothic"/>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rgbClr val="F2F2F2"/>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F2F2F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dirty="0">
                        <a:solidFill>
                          <a:schemeClr val="lt1"/>
                        </a:solidFill>
                        <a:latin typeface="Century Gothic"/>
                        <a:ea typeface="Century Gothic"/>
                        <a:cs typeface="Century Gothic"/>
                        <a:sym typeface="Century Gothic"/>
                      </a:endParaRPr>
                    </a:p>
                  </a:txBody>
                  <a:tcPr marL="91450" marR="91450" marT="45725" marB="45725" anchor="ctr">
                    <a:lnL w="12700" cap="flat" cmpd="sng">
                      <a:solidFill>
                        <a:srgbClr val="F2F2F2"/>
                      </a:solidFill>
                      <a:prstDash val="solid"/>
                      <a:round/>
                      <a:headEnd type="none" w="sm" len="sm"/>
                      <a:tailEnd type="none" w="sm" len="sm"/>
                    </a:lnL>
                    <a:lnR w="9525" cap="flat" cmpd="sng">
                      <a:solidFill>
                        <a:srgbClr val="D8D8D8"/>
                      </a:solidFill>
                      <a:prstDash val="dash"/>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lt1"/>
                        </a:solidFill>
                        <a:latin typeface="Century Gothic"/>
                        <a:ea typeface="Century Gothic"/>
                        <a:cs typeface="Century Gothic"/>
                        <a:sym typeface="Century Gothic"/>
                      </a:endParaRPr>
                    </a:p>
                  </a:txBody>
                  <a:tcPr marL="91450" marR="91450" marT="45725" marB="45725" anchor="ctr">
                    <a:lnL w="9525" cap="flat" cmpd="sng">
                      <a:solidFill>
                        <a:srgbClr val="D8D8D8"/>
                      </a:solidFill>
                      <a:prstDash val="dash"/>
                      <a:round/>
                      <a:headEnd type="none" w="sm" len="sm"/>
                      <a:tailEnd type="none" w="sm" len="sm"/>
                    </a:lnL>
                    <a:lnR w="9525" cap="flat" cmpd="sng">
                      <a:solidFill>
                        <a:srgbClr val="D8D8D8"/>
                      </a:solidFill>
                      <a:prstDash val="dash"/>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extLst>
                  <a:ext uri="{0D108BD9-81ED-4DB2-BD59-A6C34878D82A}">
                    <a16:rowId xmlns:a16="http://schemas.microsoft.com/office/drawing/2014/main" val="10001"/>
                  </a:ext>
                </a:extLst>
              </a:tr>
              <a:tr h="383650">
                <a:tc>
                  <a:txBody>
                    <a:bodyPr/>
                    <a:lstStyle/>
                    <a:p>
                      <a:pPr marL="0" marR="0" lvl="0" indent="0" algn="l" rtl="0">
                        <a:lnSpc>
                          <a:spcPct val="100000"/>
                        </a:lnSpc>
                        <a:spcBef>
                          <a:spcPts val="0"/>
                        </a:spcBef>
                        <a:spcAft>
                          <a:spcPts val="0"/>
                        </a:spcAft>
                        <a:buClr>
                          <a:schemeClr val="dk1"/>
                        </a:buClr>
                        <a:buSzPts val="1050"/>
                        <a:buFont typeface="Noto Sans Symbols"/>
                        <a:buNone/>
                      </a:pPr>
                      <a:r>
                        <a:rPr lang="en-US" sz="1050" b="1" u="none" strike="noStrike" cap="none">
                          <a:latin typeface="Century Gothic"/>
                          <a:ea typeface="Century Gothic"/>
                          <a:cs typeface="Century Gothic"/>
                          <a:sym typeface="Century Gothic"/>
                        </a:rPr>
                        <a:t>Total Subs (K)</a:t>
                      </a:r>
                      <a:endParaRPr sz="1400" u="none" strike="noStrike" cap="none"/>
                    </a:p>
                  </a:txBody>
                  <a:tcPr marL="91450" marR="7625" marT="7625" marB="0" anchor="ctr">
                    <a:lnL w="9525" cap="flat" cmpd="sng">
                      <a:solidFill>
                        <a:srgbClr val="D8D8D8"/>
                      </a:solidFill>
                      <a:prstDash val="solid"/>
                      <a:round/>
                      <a:headEnd type="none" w="sm" len="sm"/>
                      <a:tailEnd type="none" w="sm" len="sm"/>
                    </a:lnL>
                    <a:lnR w="9525" cap="flat" cmpd="sng">
                      <a:solidFill>
                        <a:srgbClr val="D8D8D8"/>
                      </a:solidFill>
                      <a:prstDash val="dash"/>
                      <a:round/>
                      <a:headEnd type="none" w="sm" len="sm"/>
                      <a:tailEnd type="none" w="sm" len="sm"/>
                    </a:lnR>
                    <a:lnT w="12700" cap="flat" cmpd="sng">
                      <a:solidFill>
                        <a:srgbClr val="F2F2F2"/>
                      </a:solidFill>
                      <a:prstDash val="solid"/>
                      <a:round/>
                      <a:headEnd type="none" w="sm" len="sm"/>
                      <a:tailEnd type="none" w="sm" len="sm"/>
                    </a:lnT>
                    <a:lnB w="12700" cap="flat" cmpd="sng">
                      <a:solidFill>
                        <a:srgbClr val="F2F2F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050"/>
                        <a:buFont typeface="Noto Sans Symbols"/>
                        <a:buNone/>
                      </a:pPr>
                      <a:r>
                        <a:rPr lang="en-US" sz="1050" b="1" i="0" u="none" strike="noStrike" cap="none" dirty="0">
                          <a:latin typeface="Century Gothic"/>
                          <a:ea typeface="Century Gothic"/>
                          <a:cs typeface="Century Gothic"/>
                          <a:sym typeface="Century Gothic"/>
                        </a:rPr>
                        <a:t>67.8</a:t>
                      </a:r>
                      <a:r>
                        <a:rPr lang="en-US" sz="1050" i="0" u="none" strike="noStrike" cap="none" dirty="0">
                          <a:latin typeface="Century Gothic"/>
                          <a:ea typeface="Century Gothic"/>
                          <a:cs typeface="Century Gothic"/>
                          <a:sym typeface="Century Gothic"/>
                        </a:rPr>
                        <a:t>     </a:t>
                      </a:r>
                      <a:r>
                        <a:rPr lang="en-US" sz="1050" u="none" strike="noStrike" cap="none" dirty="0">
                          <a:latin typeface="Century Gothic"/>
                          <a:ea typeface="Century Gothic"/>
                          <a:cs typeface="Century Gothic"/>
                          <a:sym typeface="Century Gothic"/>
                        </a:rPr>
                        <a:t>( 65 % )</a:t>
                      </a:r>
                      <a:endParaRPr sz="1050" u="none" strike="noStrike" cap="none" dirty="0">
                        <a:latin typeface="Century Gothic"/>
                        <a:ea typeface="Century Gothic"/>
                        <a:cs typeface="Century Gothic"/>
                        <a:sym typeface="Century Gothic"/>
                      </a:endParaRPr>
                    </a:p>
                  </a:txBody>
                  <a:tcPr marL="91450" marR="91450" marT="45725" marB="45725" anchor="ctr">
                    <a:lnL w="9525" cap="flat" cmpd="sng">
                      <a:solidFill>
                        <a:srgbClr val="D8D8D8"/>
                      </a:solidFill>
                      <a:prstDash val="dash"/>
                      <a:round/>
                      <a:headEnd type="none" w="sm" len="sm"/>
                      <a:tailEnd type="none" w="sm" len="sm"/>
                    </a:lnL>
                    <a:lnR w="9525" cap="flat" cmpd="sng">
                      <a:solidFill>
                        <a:srgbClr val="D8D8D8"/>
                      </a:solidFill>
                      <a:prstDash val="dash"/>
                      <a:round/>
                      <a:headEnd type="none" w="sm" len="sm"/>
                      <a:tailEnd type="none" w="sm" len="sm"/>
                    </a:lnR>
                    <a:lnT w="9525" cap="flat" cmpd="sng">
                      <a:solidFill>
                        <a:srgbClr val="D8D8D8"/>
                      </a:solidFill>
                      <a:prstDash val="solid"/>
                      <a:round/>
                      <a:headEnd type="none" w="sm" len="sm"/>
                      <a:tailEnd type="none" w="sm" len="sm"/>
                    </a:lnT>
                    <a:solidFill>
                      <a:schemeClr val="lt1"/>
                    </a:solidFill>
                  </a:tcPr>
                </a:tc>
                <a:tc>
                  <a:txBody>
                    <a:bodyPr/>
                    <a:lstStyle/>
                    <a:p>
                      <a:pPr marL="0" marR="0" lvl="0" indent="0" algn="ctr" rtl="0">
                        <a:lnSpc>
                          <a:spcPct val="100000"/>
                        </a:lnSpc>
                        <a:spcBef>
                          <a:spcPts val="0"/>
                        </a:spcBef>
                        <a:spcAft>
                          <a:spcPts val="0"/>
                        </a:spcAft>
                        <a:buClr>
                          <a:schemeClr val="dk1"/>
                        </a:buClr>
                        <a:buSzPts val="1050"/>
                        <a:buFont typeface="Noto Sans Symbols"/>
                        <a:buNone/>
                      </a:pPr>
                      <a:r>
                        <a:rPr lang="en-US" sz="1050" i="0" u="none" strike="noStrike" cap="none" dirty="0">
                          <a:latin typeface="Century Gothic"/>
                          <a:ea typeface="Century Gothic"/>
                          <a:cs typeface="Century Gothic"/>
                          <a:sym typeface="Century Gothic"/>
                        </a:rPr>
                        <a:t>35.7      </a:t>
                      </a:r>
                      <a:r>
                        <a:rPr lang="en-US" sz="1050" u="none" strike="noStrike" cap="none" dirty="0">
                          <a:latin typeface="Century Gothic"/>
                          <a:ea typeface="Century Gothic"/>
                          <a:cs typeface="Century Gothic"/>
                          <a:sym typeface="Century Gothic"/>
                        </a:rPr>
                        <a:t>(35 %)</a:t>
                      </a:r>
                      <a:endParaRPr sz="1050" u="none" strike="noStrike" cap="none" dirty="0">
                        <a:latin typeface="Century Gothic"/>
                        <a:ea typeface="Century Gothic"/>
                        <a:cs typeface="Century Gothic"/>
                        <a:sym typeface="Century Gothic"/>
                      </a:endParaRPr>
                    </a:p>
                  </a:txBody>
                  <a:tcPr marL="91450" marR="91450" marT="45725" marB="45725" anchor="ctr">
                    <a:lnL w="9525" cap="flat" cmpd="sng">
                      <a:solidFill>
                        <a:srgbClr val="D8D8D8"/>
                      </a:solidFill>
                      <a:prstDash val="dash"/>
                      <a:round/>
                      <a:headEnd type="none" w="sm" len="sm"/>
                      <a:tailEnd type="none" w="sm" len="sm"/>
                    </a:lnL>
                    <a:lnR w="9525" cap="flat" cmpd="sng">
                      <a:solidFill>
                        <a:srgbClr val="D8D8D8"/>
                      </a:solidFill>
                      <a:prstDash val="dash"/>
                      <a:round/>
                      <a:headEnd type="none" w="sm" len="sm"/>
                      <a:tailEnd type="none" w="sm" len="sm"/>
                    </a:lnR>
                    <a:lnT w="9525" cap="flat" cmpd="sng">
                      <a:solidFill>
                        <a:srgbClr val="D8D8D8"/>
                      </a:solidFill>
                      <a:prstDash val="solid"/>
                      <a:round/>
                      <a:headEnd type="none" w="sm" len="sm"/>
                      <a:tailEnd type="none" w="sm" len="sm"/>
                    </a:lnT>
                    <a:solidFill>
                      <a:schemeClr val="lt1"/>
                    </a:solidFill>
                  </a:tcPr>
                </a:tc>
                <a:extLst>
                  <a:ext uri="{0D108BD9-81ED-4DB2-BD59-A6C34878D82A}">
                    <a16:rowId xmlns:a16="http://schemas.microsoft.com/office/drawing/2014/main" val="10002"/>
                  </a:ext>
                </a:extLst>
              </a:tr>
              <a:tr h="348775">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Tenure (Hours,000)</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12700" cap="flat" cmpd="sng">
                      <a:solidFill>
                        <a:srgbClr val="F2F2F2"/>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u="none" strike="noStrike" cap="none" dirty="0">
                          <a:latin typeface="Century Gothic"/>
                          <a:ea typeface="Century Gothic"/>
                          <a:cs typeface="Century Gothic"/>
                          <a:sym typeface="Century Gothic"/>
                        </a:rPr>
                        <a:t>2.5	( 11% )</a:t>
                      </a:r>
                      <a:endParaRPr sz="1050" u="none" strike="noStrike" cap="none" dirty="0">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1" u="none" strike="noStrike" cap="none" dirty="0">
                          <a:solidFill>
                            <a:srgbClr val="FF0000"/>
                          </a:solidFill>
                          <a:latin typeface="Century Gothic"/>
                          <a:ea typeface="Century Gothic"/>
                          <a:cs typeface="Century Gothic"/>
                          <a:sym typeface="Century Gothic"/>
                        </a:rPr>
                        <a:t>20.4                       (89%)</a:t>
                      </a:r>
                      <a:endParaRPr sz="1050" b="1" u="none" strike="noStrike" cap="none" dirty="0">
                        <a:solidFill>
                          <a:srgbClr val="FF0000"/>
                        </a:solidFill>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3"/>
                  </a:ext>
                </a:extLst>
              </a:tr>
              <a:tr h="383650">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Diff last first issued time (days)</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u="none" strike="noStrike" cap="none" dirty="0">
                          <a:latin typeface="Century Gothic"/>
                          <a:ea typeface="Century Gothic"/>
                          <a:cs typeface="Century Gothic"/>
                          <a:sym typeface="Century Gothic"/>
                        </a:rPr>
                        <a:t>74    	( 8% )</a:t>
                      </a:r>
                      <a:endParaRPr sz="1050" u="none" strike="noStrike" cap="none" dirty="0">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1" u="none" strike="noStrike" cap="none" dirty="0">
                          <a:solidFill>
                            <a:srgbClr val="FF0000"/>
                          </a:solidFill>
                          <a:latin typeface="Century Gothic"/>
                          <a:ea typeface="Century Gothic"/>
                          <a:cs typeface="Century Gothic"/>
                          <a:sym typeface="Century Gothic"/>
                        </a:rPr>
                        <a:t>774                            (92%)</a:t>
                      </a:r>
                      <a:endParaRPr sz="1050" b="1" u="none" strike="noStrike" cap="none" dirty="0">
                        <a:solidFill>
                          <a:srgbClr val="FF0000"/>
                        </a:solidFill>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4"/>
                  </a:ext>
                </a:extLst>
              </a:tr>
              <a:tr h="348775">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Count issued (Transactions)</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0" u="none" strike="noStrike" cap="none" dirty="0">
                          <a:solidFill>
                            <a:schemeClr val="tx1"/>
                          </a:solidFill>
                          <a:latin typeface="Century Gothic"/>
                          <a:ea typeface="Century Gothic"/>
                          <a:cs typeface="Century Gothic"/>
                          <a:sym typeface="Century Gothic"/>
                        </a:rPr>
                        <a:t>2</a:t>
                      </a:r>
                      <a:r>
                        <a:rPr lang="en-US" sz="1050" b="1" u="none" strike="noStrike" cap="none" dirty="0">
                          <a:solidFill>
                            <a:srgbClr val="FF0000"/>
                          </a:solidFill>
                          <a:latin typeface="Century Gothic"/>
                          <a:ea typeface="Century Gothic"/>
                          <a:cs typeface="Century Gothic"/>
                          <a:sym typeface="Century Gothic"/>
                        </a:rPr>
                        <a:t>     	</a:t>
                      </a:r>
                      <a:r>
                        <a:rPr lang="en-US" sz="1050" u="none" strike="noStrike" cap="none" dirty="0">
                          <a:latin typeface="Century Gothic"/>
                          <a:ea typeface="Century Gothic"/>
                          <a:cs typeface="Century Gothic"/>
                          <a:sym typeface="Century Gothic"/>
                        </a:rPr>
                        <a:t>(9%)</a:t>
                      </a:r>
                      <a:endParaRPr sz="1050" b="1" u="none" strike="noStrike" cap="none" dirty="0">
                        <a:solidFill>
                          <a:srgbClr val="FF0000"/>
                        </a:solidFill>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1" u="none" strike="noStrike" cap="none" dirty="0">
                          <a:solidFill>
                            <a:srgbClr val="FF0000"/>
                          </a:solidFill>
                          <a:latin typeface="Century Gothic"/>
                          <a:ea typeface="Century Gothic"/>
                          <a:cs typeface="Century Gothic"/>
                          <a:sym typeface="Century Gothic"/>
                        </a:rPr>
                        <a:t>   21        </a:t>
                      </a:r>
                      <a:r>
                        <a:rPr lang="en-US" sz="1050" u="none" strike="noStrike" cap="none" dirty="0">
                          <a:latin typeface="Century Gothic"/>
                          <a:ea typeface="Century Gothic"/>
                          <a:cs typeface="Century Gothic"/>
                          <a:sym typeface="Century Gothic"/>
                        </a:rPr>
                        <a:t>                      </a:t>
                      </a:r>
                      <a:r>
                        <a:rPr lang="en-US" sz="1050" b="1" u="none" strike="noStrike" cap="none" dirty="0">
                          <a:solidFill>
                            <a:srgbClr val="FF0000"/>
                          </a:solidFill>
                          <a:latin typeface="Century Gothic"/>
                          <a:ea typeface="Century Gothic"/>
                          <a:cs typeface="Century Gothic"/>
                          <a:sym typeface="Century Gothic"/>
                        </a:rPr>
                        <a:t>( 91% )</a:t>
                      </a:r>
                      <a:endParaRPr sz="1050" u="none" strike="noStrike" cap="none" dirty="0">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5"/>
                  </a:ext>
                </a:extLst>
              </a:tr>
              <a:tr h="348775">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Invoice per count issued (IDR,000000)</a:t>
                      </a:r>
                      <a:endParaRPr sz="1000" b="1" i="0" u="none" strike="noStrike" cap="none" dirty="0">
                        <a:solidFill>
                          <a:srgbClr val="000000"/>
                        </a:solidFill>
                        <a:latin typeface="Century Gothic"/>
                        <a:ea typeface="Century Gothic"/>
                        <a:cs typeface="Century Gothic"/>
                        <a:sym typeface="Century Gothic"/>
                      </a:endParaRPr>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1" u="none" strike="noStrike" cap="none" dirty="0">
                          <a:solidFill>
                            <a:srgbClr val="FF0000"/>
                          </a:solidFill>
                          <a:latin typeface="Century Gothic"/>
                          <a:ea typeface="Century Gothic"/>
                          <a:cs typeface="Century Gothic"/>
                          <a:sym typeface="Century Gothic"/>
                        </a:rPr>
                        <a:t>1.05	</a:t>
                      </a:r>
                      <a:r>
                        <a:rPr lang="en-US" sz="1050" u="none" strike="noStrike" cap="none" dirty="0">
                          <a:latin typeface="Century Gothic"/>
                          <a:ea typeface="Century Gothic"/>
                          <a:cs typeface="Century Gothic"/>
                          <a:sym typeface="Century Gothic"/>
                        </a:rPr>
                        <a:t> </a:t>
                      </a:r>
                      <a:r>
                        <a:rPr lang="en-US" sz="1050" b="1" u="none" strike="noStrike" cap="none" dirty="0">
                          <a:solidFill>
                            <a:srgbClr val="FF0000"/>
                          </a:solidFill>
                          <a:latin typeface="Century Gothic"/>
                          <a:ea typeface="Century Gothic"/>
                          <a:cs typeface="Century Gothic"/>
                          <a:sym typeface="Century Gothic"/>
                        </a:rPr>
                        <a:t>( 87% )</a:t>
                      </a:r>
                      <a:endParaRPr sz="1050" b="1" u="none" strike="noStrike" cap="none" dirty="0">
                        <a:solidFill>
                          <a:srgbClr val="FF0000"/>
                        </a:solidFill>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0" u="none" strike="noStrike" cap="none" dirty="0">
                          <a:solidFill>
                            <a:schemeClr val="tx1"/>
                          </a:solidFill>
                          <a:latin typeface="Century Gothic"/>
                          <a:ea typeface="Century Gothic"/>
                          <a:cs typeface="Century Gothic"/>
                          <a:sym typeface="Century Gothic"/>
                        </a:rPr>
                        <a:t>0.15           </a:t>
                      </a:r>
                      <a:r>
                        <a:rPr lang="en-US" sz="1050" u="none" strike="noStrike" cap="none" dirty="0">
                          <a:latin typeface="Century Gothic"/>
                          <a:ea typeface="Century Gothic"/>
                          <a:cs typeface="Century Gothic"/>
                          <a:sym typeface="Century Gothic"/>
                        </a:rPr>
                        <a:t>                   (13%)</a:t>
                      </a:r>
                      <a:endParaRPr sz="1050" u="none" strike="noStrike" cap="none" dirty="0">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6"/>
                  </a:ext>
                </a:extLst>
              </a:tr>
              <a:tr h="348775">
                <a:tc>
                  <a:txBody>
                    <a:bodyPr/>
                    <a:lstStyle/>
                    <a:p>
                      <a:pPr marL="0" marR="0" lvl="0" indent="0" algn="l" rtl="0">
                        <a:lnSpc>
                          <a:spcPct val="100000"/>
                        </a:lnSpc>
                        <a:spcBef>
                          <a:spcPts val="0"/>
                        </a:spcBef>
                        <a:spcAft>
                          <a:spcPts val="0"/>
                        </a:spcAft>
                        <a:buClr>
                          <a:srgbClr val="000000"/>
                        </a:buClr>
                        <a:buSzPts val="1000"/>
                        <a:buFont typeface="Century Gothic"/>
                        <a:buNone/>
                      </a:pPr>
                      <a:r>
                        <a:rPr lang="en-US" sz="1000" b="1" i="0" u="none" strike="noStrike" cap="none" dirty="0">
                          <a:solidFill>
                            <a:srgbClr val="000000"/>
                          </a:solidFill>
                          <a:latin typeface="Century Gothic"/>
                          <a:sym typeface="Century Gothic"/>
                        </a:rPr>
                        <a:t>Avg issued invoice amount (IDR,000000)</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1" u="none" strike="noStrike" cap="none" dirty="0">
                          <a:solidFill>
                            <a:srgbClr val="FF0000"/>
                          </a:solidFill>
                          <a:latin typeface="Century Gothic"/>
                          <a:ea typeface="Century Gothic"/>
                          <a:cs typeface="Century Gothic"/>
                          <a:sym typeface="Century Gothic"/>
                        </a:rPr>
                        <a:t>   1.54	</a:t>
                      </a:r>
                      <a:r>
                        <a:rPr lang="en-US" sz="1050" u="none" strike="noStrike" cap="none" dirty="0">
                          <a:latin typeface="Century Gothic"/>
                          <a:ea typeface="Century Gothic"/>
                          <a:cs typeface="Century Gothic"/>
                          <a:sym typeface="Century Gothic"/>
                        </a:rPr>
                        <a:t>     </a:t>
                      </a:r>
                      <a:r>
                        <a:rPr lang="en-US" sz="1050" b="1" u="none" strike="noStrike" cap="none" dirty="0">
                          <a:solidFill>
                            <a:srgbClr val="FF0000"/>
                          </a:solidFill>
                          <a:latin typeface="Century Gothic"/>
                          <a:ea typeface="Century Gothic"/>
                          <a:cs typeface="Century Gothic"/>
                          <a:sym typeface="Century Gothic"/>
                        </a:rPr>
                        <a:t>( 54% )</a:t>
                      </a:r>
                      <a:r>
                        <a:rPr lang="en-US" sz="1050" u="none" strike="noStrike" cap="none" dirty="0">
                          <a:latin typeface="Century Gothic"/>
                          <a:ea typeface="Century Gothic"/>
                          <a:cs typeface="Century Gothic"/>
                          <a:sym typeface="Century Gothic"/>
                        </a:rPr>
                        <a:t>	</a:t>
                      </a:r>
                      <a:endParaRPr sz="1050" u="none" strike="noStrike" cap="none" dirty="0">
                        <a:latin typeface="Century Gothic"/>
                        <a:ea typeface="Century Gothic"/>
                        <a:cs typeface="Century Gothic"/>
                        <a:sym typeface="Century Gothic"/>
                      </a:endParaRPr>
                    </a:p>
                  </a:txBody>
                  <a:tcPr marL="91425" marR="91425" marT="91425" marB="91425"/>
                </a:tc>
                <a:tc>
                  <a:txBody>
                    <a:bodyPr/>
                    <a:lstStyle/>
                    <a:p>
                      <a:pPr marL="0" marR="0" lvl="0" indent="0" algn="ctr" defTabSz="914400" rtl="0" eaLnBrk="1" fontAlgn="auto" latinLnBrk="0" hangingPunct="1">
                        <a:lnSpc>
                          <a:spcPct val="115000"/>
                        </a:lnSpc>
                        <a:spcBef>
                          <a:spcPts val="0"/>
                        </a:spcBef>
                        <a:spcAft>
                          <a:spcPts val="0"/>
                        </a:spcAft>
                        <a:buClr>
                          <a:srgbClr val="000000"/>
                        </a:buClr>
                        <a:buSzPts val="1050"/>
                        <a:buFont typeface="Arial"/>
                        <a:buNone/>
                        <a:tabLst/>
                        <a:defRPr/>
                      </a:pPr>
                      <a:r>
                        <a:rPr lang="en-US" sz="1050" b="0" u="none" strike="noStrike" cap="none" dirty="0">
                          <a:solidFill>
                            <a:schemeClr val="tx1"/>
                          </a:solidFill>
                          <a:latin typeface="Century Gothic"/>
                          <a:ea typeface="Century Gothic"/>
                          <a:cs typeface="Century Gothic"/>
                          <a:sym typeface="Century Gothic"/>
                        </a:rPr>
                        <a:t>1.32                          </a:t>
                      </a:r>
                      <a:r>
                        <a:rPr lang="en-US" sz="1050" u="none" strike="noStrike" cap="none" dirty="0">
                          <a:latin typeface="Century Gothic"/>
                          <a:ea typeface="Century Gothic"/>
                          <a:cs typeface="Century Gothic"/>
                          <a:sym typeface="Century Gothic"/>
                        </a:rPr>
                        <a:t>  (46%)</a:t>
                      </a:r>
                      <a:endParaRPr sz="1050" u="none" strike="noStrike" cap="none" dirty="0">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7"/>
                  </a:ext>
                </a:extLst>
              </a:tr>
              <a:tr h="348775">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Pct success transaction (%)</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1" u="none" strike="noStrike" cap="none" dirty="0">
                          <a:solidFill>
                            <a:srgbClr val="FF0000"/>
                          </a:solidFill>
                          <a:latin typeface="Century Gothic"/>
                          <a:ea typeface="Century Gothic"/>
                          <a:cs typeface="Century Gothic"/>
                          <a:sym typeface="Century Gothic"/>
                        </a:rPr>
                        <a:t>68%</a:t>
                      </a:r>
                      <a:endParaRPr sz="1050" u="none" strike="noStrike" cap="none" dirty="0">
                        <a:latin typeface="Century Gothic"/>
                        <a:ea typeface="Century Gothic"/>
                        <a:cs typeface="Century Gothic"/>
                        <a:sym typeface="Century Gothic"/>
                      </a:endParaRPr>
                    </a:p>
                  </a:txBody>
                  <a:tcPr marL="91425" marR="91425" marT="91425" marB="91425"/>
                </a:tc>
                <a:tc>
                  <a:txBody>
                    <a:bodyPr/>
                    <a:lstStyle/>
                    <a:p>
                      <a:pPr marL="0" marR="0" lvl="0" indent="0" algn="ctr" defTabSz="914400" rtl="0" eaLnBrk="1" fontAlgn="auto" latinLnBrk="0" hangingPunct="1">
                        <a:lnSpc>
                          <a:spcPct val="115000"/>
                        </a:lnSpc>
                        <a:spcBef>
                          <a:spcPts val="0"/>
                        </a:spcBef>
                        <a:spcAft>
                          <a:spcPts val="0"/>
                        </a:spcAft>
                        <a:buClr>
                          <a:srgbClr val="000000"/>
                        </a:buClr>
                        <a:buSzPts val="1050"/>
                        <a:buFont typeface="Arial"/>
                        <a:buNone/>
                        <a:tabLst/>
                        <a:defRPr/>
                      </a:pPr>
                      <a:r>
                        <a:rPr lang="en-US" sz="1050" u="none" strike="noStrike" cap="none" dirty="0">
                          <a:latin typeface="Century Gothic"/>
                          <a:ea typeface="Century Gothic"/>
                          <a:cs typeface="Century Gothic"/>
                          <a:sym typeface="Century Gothic"/>
                        </a:rPr>
                        <a:t>60% </a:t>
                      </a:r>
                    </a:p>
                  </a:txBody>
                  <a:tcPr marL="91425" marR="91425" marT="91425" marB="91425"/>
                </a:tc>
                <a:extLst>
                  <a:ext uri="{0D108BD9-81ED-4DB2-BD59-A6C34878D82A}">
                    <a16:rowId xmlns:a16="http://schemas.microsoft.com/office/drawing/2014/main" val="10008"/>
                  </a:ext>
                </a:extLst>
              </a:tr>
            </a:tbl>
          </a:graphicData>
        </a:graphic>
      </p:graphicFrame>
      <p:sp>
        <p:nvSpPr>
          <p:cNvPr id="250" name="Google Shape;250;p10"/>
          <p:cNvSpPr txBox="1"/>
          <p:nvPr/>
        </p:nvSpPr>
        <p:spPr>
          <a:xfrm>
            <a:off x="2810868" y="2157260"/>
            <a:ext cx="1299578" cy="255014"/>
          </a:xfrm>
          <a:prstGeom prst="rect">
            <a:avLst/>
          </a:prstGeom>
          <a:noFill/>
          <a:ln>
            <a:noFill/>
          </a:ln>
        </p:spPr>
        <p:txBody>
          <a:bodyPr spcFirstLastPara="1" wrap="square" lIns="0" tIns="0" rIns="0"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dirty="0">
                <a:solidFill>
                  <a:srgbClr val="000000"/>
                </a:solidFill>
                <a:latin typeface="Century Gothic"/>
                <a:ea typeface="Century Gothic"/>
                <a:cs typeface="Century Gothic"/>
                <a:sym typeface="Century Gothic"/>
              </a:rPr>
              <a:t>Total Subs : 1</a:t>
            </a:r>
            <a:r>
              <a:rPr lang="en-US" sz="1200" b="1" dirty="0">
                <a:latin typeface="Century Gothic"/>
                <a:ea typeface="Century Gothic"/>
                <a:cs typeface="Century Gothic"/>
                <a:sym typeface="Century Gothic"/>
              </a:rPr>
              <a:t>03</a:t>
            </a:r>
            <a:r>
              <a:rPr lang="en-US" sz="1200" b="1" i="0" u="none" strike="noStrike" cap="none" dirty="0">
                <a:solidFill>
                  <a:srgbClr val="000000"/>
                </a:solidFill>
                <a:latin typeface="Century Gothic"/>
                <a:ea typeface="Century Gothic"/>
                <a:cs typeface="Century Gothic"/>
                <a:sym typeface="Century Gothic"/>
              </a:rPr>
              <a:t> K</a:t>
            </a:r>
            <a:endParaRPr sz="1400" b="0" i="0" u="none" strike="noStrike" cap="none" dirty="0">
              <a:solidFill>
                <a:srgbClr val="000000"/>
              </a:solidFill>
              <a:latin typeface="Arial"/>
              <a:ea typeface="Arial"/>
              <a:cs typeface="Arial"/>
              <a:sym typeface="Arial"/>
            </a:endParaRPr>
          </a:p>
        </p:txBody>
      </p:sp>
      <p:sp>
        <p:nvSpPr>
          <p:cNvPr id="6" name="Google Shape;998;p15">
            <a:extLst>
              <a:ext uri="{FF2B5EF4-FFF2-40B4-BE49-F238E27FC236}">
                <a16:creationId xmlns:a16="http://schemas.microsoft.com/office/drawing/2014/main" id="{80A7C0BB-EB95-4301-81E6-34652236996C}"/>
              </a:ext>
            </a:extLst>
          </p:cNvPr>
          <p:cNvSpPr txBox="1"/>
          <p:nvPr/>
        </p:nvSpPr>
        <p:spPr>
          <a:xfrm>
            <a:off x="175325" y="233538"/>
            <a:ext cx="9710140" cy="307777"/>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Advanced Analysis and Feature Building – Summary Clustering – Flight</a:t>
            </a:r>
            <a:endParaRPr sz="2000" b="1" i="0" u="none" strike="noStrike" cap="none" dirty="0">
              <a:solidFill>
                <a:srgbClr val="FF0000"/>
              </a:solidFill>
              <a:latin typeface="Century Gothic"/>
              <a:ea typeface="Century Gothic"/>
              <a:cs typeface="Century Gothic"/>
              <a:sym typeface="Century Gothic"/>
            </a:endParaRPr>
          </a:p>
        </p:txBody>
      </p:sp>
      <p:sp>
        <p:nvSpPr>
          <p:cNvPr id="7" name="Google Shape;1016;p15">
            <a:extLst>
              <a:ext uri="{FF2B5EF4-FFF2-40B4-BE49-F238E27FC236}">
                <a16:creationId xmlns:a16="http://schemas.microsoft.com/office/drawing/2014/main" id="{DE02D7BC-3184-4514-9E75-E1EC626735C4}"/>
              </a:ext>
            </a:extLst>
          </p:cNvPr>
          <p:cNvSpPr txBox="1"/>
          <p:nvPr/>
        </p:nvSpPr>
        <p:spPr>
          <a:xfrm>
            <a:off x="6351456" y="2283450"/>
            <a:ext cx="1933543"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000"/>
              <a:buFont typeface="Century Gothic"/>
              <a:buNone/>
            </a:pPr>
            <a:r>
              <a:rPr lang="en-US" sz="1000" b="1" i="0" u="none" strike="noStrike" cap="none" dirty="0">
                <a:solidFill>
                  <a:schemeClr val="dk1"/>
                </a:solidFill>
                <a:latin typeface="Century Gothic"/>
                <a:ea typeface="Century Gothic"/>
                <a:cs typeface="Century Gothic"/>
                <a:sym typeface="Century Gothic"/>
              </a:rPr>
              <a:t>Most Churners Segment</a:t>
            </a:r>
            <a:endParaRPr dirty="0"/>
          </a:p>
        </p:txBody>
      </p:sp>
      <p:sp>
        <p:nvSpPr>
          <p:cNvPr id="8" name="Google Shape;1016;p15">
            <a:extLst>
              <a:ext uri="{FF2B5EF4-FFF2-40B4-BE49-F238E27FC236}">
                <a16:creationId xmlns:a16="http://schemas.microsoft.com/office/drawing/2014/main" id="{663BD36E-84E0-4734-9994-68D960B69447}"/>
              </a:ext>
            </a:extLst>
          </p:cNvPr>
          <p:cNvSpPr txBox="1"/>
          <p:nvPr/>
        </p:nvSpPr>
        <p:spPr>
          <a:xfrm>
            <a:off x="9129721" y="2283450"/>
            <a:ext cx="1933543"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000"/>
              <a:buFont typeface="Century Gothic"/>
              <a:buNone/>
            </a:pPr>
            <a:r>
              <a:rPr lang="en-US" sz="1000" b="1" i="0" u="none" strike="noStrike" cap="none" dirty="0">
                <a:solidFill>
                  <a:schemeClr val="dk1"/>
                </a:solidFill>
                <a:latin typeface="Century Gothic"/>
                <a:ea typeface="Century Gothic"/>
                <a:cs typeface="Century Gothic"/>
                <a:sym typeface="Century Gothic"/>
              </a:rPr>
              <a:t>Dominant non churner Segment</a:t>
            </a:r>
            <a:endParaRPr dirty="0"/>
          </a:p>
        </p:txBody>
      </p:sp>
    </p:spTree>
    <p:extLst>
      <p:ext uri="{BB962C8B-B14F-4D97-AF65-F5344CB8AC3E}">
        <p14:creationId xmlns:p14="http://schemas.microsoft.com/office/powerpoint/2010/main" val="2633196662"/>
      </p:ext>
    </p:extLst>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graphicFrame>
        <p:nvGraphicFramePr>
          <p:cNvPr id="249" name="Google Shape;249;p10"/>
          <p:cNvGraphicFramePr/>
          <p:nvPr>
            <p:extLst>
              <p:ext uri="{D42A27DB-BD31-4B8C-83A1-F6EECF244321}">
                <p14:modId xmlns:p14="http://schemas.microsoft.com/office/powerpoint/2010/main" val="3727455825"/>
              </p:ext>
            </p:extLst>
          </p:nvPr>
        </p:nvGraphicFramePr>
        <p:xfrm>
          <a:off x="1332181" y="1145976"/>
          <a:ext cx="10038550" cy="4436296"/>
        </p:xfrm>
        <a:graphic>
          <a:graphicData uri="http://schemas.openxmlformats.org/drawingml/2006/table">
            <a:tbl>
              <a:tblPr firstRow="1" bandRow="1">
                <a:noFill/>
              </a:tblPr>
              <a:tblGrid>
                <a:gridCol w="4463800">
                  <a:extLst>
                    <a:ext uri="{9D8B030D-6E8A-4147-A177-3AD203B41FA5}">
                      <a16:colId xmlns:a16="http://schemas.microsoft.com/office/drawing/2014/main" val="20000"/>
                    </a:ext>
                  </a:extLst>
                </a:gridCol>
                <a:gridCol w="2699175">
                  <a:extLst>
                    <a:ext uri="{9D8B030D-6E8A-4147-A177-3AD203B41FA5}">
                      <a16:colId xmlns:a16="http://schemas.microsoft.com/office/drawing/2014/main" val="20001"/>
                    </a:ext>
                  </a:extLst>
                </a:gridCol>
                <a:gridCol w="2875575">
                  <a:extLst>
                    <a:ext uri="{9D8B030D-6E8A-4147-A177-3AD203B41FA5}">
                      <a16:colId xmlns:a16="http://schemas.microsoft.com/office/drawing/2014/main" val="20002"/>
                    </a:ext>
                  </a:extLst>
                </a:gridCol>
              </a:tblGrid>
              <a:tr h="558025">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lt1"/>
                        </a:solidFill>
                        <a:latin typeface="Century Gothic"/>
                        <a:ea typeface="Century Gothic"/>
                        <a:cs typeface="Century Gothic"/>
                        <a:sym typeface="Century Gothic"/>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lt1"/>
                        </a:buClr>
                        <a:buSzPts val="1200"/>
                        <a:buFont typeface="Century Gothic"/>
                        <a:buNone/>
                      </a:pPr>
                      <a:r>
                        <a:rPr lang="en-US" sz="1200" b="1" i="0" u="none" strike="noStrike" cap="none" dirty="0">
                          <a:solidFill>
                            <a:schemeClr val="lt1"/>
                          </a:solidFill>
                          <a:latin typeface="Century Gothic"/>
                          <a:ea typeface="Century Gothic"/>
                          <a:cs typeface="Century Gothic"/>
                          <a:sym typeface="Century Gothic"/>
                        </a:rPr>
                        <a:t>Segment A</a:t>
                      </a:r>
                      <a:endParaRPr sz="1200" u="none" strike="noStrike" cap="none" dirty="0">
                        <a:solidFill>
                          <a:schemeClr val="lt1"/>
                        </a:solidFill>
                        <a:latin typeface="Century Gothic"/>
                        <a:ea typeface="Century Gothic"/>
                        <a:cs typeface="Century Gothic"/>
                        <a:sym typeface="Century Gothic"/>
                      </a:endParaRPr>
                    </a:p>
                  </a:txBody>
                  <a:tcPr marL="91450" marR="91450" marT="45725" marB="45725" anchor="ctr">
                    <a:lnL w="9525" cap="flat" cmpd="sng">
                      <a:solidFill>
                        <a:srgbClr val="000000">
                          <a:alpha val="0"/>
                        </a:srgbClr>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0000"/>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solidFill>
                            <a:schemeClr val="lt1"/>
                          </a:solidFill>
                          <a:latin typeface="Century Gothic"/>
                          <a:ea typeface="Century Gothic"/>
                          <a:cs typeface="Century Gothic"/>
                          <a:sym typeface="Century Gothic"/>
                        </a:rPr>
                        <a:t>Segment B</a:t>
                      </a:r>
                      <a:endParaRPr sz="1400" b="1" u="none" strike="noStrike" cap="none" dirty="0"/>
                    </a:p>
                  </a:txBody>
                  <a:tcPr marL="91450" marR="91450" marT="45725" marB="45725" anchor="ct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0000"/>
                    </a:solidFill>
                  </a:tcPr>
                </a:tc>
                <a:extLst>
                  <a:ext uri="{0D108BD9-81ED-4DB2-BD59-A6C34878D82A}">
                    <a16:rowId xmlns:a16="http://schemas.microsoft.com/office/drawing/2014/main" val="10000"/>
                  </a:ext>
                </a:extLst>
              </a:tr>
              <a:tr h="1358900">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lt1"/>
                        </a:solidFill>
                        <a:latin typeface="Century Gothic"/>
                        <a:ea typeface="Century Gothic"/>
                        <a:cs typeface="Century Gothic"/>
                        <a:sym typeface="Century Gothic"/>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rgbClr val="F2F2F2"/>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F2F2F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dirty="0">
                        <a:solidFill>
                          <a:schemeClr val="lt1"/>
                        </a:solidFill>
                        <a:latin typeface="Century Gothic"/>
                        <a:ea typeface="Century Gothic"/>
                        <a:cs typeface="Century Gothic"/>
                        <a:sym typeface="Century Gothic"/>
                      </a:endParaRPr>
                    </a:p>
                  </a:txBody>
                  <a:tcPr marL="91450" marR="91450" marT="45725" marB="45725" anchor="ctr">
                    <a:lnL w="12700" cap="flat" cmpd="sng">
                      <a:solidFill>
                        <a:srgbClr val="F2F2F2"/>
                      </a:solidFill>
                      <a:prstDash val="solid"/>
                      <a:round/>
                      <a:headEnd type="none" w="sm" len="sm"/>
                      <a:tailEnd type="none" w="sm" len="sm"/>
                    </a:lnL>
                    <a:lnR w="9525" cap="flat" cmpd="sng">
                      <a:solidFill>
                        <a:srgbClr val="D8D8D8"/>
                      </a:solidFill>
                      <a:prstDash val="dash"/>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chemeClr val="lt1"/>
                        </a:solidFill>
                        <a:latin typeface="Century Gothic"/>
                        <a:ea typeface="Century Gothic"/>
                        <a:cs typeface="Century Gothic"/>
                        <a:sym typeface="Century Gothic"/>
                      </a:endParaRPr>
                    </a:p>
                  </a:txBody>
                  <a:tcPr marL="91450" marR="91450" marT="45725" marB="45725" anchor="ctr">
                    <a:lnL w="9525" cap="flat" cmpd="sng">
                      <a:solidFill>
                        <a:srgbClr val="D8D8D8"/>
                      </a:solidFill>
                      <a:prstDash val="dash"/>
                      <a:round/>
                      <a:headEnd type="none" w="sm" len="sm"/>
                      <a:tailEnd type="none" w="sm" len="sm"/>
                    </a:lnL>
                    <a:lnR w="9525" cap="flat" cmpd="sng">
                      <a:solidFill>
                        <a:srgbClr val="D8D8D8"/>
                      </a:solidFill>
                      <a:prstDash val="dash"/>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extLst>
                  <a:ext uri="{0D108BD9-81ED-4DB2-BD59-A6C34878D82A}">
                    <a16:rowId xmlns:a16="http://schemas.microsoft.com/office/drawing/2014/main" val="10001"/>
                  </a:ext>
                </a:extLst>
              </a:tr>
              <a:tr h="383650">
                <a:tc>
                  <a:txBody>
                    <a:bodyPr/>
                    <a:lstStyle/>
                    <a:p>
                      <a:pPr marL="0" marR="0" lvl="0" indent="0" algn="l" rtl="0">
                        <a:lnSpc>
                          <a:spcPct val="100000"/>
                        </a:lnSpc>
                        <a:spcBef>
                          <a:spcPts val="0"/>
                        </a:spcBef>
                        <a:spcAft>
                          <a:spcPts val="0"/>
                        </a:spcAft>
                        <a:buClr>
                          <a:schemeClr val="dk1"/>
                        </a:buClr>
                        <a:buSzPts val="1050"/>
                        <a:buFont typeface="Noto Sans Symbols"/>
                        <a:buNone/>
                      </a:pPr>
                      <a:r>
                        <a:rPr lang="en-US" sz="1050" b="1" u="none" strike="noStrike" cap="none">
                          <a:latin typeface="Century Gothic"/>
                          <a:ea typeface="Century Gothic"/>
                          <a:cs typeface="Century Gothic"/>
                          <a:sym typeface="Century Gothic"/>
                        </a:rPr>
                        <a:t>Total Subs (K)</a:t>
                      </a:r>
                      <a:endParaRPr sz="1400" u="none" strike="noStrike" cap="none"/>
                    </a:p>
                  </a:txBody>
                  <a:tcPr marL="91450" marR="7625" marT="7625" marB="0" anchor="ctr">
                    <a:lnL w="9525" cap="flat" cmpd="sng">
                      <a:solidFill>
                        <a:srgbClr val="D8D8D8"/>
                      </a:solidFill>
                      <a:prstDash val="solid"/>
                      <a:round/>
                      <a:headEnd type="none" w="sm" len="sm"/>
                      <a:tailEnd type="none" w="sm" len="sm"/>
                    </a:lnL>
                    <a:lnR w="9525" cap="flat" cmpd="sng">
                      <a:solidFill>
                        <a:srgbClr val="D8D8D8"/>
                      </a:solidFill>
                      <a:prstDash val="dash"/>
                      <a:round/>
                      <a:headEnd type="none" w="sm" len="sm"/>
                      <a:tailEnd type="none" w="sm" len="sm"/>
                    </a:lnR>
                    <a:lnT w="12700" cap="flat" cmpd="sng">
                      <a:solidFill>
                        <a:srgbClr val="F2F2F2"/>
                      </a:solidFill>
                      <a:prstDash val="solid"/>
                      <a:round/>
                      <a:headEnd type="none" w="sm" len="sm"/>
                      <a:tailEnd type="none" w="sm" len="sm"/>
                    </a:lnT>
                    <a:lnB w="12700" cap="flat" cmpd="sng">
                      <a:solidFill>
                        <a:srgbClr val="F2F2F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050"/>
                        <a:buFont typeface="Noto Sans Symbols"/>
                        <a:buNone/>
                      </a:pPr>
                      <a:r>
                        <a:rPr lang="en-US" sz="1050" b="1" i="0" u="none" strike="noStrike" cap="none" dirty="0">
                          <a:latin typeface="Century Gothic"/>
                          <a:ea typeface="Century Gothic"/>
                          <a:cs typeface="Century Gothic"/>
                          <a:sym typeface="Century Gothic"/>
                        </a:rPr>
                        <a:t>46.1</a:t>
                      </a:r>
                      <a:r>
                        <a:rPr lang="en-US" sz="1050" i="0" u="none" strike="noStrike" cap="none" dirty="0">
                          <a:latin typeface="Century Gothic"/>
                          <a:ea typeface="Century Gothic"/>
                          <a:cs typeface="Century Gothic"/>
                          <a:sym typeface="Century Gothic"/>
                        </a:rPr>
                        <a:t>     </a:t>
                      </a:r>
                      <a:r>
                        <a:rPr lang="en-US" sz="1050" u="none" strike="noStrike" cap="none" dirty="0">
                          <a:latin typeface="Century Gothic"/>
                          <a:ea typeface="Century Gothic"/>
                          <a:cs typeface="Century Gothic"/>
                          <a:sym typeface="Century Gothic"/>
                        </a:rPr>
                        <a:t>( 70 % )</a:t>
                      </a:r>
                      <a:endParaRPr sz="1050" u="none" strike="noStrike" cap="none" dirty="0">
                        <a:latin typeface="Century Gothic"/>
                        <a:ea typeface="Century Gothic"/>
                        <a:cs typeface="Century Gothic"/>
                        <a:sym typeface="Century Gothic"/>
                      </a:endParaRPr>
                    </a:p>
                  </a:txBody>
                  <a:tcPr marL="91450" marR="91450" marT="45725" marB="45725" anchor="ctr">
                    <a:lnL w="9525" cap="flat" cmpd="sng">
                      <a:solidFill>
                        <a:srgbClr val="D8D8D8"/>
                      </a:solidFill>
                      <a:prstDash val="dash"/>
                      <a:round/>
                      <a:headEnd type="none" w="sm" len="sm"/>
                      <a:tailEnd type="none" w="sm" len="sm"/>
                    </a:lnL>
                    <a:lnR w="9525" cap="flat" cmpd="sng">
                      <a:solidFill>
                        <a:srgbClr val="D8D8D8"/>
                      </a:solidFill>
                      <a:prstDash val="dash"/>
                      <a:round/>
                      <a:headEnd type="none" w="sm" len="sm"/>
                      <a:tailEnd type="none" w="sm" len="sm"/>
                    </a:lnR>
                    <a:lnT w="9525" cap="flat" cmpd="sng">
                      <a:solidFill>
                        <a:srgbClr val="D8D8D8"/>
                      </a:solidFill>
                      <a:prstDash val="solid"/>
                      <a:round/>
                      <a:headEnd type="none" w="sm" len="sm"/>
                      <a:tailEnd type="none" w="sm" len="sm"/>
                    </a:lnT>
                    <a:solidFill>
                      <a:schemeClr val="lt1"/>
                    </a:solidFill>
                  </a:tcPr>
                </a:tc>
                <a:tc>
                  <a:txBody>
                    <a:bodyPr/>
                    <a:lstStyle/>
                    <a:p>
                      <a:pPr marL="0" marR="0" lvl="0" indent="0" algn="ctr" rtl="0">
                        <a:lnSpc>
                          <a:spcPct val="100000"/>
                        </a:lnSpc>
                        <a:spcBef>
                          <a:spcPts val="0"/>
                        </a:spcBef>
                        <a:spcAft>
                          <a:spcPts val="0"/>
                        </a:spcAft>
                        <a:buClr>
                          <a:schemeClr val="dk1"/>
                        </a:buClr>
                        <a:buSzPts val="1050"/>
                        <a:buFont typeface="Noto Sans Symbols"/>
                        <a:buNone/>
                      </a:pPr>
                      <a:r>
                        <a:rPr lang="en-US" sz="1050" i="0" u="none" strike="noStrike" cap="none" dirty="0">
                          <a:latin typeface="Century Gothic"/>
                          <a:ea typeface="Century Gothic"/>
                          <a:cs typeface="Century Gothic"/>
                          <a:sym typeface="Century Gothic"/>
                        </a:rPr>
                        <a:t>19.8      </a:t>
                      </a:r>
                      <a:r>
                        <a:rPr lang="en-US" sz="1050" u="none" strike="noStrike" cap="none" dirty="0">
                          <a:latin typeface="Century Gothic"/>
                          <a:ea typeface="Century Gothic"/>
                          <a:cs typeface="Century Gothic"/>
                          <a:sym typeface="Century Gothic"/>
                        </a:rPr>
                        <a:t>(30 %)</a:t>
                      </a:r>
                      <a:endParaRPr sz="1050" u="none" strike="noStrike" cap="none" dirty="0">
                        <a:latin typeface="Century Gothic"/>
                        <a:ea typeface="Century Gothic"/>
                        <a:cs typeface="Century Gothic"/>
                        <a:sym typeface="Century Gothic"/>
                      </a:endParaRPr>
                    </a:p>
                  </a:txBody>
                  <a:tcPr marL="91450" marR="91450" marT="45725" marB="45725" anchor="ctr">
                    <a:lnL w="9525" cap="flat" cmpd="sng">
                      <a:solidFill>
                        <a:srgbClr val="D8D8D8"/>
                      </a:solidFill>
                      <a:prstDash val="dash"/>
                      <a:round/>
                      <a:headEnd type="none" w="sm" len="sm"/>
                      <a:tailEnd type="none" w="sm" len="sm"/>
                    </a:lnL>
                    <a:lnR w="9525" cap="flat" cmpd="sng">
                      <a:solidFill>
                        <a:srgbClr val="D8D8D8"/>
                      </a:solidFill>
                      <a:prstDash val="dash"/>
                      <a:round/>
                      <a:headEnd type="none" w="sm" len="sm"/>
                      <a:tailEnd type="none" w="sm" len="sm"/>
                    </a:lnR>
                    <a:lnT w="9525" cap="flat" cmpd="sng">
                      <a:solidFill>
                        <a:srgbClr val="D8D8D8"/>
                      </a:solidFill>
                      <a:prstDash val="solid"/>
                      <a:round/>
                      <a:headEnd type="none" w="sm" len="sm"/>
                      <a:tailEnd type="none" w="sm" len="sm"/>
                    </a:lnT>
                    <a:solidFill>
                      <a:schemeClr val="lt1"/>
                    </a:solidFill>
                  </a:tcPr>
                </a:tc>
                <a:extLst>
                  <a:ext uri="{0D108BD9-81ED-4DB2-BD59-A6C34878D82A}">
                    <a16:rowId xmlns:a16="http://schemas.microsoft.com/office/drawing/2014/main" val="10002"/>
                  </a:ext>
                </a:extLst>
              </a:tr>
              <a:tr h="348775">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Tenure (Hours,000)</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12700" cap="flat" cmpd="sng">
                      <a:solidFill>
                        <a:srgbClr val="F2F2F2"/>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u="none" strike="noStrike" cap="none" dirty="0">
                          <a:latin typeface="Century Gothic"/>
                          <a:ea typeface="Century Gothic"/>
                          <a:cs typeface="Century Gothic"/>
                          <a:sym typeface="Century Gothic"/>
                        </a:rPr>
                        <a:t>2.3	( 12% )</a:t>
                      </a:r>
                      <a:endParaRPr sz="1050" u="none" strike="noStrike" cap="none" dirty="0">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1" u="none" strike="noStrike" cap="none" dirty="0">
                          <a:solidFill>
                            <a:srgbClr val="FF0000"/>
                          </a:solidFill>
                          <a:latin typeface="Century Gothic"/>
                          <a:ea typeface="Century Gothic"/>
                          <a:cs typeface="Century Gothic"/>
                          <a:sym typeface="Century Gothic"/>
                        </a:rPr>
                        <a:t>17.8                       (88%)</a:t>
                      </a:r>
                      <a:endParaRPr sz="1050" b="1" u="none" strike="noStrike" cap="none" dirty="0">
                        <a:solidFill>
                          <a:srgbClr val="FF0000"/>
                        </a:solidFill>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3"/>
                  </a:ext>
                </a:extLst>
              </a:tr>
              <a:tr h="383650">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Diff last first issued time (days)</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u="none" strike="noStrike" cap="none" dirty="0">
                          <a:latin typeface="Century Gothic"/>
                          <a:ea typeface="Century Gothic"/>
                          <a:cs typeface="Century Gothic"/>
                          <a:sym typeface="Century Gothic"/>
                        </a:rPr>
                        <a:t>64   	( 9% )</a:t>
                      </a:r>
                      <a:endParaRPr sz="1050" u="none" strike="noStrike" cap="none" dirty="0">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1" u="none" strike="noStrike" cap="none" dirty="0">
                          <a:solidFill>
                            <a:srgbClr val="FF0000"/>
                          </a:solidFill>
                          <a:latin typeface="Century Gothic"/>
                          <a:ea typeface="Century Gothic"/>
                          <a:cs typeface="Century Gothic"/>
                          <a:sym typeface="Century Gothic"/>
                        </a:rPr>
                        <a:t>667                            (91%)</a:t>
                      </a:r>
                      <a:endParaRPr sz="1050" b="1" u="none" strike="noStrike" cap="none" dirty="0">
                        <a:solidFill>
                          <a:srgbClr val="FF0000"/>
                        </a:solidFill>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4"/>
                  </a:ext>
                </a:extLst>
              </a:tr>
              <a:tr h="348775">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Count issued (Transactions)</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0" u="none" strike="noStrike" cap="none" dirty="0">
                          <a:solidFill>
                            <a:schemeClr val="tx1"/>
                          </a:solidFill>
                          <a:latin typeface="Century Gothic"/>
                          <a:ea typeface="Century Gothic"/>
                          <a:cs typeface="Century Gothic"/>
                          <a:sym typeface="Century Gothic"/>
                        </a:rPr>
                        <a:t>2</a:t>
                      </a:r>
                      <a:r>
                        <a:rPr lang="en-US" sz="1050" b="1" u="none" strike="noStrike" cap="none" dirty="0">
                          <a:solidFill>
                            <a:srgbClr val="FF0000"/>
                          </a:solidFill>
                          <a:latin typeface="Century Gothic"/>
                          <a:ea typeface="Century Gothic"/>
                          <a:cs typeface="Century Gothic"/>
                          <a:sym typeface="Century Gothic"/>
                        </a:rPr>
                        <a:t>     	</a:t>
                      </a:r>
                      <a:r>
                        <a:rPr lang="en-US" sz="1050" u="none" strike="noStrike" cap="none" dirty="0">
                          <a:latin typeface="Century Gothic"/>
                          <a:ea typeface="Century Gothic"/>
                          <a:cs typeface="Century Gothic"/>
                          <a:sym typeface="Century Gothic"/>
                        </a:rPr>
                        <a:t>(13%)</a:t>
                      </a:r>
                      <a:endParaRPr sz="1050" b="1" u="none" strike="noStrike" cap="none" dirty="0">
                        <a:solidFill>
                          <a:srgbClr val="FF0000"/>
                        </a:solidFill>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1" u="none" strike="noStrike" cap="none" dirty="0">
                          <a:solidFill>
                            <a:srgbClr val="FF0000"/>
                          </a:solidFill>
                          <a:latin typeface="Century Gothic"/>
                          <a:ea typeface="Century Gothic"/>
                          <a:cs typeface="Century Gothic"/>
                          <a:sym typeface="Century Gothic"/>
                        </a:rPr>
                        <a:t>   13        </a:t>
                      </a:r>
                      <a:r>
                        <a:rPr lang="en-US" sz="1050" u="none" strike="noStrike" cap="none" dirty="0">
                          <a:latin typeface="Century Gothic"/>
                          <a:ea typeface="Century Gothic"/>
                          <a:cs typeface="Century Gothic"/>
                          <a:sym typeface="Century Gothic"/>
                        </a:rPr>
                        <a:t>                      </a:t>
                      </a:r>
                      <a:r>
                        <a:rPr lang="en-US" sz="1050" b="1" u="none" strike="noStrike" cap="none" dirty="0">
                          <a:solidFill>
                            <a:srgbClr val="FF0000"/>
                          </a:solidFill>
                          <a:latin typeface="Century Gothic"/>
                          <a:ea typeface="Century Gothic"/>
                          <a:cs typeface="Century Gothic"/>
                          <a:sym typeface="Century Gothic"/>
                        </a:rPr>
                        <a:t>( 87% )</a:t>
                      </a:r>
                      <a:endParaRPr sz="1050" u="none" strike="noStrike" cap="none" dirty="0">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5"/>
                  </a:ext>
                </a:extLst>
              </a:tr>
              <a:tr h="348775">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Invoice per count issued (IDR,000)</a:t>
                      </a:r>
                      <a:endParaRPr sz="1000" b="1" i="0" u="none" strike="noStrike" cap="none" dirty="0">
                        <a:solidFill>
                          <a:srgbClr val="000000"/>
                        </a:solidFill>
                        <a:latin typeface="Century Gothic"/>
                        <a:ea typeface="Century Gothic"/>
                        <a:cs typeface="Century Gothic"/>
                        <a:sym typeface="Century Gothic"/>
                      </a:endParaRPr>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1" u="none" strike="noStrike" cap="none" dirty="0">
                          <a:solidFill>
                            <a:srgbClr val="FF0000"/>
                          </a:solidFill>
                          <a:latin typeface="Century Gothic"/>
                          <a:ea typeface="Century Gothic"/>
                          <a:cs typeface="Century Gothic"/>
                          <a:sym typeface="Century Gothic"/>
                        </a:rPr>
                        <a:t>597	</a:t>
                      </a:r>
                      <a:r>
                        <a:rPr lang="en-US" sz="1050" u="none" strike="noStrike" cap="none" dirty="0">
                          <a:latin typeface="Century Gothic"/>
                          <a:ea typeface="Century Gothic"/>
                          <a:cs typeface="Century Gothic"/>
                          <a:sym typeface="Century Gothic"/>
                        </a:rPr>
                        <a:t> </a:t>
                      </a:r>
                      <a:r>
                        <a:rPr lang="en-US" sz="1050" b="1" u="none" strike="noStrike" cap="none" dirty="0">
                          <a:solidFill>
                            <a:srgbClr val="FF0000"/>
                          </a:solidFill>
                          <a:latin typeface="Century Gothic"/>
                          <a:ea typeface="Century Gothic"/>
                          <a:cs typeface="Century Gothic"/>
                          <a:sym typeface="Century Gothic"/>
                        </a:rPr>
                        <a:t>( 83% )</a:t>
                      </a:r>
                      <a:endParaRPr sz="1050" b="1" u="none" strike="noStrike" cap="none" dirty="0">
                        <a:solidFill>
                          <a:srgbClr val="FF0000"/>
                        </a:solidFill>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0" u="none" strike="noStrike" cap="none" dirty="0">
                          <a:solidFill>
                            <a:schemeClr val="tx1"/>
                          </a:solidFill>
                          <a:latin typeface="Century Gothic"/>
                          <a:ea typeface="Century Gothic"/>
                          <a:cs typeface="Century Gothic"/>
                          <a:sym typeface="Century Gothic"/>
                        </a:rPr>
                        <a:t>117           </a:t>
                      </a:r>
                      <a:r>
                        <a:rPr lang="en-US" sz="1050" u="none" strike="noStrike" cap="none" dirty="0">
                          <a:latin typeface="Century Gothic"/>
                          <a:ea typeface="Century Gothic"/>
                          <a:cs typeface="Century Gothic"/>
                          <a:sym typeface="Century Gothic"/>
                        </a:rPr>
                        <a:t>                   (17%)</a:t>
                      </a:r>
                      <a:endParaRPr sz="1050" u="none" strike="noStrike" cap="none" dirty="0">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6"/>
                  </a:ext>
                </a:extLst>
              </a:tr>
              <a:tr h="348775">
                <a:tc>
                  <a:txBody>
                    <a:bodyPr/>
                    <a:lstStyle/>
                    <a:p>
                      <a:pPr marL="0" marR="0" lvl="0" indent="0" algn="l" rtl="0">
                        <a:lnSpc>
                          <a:spcPct val="100000"/>
                        </a:lnSpc>
                        <a:spcBef>
                          <a:spcPts val="0"/>
                        </a:spcBef>
                        <a:spcAft>
                          <a:spcPts val="0"/>
                        </a:spcAft>
                        <a:buClr>
                          <a:srgbClr val="000000"/>
                        </a:buClr>
                        <a:buSzPts val="1000"/>
                        <a:buFont typeface="Century Gothic"/>
                        <a:buNone/>
                      </a:pPr>
                      <a:r>
                        <a:rPr lang="en-US" sz="1000" b="1" i="0" u="none" strike="noStrike" cap="none" dirty="0">
                          <a:solidFill>
                            <a:srgbClr val="000000"/>
                          </a:solidFill>
                          <a:latin typeface="Century Gothic"/>
                          <a:sym typeface="Century Gothic"/>
                        </a:rPr>
                        <a:t>Avg issued invoice amount (IDR,000)</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1" u="none" strike="noStrike" cap="none" dirty="0">
                          <a:solidFill>
                            <a:srgbClr val="FF0000"/>
                          </a:solidFill>
                          <a:latin typeface="Century Gothic"/>
                          <a:ea typeface="Century Gothic"/>
                          <a:cs typeface="Century Gothic"/>
                          <a:sym typeface="Century Gothic"/>
                        </a:rPr>
                        <a:t>      825	</a:t>
                      </a:r>
                      <a:r>
                        <a:rPr lang="en-US" sz="1050" u="none" strike="noStrike" cap="none" dirty="0">
                          <a:latin typeface="Century Gothic"/>
                          <a:ea typeface="Century Gothic"/>
                          <a:cs typeface="Century Gothic"/>
                          <a:sym typeface="Century Gothic"/>
                        </a:rPr>
                        <a:t>     </a:t>
                      </a:r>
                      <a:r>
                        <a:rPr lang="en-US" sz="1050" b="1" u="none" strike="noStrike" cap="none" dirty="0">
                          <a:solidFill>
                            <a:srgbClr val="FF0000"/>
                          </a:solidFill>
                          <a:latin typeface="Century Gothic"/>
                          <a:ea typeface="Century Gothic"/>
                          <a:cs typeface="Century Gothic"/>
                          <a:sym typeface="Century Gothic"/>
                        </a:rPr>
                        <a:t>( 51% )</a:t>
                      </a:r>
                      <a:r>
                        <a:rPr lang="en-US" sz="1050" u="none" strike="noStrike" cap="none" dirty="0">
                          <a:latin typeface="Century Gothic"/>
                          <a:ea typeface="Century Gothic"/>
                          <a:cs typeface="Century Gothic"/>
                          <a:sym typeface="Century Gothic"/>
                        </a:rPr>
                        <a:t>	</a:t>
                      </a:r>
                      <a:endParaRPr sz="1050" u="none" strike="noStrike" cap="none" dirty="0">
                        <a:latin typeface="Century Gothic"/>
                        <a:ea typeface="Century Gothic"/>
                        <a:cs typeface="Century Gothic"/>
                        <a:sym typeface="Century Gothic"/>
                      </a:endParaRPr>
                    </a:p>
                  </a:txBody>
                  <a:tcPr marL="91425" marR="91425" marT="91425" marB="91425"/>
                </a:tc>
                <a:tc>
                  <a:txBody>
                    <a:bodyPr/>
                    <a:lstStyle/>
                    <a:p>
                      <a:pPr marL="0" marR="0" lvl="0" indent="0" algn="ctr" defTabSz="914400" rtl="0" eaLnBrk="1" fontAlgn="auto" latinLnBrk="0" hangingPunct="1">
                        <a:lnSpc>
                          <a:spcPct val="115000"/>
                        </a:lnSpc>
                        <a:spcBef>
                          <a:spcPts val="0"/>
                        </a:spcBef>
                        <a:spcAft>
                          <a:spcPts val="0"/>
                        </a:spcAft>
                        <a:buClr>
                          <a:srgbClr val="000000"/>
                        </a:buClr>
                        <a:buSzPts val="1050"/>
                        <a:buFont typeface="Arial"/>
                        <a:buNone/>
                        <a:tabLst/>
                        <a:defRPr/>
                      </a:pPr>
                      <a:r>
                        <a:rPr lang="en-US" sz="1050" b="0" u="none" strike="noStrike" cap="none" dirty="0">
                          <a:solidFill>
                            <a:schemeClr val="tx1"/>
                          </a:solidFill>
                          <a:latin typeface="Century Gothic"/>
                          <a:ea typeface="Century Gothic"/>
                          <a:cs typeface="Century Gothic"/>
                          <a:sym typeface="Century Gothic"/>
                        </a:rPr>
                        <a:t>772                          </a:t>
                      </a:r>
                      <a:r>
                        <a:rPr lang="en-US" sz="1050" u="none" strike="noStrike" cap="none" dirty="0">
                          <a:latin typeface="Century Gothic"/>
                          <a:ea typeface="Century Gothic"/>
                          <a:cs typeface="Century Gothic"/>
                          <a:sym typeface="Century Gothic"/>
                        </a:rPr>
                        <a:t>  (49%)</a:t>
                      </a:r>
                      <a:endParaRPr sz="1050" u="none" strike="noStrike" cap="none" dirty="0">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7"/>
                  </a:ext>
                </a:extLst>
              </a:tr>
              <a:tr h="348775">
                <a:tc>
                  <a:txBody>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rgbClr val="000000"/>
                          </a:solidFill>
                          <a:latin typeface="Century Gothic"/>
                          <a:ea typeface="Century Gothic"/>
                          <a:cs typeface="Century Gothic"/>
                          <a:sym typeface="Century Gothic"/>
                        </a:rPr>
                        <a:t>Pct success transaction (%)</a:t>
                      </a:r>
                      <a:endParaRPr sz="1400" u="none" strike="noStrike" cap="none" dirty="0"/>
                    </a:p>
                  </a:txBody>
                  <a:tcPr marL="91450" marR="7625" marT="7625" marB="0" anchor="ctr">
                    <a:lnL w="9525" cap="flat" cmpd="sng">
                      <a:solidFill>
                        <a:srgbClr val="D8D8D8"/>
                      </a:solidFill>
                      <a:prstDash val="solid"/>
                      <a:round/>
                      <a:headEnd type="none" w="sm" len="sm"/>
                      <a:tailEnd type="none" w="sm" len="sm"/>
                    </a:lnL>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15000"/>
                        </a:lnSpc>
                        <a:spcBef>
                          <a:spcPts val="0"/>
                        </a:spcBef>
                        <a:spcAft>
                          <a:spcPts val="0"/>
                        </a:spcAft>
                        <a:buClr>
                          <a:srgbClr val="000000"/>
                        </a:buClr>
                        <a:buSzPts val="1050"/>
                        <a:buFont typeface="Arial"/>
                        <a:buNone/>
                      </a:pPr>
                      <a:r>
                        <a:rPr lang="en-US" sz="1050" b="1" u="none" strike="noStrike" cap="none" dirty="0">
                          <a:solidFill>
                            <a:srgbClr val="FF0000"/>
                          </a:solidFill>
                          <a:latin typeface="Century Gothic"/>
                          <a:ea typeface="Century Gothic"/>
                          <a:cs typeface="Century Gothic"/>
                          <a:sym typeface="Century Gothic"/>
                        </a:rPr>
                        <a:t>57%</a:t>
                      </a:r>
                      <a:endParaRPr sz="1050" u="none" strike="noStrike" cap="none" dirty="0">
                        <a:latin typeface="Century Gothic"/>
                        <a:ea typeface="Century Gothic"/>
                        <a:cs typeface="Century Gothic"/>
                        <a:sym typeface="Century Gothic"/>
                      </a:endParaRPr>
                    </a:p>
                  </a:txBody>
                  <a:tcPr marL="91425" marR="91425" marT="91425" marB="91425"/>
                </a:tc>
                <a:tc>
                  <a:txBody>
                    <a:bodyPr/>
                    <a:lstStyle/>
                    <a:p>
                      <a:pPr marL="0" marR="0" lvl="0" indent="0" algn="ctr" defTabSz="914400" rtl="0" eaLnBrk="1" fontAlgn="auto" latinLnBrk="0" hangingPunct="1">
                        <a:lnSpc>
                          <a:spcPct val="115000"/>
                        </a:lnSpc>
                        <a:spcBef>
                          <a:spcPts val="0"/>
                        </a:spcBef>
                        <a:spcAft>
                          <a:spcPts val="0"/>
                        </a:spcAft>
                        <a:buClr>
                          <a:srgbClr val="000000"/>
                        </a:buClr>
                        <a:buSzPts val="1050"/>
                        <a:buFont typeface="Arial"/>
                        <a:buNone/>
                        <a:tabLst/>
                        <a:defRPr/>
                      </a:pPr>
                      <a:r>
                        <a:rPr lang="en-US" sz="1050" u="none" strike="noStrike" cap="none" dirty="0">
                          <a:latin typeface="Century Gothic"/>
                          <a:ea typeface="Century Gothic"/>
                          <a:cs typeface="Century Gothic"/>
                          <a:sym typeface="Century Gothic"/>
                        </a:rPr>
                        <a:t>43% </a:t>
                      </a:r>
                    </a:p>
                  </a:txBody>
                  <a:tcPr marL="91425" marR="91425" marT="91425" marB="91425"/>
                </a:tc>
                <a:extLst>
                  <a:ext uri="{0D108BD9-81ED-4DB2-BD59-A6C34878D82A}">
                    <a16:rowId xmlns:a16="http://schemas.microsoft.com/office/drawing/2014/main" val="10008"/>
                  </a:ext>
                </a:extLst>
              </a:tr>
            </a:tbl>
          </a:graphicData>
        </a:graphic>
      </p:graphicFrame>
      <p:sp>
        <p:nvSpPr>
          <p:cNvPr id="250" name="Google Shape;250;p10"/>
          <p:cNvSpPr txBox="1"/>
          <p:nvPr/>
        </p:nvSpPr>
        <p:spPr>
          <a:xfrm>
            <a:off x="2810868" y="2157260"/>
            <a:ext cx="1299578" cy="255014"/>
          </a:xfrm>
          <a:prstGeom prst="rect">
            <a:avLst/>
          </a:prstGeom>
          <a:noFill/>
          <a:ln>
            <a:noFill/>
          </a:ln>
        </p:spPr>
        <p:txBody>
          <a:bodyPr spcFirstLastPara="1" wrap="square" lIns="0" tIns="0" rIns="0"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dirty="0">
                <a:solidFill>
                  <a:srgbClr val="000000"/>
                </a:solidFill>
                <a:latin typeface="Century Gothic"/>
                <a:ea typeface="Century Gothic"/>
                <a:cs typeface="Century Gothic"/>
                <a:sym typeface="Century Gothic"/>
              </a:rPr>
              <a:t>Total Subs : 6</a:t>
            </a:r>
            <a:r>
              <a:rPr lang="en-US" sz="1200" b="1" dirty="0">
                <a:latin typeface="Century Gothic"/>
                <a:ea typeface="Century Gothic"/>
                <a:cs typeface="Century Gothic"/>
                <a:sym typeface="Century Gothic"/>
              </a:rPr>
              <a:t>6</a:t>
            </a:r>
            <a:r>
              <a:rPr lang="en-US" sz="1200" b="1" i="0" u="none" strike="noStrike" cap="none" dirty="0">
                <a:solidFill>
                  <a:srgbClr val="000000"/>
                </a:solidFill>
                <a:latin typeface="Century Gothic"/>
                <a:ea typeface="Century Gothic"/>
                <a:cs typeface="Century Gothic"/>
                <a:sym typeface="Century Gothic"/>
              </a:rPr>
              <a:t> K</a:t>
            </a:r>
            <a:endParaRPr sz="1400" b="0" i="0" u="none" strike="noStrike" cap="none" dirty="0">
              <a:solidFill>
                <a:srgbClr val="000000"/>
              </a:solidFill>
              <a:latin typeface="Arial"/>
              <a:ea typeface="Arial"/>
              <a:cs typeface="Arial"/>
              <a:sym typeface="Arial"/>
            </a:endParaRPr>
          </a:p>
        </p:txBody>
      </p:sp>
      <p:sp>
        <p:nvSpPr>
          <p:cNvPr id="6" name="Google Shape;998;p15">
            <a:extLst>
              <a:ext uri="{FF2B5EF4-FFF2-40B4-BE49-F238E27FC236}">
                <a16:creationId xmlns:a16="http://schemas.microsoft.com/office/drawing/2014/main" id="{80A7C0BB-EB95-4301-81E6-34652236996C}"/>
              </a:ext>
            </a:extLst>
          </p:cNvPr>
          <p:cNvSpPr txBox="1"/>
          <p:nvPr/>
        </p:nvSpPr>
        <p:spPr>
          <a:xfrm>
            <a:off x="175325" y="233538"/>
            <a:ext cx="9710140" cy="307777"/>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Advanced Analysis and Feature Building – Summary Clustering – Hotel</a:t>
            </a:r>
            <a:endParaRPr sz="2000" b="1" i="0" u="none" strike="noStrike" cap="none" dirty="0">
              <a:solidFill>
                <a:srgbClr val="FF0000"/>
              </a:solidFill>
              <a:latin typeface="Century Gothic"/>
              <a:ea typeface="Century Gothic"/>
              <a:cs typeface="Century Gothic"/>
              <a:sym typeface="Century Gothic"/>
            </a:endParaRPr>
          </a:p>
        </p:txBody>
      </p:sp>
      <p:sp>
        <p:nvSpPr>
          <p:cNvPr id="7" name="Google Shape;1016;p15">
            <a:extLst>
              <a:ext uri="{FF2B5EF4-FFF2-40B4-BE49-F238E27FC236}">
                <a16:creationId xmlns:a16="http://schemas.microsoft.com/office/drawing/2014/main" id="{DE02D7BC-3184-4514-9E75-E1EC626735C4}"/>
              </a:ext>
            </a:extLst>
          </p:cNvPr>
          <p:cNvSpPr txBox="1"/>
          <p:nvPr/>
        </p:nvSpPr>
        <p:spPr>
          <a:xfrm>
            <a:off x="6351456" y="2283450"/>
            <a:ext cx="1933543"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000"/>
              <a:buFont typeface="Century Gothic"/>
              <a:buNone/>
            </a:pPr>
            <a:r>
              <a:rPr lang="en-US" sz="1000" b="1" i="0" u="none" strike="noStrike" cap="none" dirty="0">
                <a:solidFill>
                  <a:schemeClr val="dk1"/>
                </a:solidFill>
                <a:latin typeface="Century Gothic"/>
                <a:ea typeface="Century Gothic"/>
                <a:cs typeface="Century Gothic"/>
                <a:sym typeface="Century Gothic"/>
              </a:rPr>
              <a:t>Most Churners Segment</a:t>
            </a:r>
            <a:endParaRPr dirty="0"/>
          </a:p>
        </p:txBody>
      </p:sp>
      <p:sp>
        <p:nvSpPr>
          <p:cNvPr id="8" name="Google Shape;1016;p15">
            <a:extLst>
              <a:ext uri="{FF2B5EF4-FFF2-40B4-BE49-F238E27FC236}">
                <a16:creationId xmlns:a16="http://schemas.microsoft.com/office/drawing/2014/main" id="{663BD36E-84E0-4734-9994-68D960B69447}"/>
              </a:ext>
            </a:extLst>
          </p:cNvPr>
          <p:cNvSpPr txBox="1"/>
          <p:nvPr/>
        </p:nvSpPr>
        <p:spPr>
          <a:xfrm>
            <a:off x="9129721" y="2283450"/>
            <a:ext cx="1933543"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000"/>
              <a:buFont typeface="Century Gothic"/>
              <a:buNone/>
            </a:pPr>
            <a:r>
              <a:rPr lang="en-US" sz="1000" b="1" i="0" u="none" strike="noStrike" cap="none" dirty="0">
                <a:solidFill>
                  <a:schemeClr val="dk1"/>
                </a:solidFill>
                <a:latin typeface="Century Gothic"/>
                <a:ea typeface="Century Gothic"/>
                <a:cs typeface="Century Gothic"/>
                <a:sym typeface="Century Gothic"/>
              </a:rPr>
              <a:t>Dominant non churner Segment</a:t>
            </a:r>
            <a:endParaRPr dirty="0"/>
          </a:p>
        </p:txBody>
      </p:sp>
    </p:spTree>
    <p:extLst>
      <p:ext uri="{BB962C8B-B14F-4D97-AF65-F5344CB8AC3E}">
        <p14:creationId xmlns:p14="http://schemas.microsoft.com/office/powerpoint/2010/main" val="2110514114"/>
      </p:ext>
    </p:extLst>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p16"/>
          <p:cNvSpPr txBox="1"/>
          <p:nvPr/>
        </p:nvSpPr>
        <p:spPr>
          <a:xfrm>
            <a:off x="175325" y="233538"/>
            <a:ext cx="9710140" cy="307777"/>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Advanced Analysis and Feature Building – Woe Analysis Features</a:t>
            </a:r>
            <a:endParaRPr sz="2000" b="1" i="0" u="none" strike="noStrike" cap="none" dirty="0">
              <a:solidFill>
                <a:srgbClr val="FF0000"/>
              </a:solidFill>
              <a:latin typeface="Century Gothic"/>
              <a:ea typeface="Century Gothic"/>
              <a:cs typeface="Century Gothic"/>
              <a:sym typeface="Century Gothic"/>
            </a:endParaRPr>
          </a:p>
        </p:txBody>
      </p:sp>
      <p:pic>
        <p:nvPicPr>
          <p:cNvPr id="1083" name="Google Shape;1083;p16"/>
          <p:cNvPicPr preferRelativeResize="0"/>
          <p:nvPr/>
        </p:nvPicPr>
        <p:blipFill rotWithShape="1">
          <a:blip r:embed="rId3">
            <a:alphaModFix/>
          </a:blip>
          <a:srcRect/>
          <a:stretch/>
        </p:blipFill>
        <p:spPr>
          <a:xfrm>
            <a:off x="3868582" y="1622622"/>
            <a:ext cx="2986811" cy="1052056"/>
          </a:xfrm>
          <a:prstGeom prst="rect">
            <a:avLst/>
          </a:prstGeom>
          <a:noFill/>
          <a:ln>
            <a:noFill/>
          </a:ln>
        </p:spPr>
      </p:pic>
      <p:sp>
        <p:nvSpPr>
          <p:cNvPr id="1084" name="Google Shape;1084;p16"/>
          <p:cNvSpPr txBox="1"/>
          <p:nvPr/>
        </p:nvSpPr>
        <p:spPr>
          <a:xfrm>
            <a:off x="862443" y="1084070"/>
            <a:ext cx="226536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F0"/>
              </a:buClr>
              <a:buSzPts val="1800"/>
              <a:buFont typeface="Century Gothic"/>
              <a:buNone/>
            </a:pPr>
            <a:r>
              <a:rPr lang="en-US" sz="1800" b="1" i="0" u="none" strike="noStrike" cap="none" dirty="0">
                <a:solidFill>
                  <a:srgbClr val="FF0000"/>
                </a:solidFill>
                <a:latin typeface="Century Gothic"/>
                <a:ea typeface="Century Gothic"/>
                <a:cs typeface="Century Gothic"/>
                <a:sym typeface="Century Gothic"/>
              </a:rPr>
              <a:t>Weigh of Evidence</a:t>
            </a:r>
            <a:endParaRPr dirty="0">
              <a:solidFill>
                <a:srgbClr val="FF0000"/>
              </a:solidFill>
            </a:endParaRPr>
          </a:p>
        </p:txBody>
      </p:sp>
      <p:sp>
        <p:nvSpPr>
          <p:cNvPr id="1085" name="Google Shape;1085;p16"/>
          <p:cNvSpPr txBox="1"/>
          <p:nvPr/>
        </p:nvSpPr>
        <p:spPr>
          <a:xfrm>
            <a:off x="7106163" y="1056188"/>
            <a:ext cx="99257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B0F0"/>
              </a:buClr>
              <a:buSzPts val="1800"/>
              <a:buFont typeface="Century Gothic"/>
              <a:buNone/>
            </a:pPr>
            <a:r>
              <a:rPr lang="en-US" sz="1800" b="1" i="0" u="none" strike="noStrike" cap="none" dirty="0">
                <a:solidFill>
                  <a:srgbClr val="FF0000"/>
                </a:solidFill>
                <a:latin typeface="Century Gothic"/>
                <a:ea typeface="Century Gothic"/>
                <a:cs typeface="Century Gothic"/>
                <a:sym typeface="Century Gothic"/>
              </a:rPr>
              <a:t>Criteria</a:t>
            </a:r>
            <a:endParaRPr dirty="0">
              <a:solidFill>
                <a:srgbClr val="FF0000"/>
              </a:solidFill>
            </a:endParaRPr>
          </a:p>
        </p:txBody>
      </p:sp>
      <p:cxnSp>
        <p:nvCxnSpPr>
          <p:cNvPr id="1086" name="Google Shape;1086;p16"/>
          <p:cNvCxnSpPr/>
          <p:nvPr/>
        </p:nvCxnSpPr>
        <p:spPr>
          <a:xfrm>
            <a:off x="457494" y="1483462"/>
            <a:ext cx="11095545" cy="0"/>
          </a:xfrm>
          <a:prstGeom prst="straightConnector1">
            <a:avLst/>
          </a:prstGeom>
          <a:noFill/>
          <a:ln w="9525" cap="flat" cmpd="sng">
            <a:solidFill>
              <a:srgbClr val="FF0000"/>
            </a:solidFill>
            <a:prstDash val="solid"/>
            <a:miter lim="800000"/>
            <a:headEnd type="none" w="sm" len="sm"/>
            <a:tailEnd type="none" w="sm" len="sm"/>
          </a:ln>
        </p:spPr>
      </p:cxnSp>
      <p:sp>
        <p:nvSpPr>
          <p:cNvPr id="1087" name="Google Shape;1087;p16"/>
          <p:cNvSpPr/>
          <p:nvPr/>
        </p:nvSpPr>
        <p:spPr>
          <a:xfrm>
            <a:off x="625036" y="1674537"/>
            <a:ext cx="2611939" cy="845574"/>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entury Gothic"/>
              <a:buNone/>
            </a:pPr>
            <a:r>
              <a:rPr lang="en-US" sz="1800" b="0" i="0" u="none" strike="noStrike" cap="none" dirty="0">
                <a:solidFill>
                  <a:srgbClr val="FFFFFF"/>
                </a:solidFill>
                <a:latin typeface="Century Gothic"/>
                <a:ea typeface="Century Gothic"/>
                <a:cs typeface="Century Gothic"/>
                <a:sym typeface="Century Gothic"/>
              </a:rPr>
              <a:t>Total </a:t>
            </a:r>
            <a:r>
              <a:rPr lang="en-US" sz="1800" dirty="0">
                <a:solidFill>
                  <a:srgbClr val="FFFFFF"/>
                </a:solidFill>
                <a:latin typeface="Century Gothic"/>
                <a:ea typeface="Century Gothic"/>
                <a:cs typeface="Century Gothic"/>
                <a:sym typeface="Century Gothic"/>
              </a:rPr>
              <a:t>Information Value</a:t>
            </a:r>
            <a:endParaRPr sz="1800" b="0" i="0" u="none" strike="noStrike" cap="none" dirty="0">
              <a:solidFill>
                <a:srgbClr val="FFFFFF"/>
              </a:solidFill>
              <a:latin typeface="Century Gothic"/>
              <a:ea typeface="Century Gothic"/>
              <a:cs typeface="Century Gothic"/>
              <a:sym typeface="Century Gothic"/>
            </a:endParaRPr>
          </a:p>
        </p:txBody>
      </p:sp>
      <p:cxnSp>
        <p:nvCxnSpPr>
          <p:cNvPr id="1088" name="Google Shape;1088;p16"/>
          <p:cNvCxnSpPr/>
          <p:nvPr/>
        </p:nvCxnSpPr>
        <p:spPr>
          <a:xfrm>
            <a:off x="3374972" y="1084070"/>
            <a:ext cx="0" cy="5316730"/>
          </a:xfrm>
          <a:prstGeom prst="straightConnector1">
            <a:avLst/>
          </a:prstGeom>
          <a:noFill/>
          <a:ln w="12700" cap="flat" cmpd="sng">
            <a:solidFill>
              <a:srgbClr val="A5A5A5"/>
            </a:solidFill>
            <a:prstDash val="dash"/>
            <a:miter lim="800000"/>
            <a:headEnd type="none" w="sm" len="sm"/>
            <a:tailEnd type="none" w="sm" len="sm"/>
          </a:ln>
        </p:spPr>
      </p:cxnSp>
      <p:pic>
        <p:nvPicPr>
          <p:cNvPr id="1089" name="Google Shape;1089;p16"/>
          <p:cNvPicPr preferRelativeResize="0"/>
          <p:nvPr/>
        </p:nvPicPr>
        <p:blipFill rotWithShape="1">
          <a:blip r:embed="rId4">
            <a:alphaModFix/>
          </a:blip>
          <a:srcRect/>
          <a:stretch/>
        </p:blipFill>
        <p:spPr>
          <a:xfrm>
            <a:off x="7884425" y="1731572"/>
            <a:ext cx="3362695" cy="742921"/>
          </a:xfrm>
          <a:prstGeom prst="rect">
            <a:avLst/>
          </a:prstGeom>
          <a:noFill/>
          <a:ln>
            <a:noFill/>
          </a:ln>
        </p:spPr>
      </p:pic>
      <p:sp>
        <p:nvSpPr>
          <p:cNvPr id="1090" name="Google Shape;1090;p16"/>
          <p:cNvSpPr/>
          <p:nvPr/>
        </p:nvSpPr>
        <p:spPr>
          <a:xfrm>
            <a:off x="592802" y="3454840"/>
            <a:ext cx="2611939" cy="845574"/>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entury Gothic"/>
              <a:buNone/>
            </a:pPr>
            <a:r>
              <a:rPr lang="en-US" sz="1800" b="0" i="0" u="none" strike="noStrike" cap="none">
                <a:solidFill>
                  <a:srgbClr val="FFFFFF"/>
                </a:solidFill>
                <a:latin typeface="Century Gothic"/>
                <a:ea typeface="Century Gothic"/>
                <a:cs typeface="Century Gothic"/>
                <a:sym typeface="Century Gothic"/>
              </a:rPr>
              <a:t>Monotonic Ranking/Decaying</a:t>
            </a:r>
            <a:endParaRPr/>
          </a:p>
        </p:txBody>
      </p:sp>
      <p:cxnSp>
        <p:nvCxnSpPr>
          <p:cNvPr id="1091" name="Google Shape;1091;p16"/>
          <p:cNvCxnSpPr/>
          <p:nvPr/>
        </p:nvCxnSpPr>
        <p:spPr>
          <a:xfrm rot="10800000">
            <a:off x="625036" y="2868168"/>
            <a:ext cx="10814108" cy="0"/>
          </a:xfrm>
          <a:prstGeom prst="straightConnector1">
            <a:avLst/>
          </a:prstGeom>
          <a:noFill/>
          <a:ln w="9525" cap="flat" cmpd="sng">
            <a:solidFill>
              <a:schemeClr val="dk1"/>
            </a:solidFill>
            <a:prstDash val="dash"/>
            <a:round/>
            <a:headEnd type="none" w="sm" len="sm"/>
            <a:tailEnd type="none" w="sm" len="sm"/>
          </a:ln>
        </p:spPr>
      </p:cxnSp>
      <p:pic>
        <p:nvPicPr>
          <p:cNvPr id="1092" name="Google Shape;1092;p16"/>
          <p:cNvPicPr preferRelativeResize="0"/>
          <p:nvPr/>
        </p:nvPicPr>
        <p:blipFill rotWithShape="1">
          <a:blip r:embed="rId5">
            <a:alphaModFix/>
          </a:blip>
          <a:srcRect/>
          <a:stretch/>
        </p:blipFill>
        <p:spPr>
          <a:xfrm>
            <a:off x="3715435" y="2972272"/>
            <a:ext cx="2766049" cy="1986036"/>
          </a:xfrm>
          <a:prstGeom prst="rect">
            <a:avLst/>
          </a:prstGeom>
          <a:noFill/>
          <a:ln>
            <a:noFill/>
          </a:ln>
        </p:spPr>
      </p:pic>
      <p:pic>
        <p:nvPicPr>
          <p:cNvPr id="1093" name="Google Shape;1093;p16"/>
          <p:cNvPicPr preferRelativeResize="0"/>
          <p:nvPr/>
        </p:nvPicPr>
        <p:blipFill rotWithShape="1">
          <a:blip r:embed="rId6">
            <a:alphaModFix/>
          </a:blip>
          <a:srcRect/>
          <a:stretch/>
        </p:blipFill>
        <p:spPr>
          <a:xfrm>
            <a:off x="7884425" y="2923036"/>
            <a:ext cx="2795314" cy="2133592"/>
          </a:xfrm>
          <a:prstGeom prst="rect">
            <a:avLst/>
          </a:prstGeom>
          <a:noFill/>
          <a:ln>
            <a:noFill/>
          </a:ln>
        </p:spPr>
      </p:pic>
      <p:cxnSp>
        <p:nvCxnSpPr>
          <p:cNvPr id="1094" name="Google Shape;1094;p16"/>
          <p:cNvCxnSpPr/>
          <p:nvPr/>
        </p:nvCxnSpPr>
        <p:spPr>
          <a:xfrm rot="10800000">
            <a:off x="598211" y="5011642"/>
            <a:ext cx="10814108" cy="0"/>
          </a:xfrm>
          <a:prstGeom prst="straightConnector1">
            <a:avLst/>
          </a:prstGeom>
          <a:noFill/>
          <a:ln w="9525" cap="flat" cmpd="sng">
            <a:solidFill>
              <a:schemeClr val="dk1"/>
            </a:solidFill>
            <a:prstDash val="dash"/>
            <a:round/>
            <a:headEnd type="none" w="sm" len="sm"/>
            <a:tailEnd type="none" w="sm" len="sm"/>
          </a:ln>
        </p:spPr>
      </p:cxnSp>
      <p:sp>
        <p:nvSpPr>
          <p:cNvPr id="1095" name="Google Shape;1095;p16"/>
          <p:cNvSpPr/>
          <p:nvPr/>
        </p:nvSpPr>
        <p:spPr>
          <a:xfrm>
            <a:off x="515868" y="5235143"/>
            <a:ext cx="2611939" cy="845574"/>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entury Gothic"/>
              <a:buNone/>
            </a:pPr>
            <a:r>
              <a:rPr lang="en-US" sz="1800" b="0" i="0" u="none" strike="noStrike" cap="none">
                <a:solidFill>
                  <a:srgbClr val="FFFFFF"/>
                </a:solidFill>
                <a:latin typeface="Century Gothic"/>
                <a:ea typeface="Century Gothic"/>
                <a:cs typeface="Century Gothic"/>
                <a:sym typeface="Century Gothic"/>
              </a:rPr>
              <a:t>Top 5 Strong Features after WOE Analysis</a:t>
            </a:r>
            <a:endParaRPr/>
          </a:p>
        </p:txBody>
      </p:sp>
      <p:sp>
        <p:nvSpPr>
          <p:cNvPr id="1096" name="Google Shape;1096;p16"/>
          <p:cNvSpPr txBox="1"/>
          <p:nvPr/>
        </p:nvSpPr>
        <p:spPr>
          <a:xfrm>
            <a:off x="3622137" y="5173637"/>
            <a:ext cx="4086253"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Century Gothic"/>
                <a:ea typeface="Century Gothic"/>
                <a:cs typeface="Century Gothic"/>
                <a:sym typeface="Century Gothic"/>
              </a:rPr>
              <a:t>1) </a:t>
            </a:r>
            <a:r>
              <a:rPr lang="en-US" sz="1200" b="1">
                <a:solidFill>
                  <a:schemeClr val="dk1"/>
                </a:solidFill>
                <a:latin typeface="Century Gothic"/>
                <a:ea typeface="Century Gothic"/>
                <a:cs typeface="Century Gothic"/>
                <a:sym typeface="Century Gothic"/>
              </a:rPr>
              <a:t>tenure_hours</a:t>
            </a:r>
            <a:r>
              <a:rPr lang="en-US" sz="1200">
                <a:solidFill>
                  <a:schemeClr val="dk1"/>
                </a:solidFill>
                <a:latin typeface="Century Gothic"/>
                <a:ea typeface="Century Gothic"/>
                <a:cs typeface="Century Gothic"/>
                <a:sym typeface="Century Gothic"/>
              </a:rPr>
              <a:t> = 0.575544 </a:t>
            </a:r>
            <a:endParaRPr/>
          </a:p>
          <a:p>
            <a:pPr marL="0" marR="0" lvl="0" indent="0" algn="l" rtl="0">
              <a:spcBef>
                <a:spcPts val="0"/>
              </a:spcBef>
              <a:spcAft>
                <a:spcPts val="0"/>
              </a:spcAft>
              <a:buNone/>
            </a:pPr>
            <a:r>
              <a:rPr lang="en-US" sz="1200">
                <a:solidFill>
                  <a:schemeClr val="dk1"/>
                </a:solidFill>
                <a:latin typeface="Century Gothic"/>
                <a:ea typeface="Century Gothic"/>
                <a:cs typeface="Century Gothic"/>
                <a:sym typeface="Century Gothic"/>
              </a:rPr>
              <a:t>2) </a:t>
            </a:r>
            <a:r>
              <a:rPr lang="en-US" sz="1200" b="1">
                <a:solidFill>
                  <a:schemeClr val="dk1"/>
                </a:solidFill>
                <a:latin typeface="Century Gothic"/>
                <a:ea typeface="Century Gothic"/>
                <a:cs typeface="Century Gothic"/>
                <a:sym typeface="Century Gothic"/>
              </a:rPr>
              <a:t>diff_last_first_booking_time_days</a:t>
            </a:r>
            <a:r>
              <a:rPr lang="en-US" sz="1200">
                <a:solidFill>
                  <a:schemeClr val="dk1"/>
                </a:solidFill>
                <a:latin typeface="Century Gothic"/>
                <a:ea typeface="Century Gothic"/>
                <a:cs typeface="Century Gothic"/>
                <a:sym typeface="Century Gothic"/>
              </a:rPr>
              <a:t> = 0.575544</a:t>
            </a:r>
            <a:endParaRPr/>
          </a:p>
          <a:p>
            <a:pPr marL="0" marR="0" lvl="0" indent="0" algn="l" rtl="0">
              <a:spcBef>
                <a:spcPts val="0"/>
              </a:spcBef>
              <a:spcAft>
                <a:spcPts val="0"/>
              </a:spcAft>
              <a:buNone/>
            </a:pPr>
            <a:r>
              <a:rPr lang="en-US" sz="1200">
                <a:solidFill>
                  <a:schemeClr val="dk1"/>
                </a:solidFill>
                <a:latin typeface="Century Gothic"/>
                <a:ea typeface="Century Gothic"/>
                <a:cs typeface="Century Gothic"/>
                <a:sym typeface="Century Gothic"/>
              </a:rPr>
              <a:t>3) </a:t>
            </a:r>
            <a:r>
              <a:rPr lang="en-US" sz="1200" b="1">
                <a:solidFill>
                  <a:schemeClr val="dk1"/>
                </a:solidFill>
                <a:latin typeface="Century Gothic"/>
                <a:ea typeface="Century Gothic"/>
                <a:cs typeface="Century Gothic"/>
                <a:sym typeface="Century Gothic"/>
              </a:rPr>
              <a:t>diff_last_first_issued_time_days</a:t>
            </a:r>
            <a:r>
              <a:rPr lang="en-US" sz="1200">
                <a:solidFill>
                  <a:schemeClr val="dk1"/>
                </a:solidFill>
                <a:latin typeface="Century Gothic"/>
                <a:ea typeface="Century Gothic"/>
                <a:cs typeface="Century Gothic"/>
                <a:sym typeface="Century Gothic"/>
              </a:rPr>
              <a:t> = 0.521940</a:t>
            </a:r>
            <a:endParaRPr/>
          </a:p>
          <a:p>
            <a:pPr marL="0" marR="0" lvl="0" indent="0" algn="l" rtl="0">
              <a:spcBef>
                <a:spcPts val="0"/>
              </a:spcBef>
              <a:spcAft>
                <a:spcPts val="0"/>
              </a:spcAft>
              <a:buNone/>
            </a:pPr>
            <a:r>
              <a:rPr lang="en-US" sz="1200">
                <a:solidFill>
                  <a:schemeClr val="dk1"/>
                </a:solidFill>
                <a:latin typeface="Century Gothic"/>
                <a:ea typeface="Century Gothic"/>
                <a:cs typeface="Century Gothic"/>
                <a:sym typeface="Century Gothic"/>
              </a:rPr>
              <a:t>4) </a:t>
            </a:r>
            <a:r>
              <a:rPr lang="en-US" sz="1200" b="1">
                <a:solidFill>
                  <a:schemeClr val="dk1"/>
                </a:solidFill>
                <a:latin typeface="Century Gothic"/>
                <a:ea typeface="Century Gothic"/>
                <a:cs typeface="Century Gothic"/>
                <a:sym typeface="Century Gothic"/>
              </a:rPr>
              <a:t>count_issued</a:t>
            </a:r>
            <a:r>
              <a:rPr lang="en-US" sz="1200">
                <a:solidFill>
                  <a:schemeClr val="dk1"/>
                </a:solidFill>
                <a:latin typeface="Century Gothic"/>
                <a:ea typeface="Century Gothic"/>
                <a:cs typeface="Century Gothic"/>
                <a:sym typeface="Century Gothic"/>
              </a:rPr>
              <a:t> = 0.459246</a:t>
            </a:r>
            <a:endParaRPr/>
          </a:p>
          <a:p>
            <a:pPr marL="0" marR="0" lvl="0" indent="0" algn="l" rtl="0">
              <a:spcBef>
                <a:spcPts val="0"/>
              </a:spcBef>
              <a:spcAft>
                <a:spcPts val="0"/>
              </a:spcAft>
              <a:buNone/>
            </a:pPr>
            <a:r>
              <a:rPr lang="en-US" sz="1200">
                <a:solidFill>
                  <a:schemeClr val="dk1"/>
                </a:solidFill>
                <a:latin typeface="Century Gothic"/>
                <a:ea typeface="Century Gothic"/>
                <a:cs typeface="Century Gothic"/>
                <a:sym typeface="Century Gothic"/>
              </a:rPr>
              <a:t>5) </a:t>
            </a:r>
            <a:r>
              <a:rPr lang="en-US" sz="1200" b="1">
                <a:solidFill>
                  <a:schemeClr val="dk1"/>
                </a:solidFill>
                <a:latin typeface="Century Gothic"/>
                <a:ea typeface="Century Gothic"/>
                <a:cs typeface="Century Gothic"/>
                <a:sym typeface="Century Gothic"/>
              </a:rPr>
              <a:t>count_booking</a:t>
            </a:r>
            <a:r>
              <a:rPr lang="en-US" sz="1200">
                <a:solidFill>
                  <a:schemeClr val="dk1"/>
                </a:solidFill>
                <a:latin typeface="Century Gothic"/>
                <a:ea typeface="Century Gothic"/>
                <a:cs typeface="Century Gothic"/>
                <a:sym typeface="Century Gothic"/>
              </a:rPr>
              <a:t> = 0.458151</a:t>
            </a:r>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178" name="Google Shape;1178;p25"/>
          <p:cNvSpPr txBox="1"/>
          <p:nvPr/>
        </p:nvSpPr>
        <p:spPr>
          <a:xfrm>
            <a:off x="175325" y="233538"/>
            <a:ext cx="10202052" cy="307777"/>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Advanced Analysis and Feature Building – diff last first issued time days - recency</a:t>
            </a:r>
            <a:endParaRPr sz="2000" b="1" i="0" u="none" strike="noStrike" cap="none" dirty="0">
              <a:solidFill>
                <a:srgbClr val="FF0000"/>
              </a:solidFill>
              <a:latin typeface="Century Gothic"/>
              <a:ea typeface="Century Gothic"/>
              <a:cs typeface="Century Gothic"/>
              <a:sym typeface="Century Gothic"/>
            </a:endParaRPr>
          </a:p>
        </p:txBody>
      </p:sp>
      <p:pic>
        <p:nvPicPr>
          <p:cNvPr id="1179" name="Google Shape;1179;p25"/>
          <p:cNvPicPr preferRelativeResize="0"/>
          <p:nvPr/>
        </p:nvPicPr>
        <p:blipFill rotWithShape="1">
          <a:blip r:embed="rId3">
            <a:alphaModFix/>
          </a:blip>
          <a:srcRect/>
          <a:stretch/>
        </p:blipFill>
        <p:spPr>
          <a:xfrm>
            <a:off x="606933" y="868680"/>
            <a:ext cx="5883716" cy="2640901"/>
          </a:xfrm>
          <a:prstGeom prst="rect">
            <a:avLst/>
          </a:prstGeom>
          <a:noFill/>
          <a:ln>
            <a:noFill/>
          </a:ln>
        </p:spPr>
      </p:pic>
      <p:pic>
        <p:nvPicPr>
          <p:cNvPr id="1180" name="Google Shape;1180;p25"/>
          <p:cNvPicPr preferRelativeResize="0"/>
          <p:nvPr/>
        </p:nvPicPr>
        <p:blipFill rotWithShape="1">
          <a:blip r:embed="rId4">
            <a:alphaModFix/>
          </a:blip>
          <a:srcRect/>
          <a:stretch/>
        </p:blipFill>
        <p:spPr>
          <a:xfrm>
            <a:off x="7117842" y="868680"/>
            <a:ext cx="4467225" cy="3267075"/>
          </a:xfrm>
          <a:prstGeom prst="rect">
            <a:avLst/>
          </a:prstGeom>
          <a:noFill/>
          <a:ln>
            <a:noFill/>
          </a:ln>
        </p:spPr>
      </p:pic>
      <p:sp>
        <p:nvSpPr>
          <p:cNvPr id="1181" name="Google Shape;1181;p25"/>
          <p:cNvSpPr txBox="1"/>
          <p:nvPr/>
        </p:nvSpPr>
        <p:spPr>
          <a:xfrm>
            <a:off x="447550" y="4113648"/>
            <a:ext cx="6913369" cy="216982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000000"/>
              </a:buClr>
              <a:buSzPts val="1500"/>
              <a:buFont typeface="Century Gothic"/>
              <a:buAutoNum type="arabicPeriod"/>
            </a:pPr>
            <a:r>
              <a:rPr lang="en-US" sz="1500" b="0" dirty="0">
                <a:solidFill>
                  <a:srgbClr val="000000"/>
                </a:solidFill>
                <a:latin typeface="Century Gothic"/>
                <a:ea typeface="Century Gothic"/>
                <a:cs typeface="Century Gothic"/>
                <a:sym typeface="Century Gothic"/>
              </a:rPr>
              <a:t>Trave Customer Characteristics doesn’t </a:t>
            </a:r>
            <a:r>
              <a:rPr lang="en-US" sz="1500" dirty="0">
                <a:solidFill>
                  <a:srgbClr val="000000"/>
                </a:solidFill>
                <a:latin typeface="Century Gothic"/>
                <a:ea typeface="Century Gothic"/>
                <a:cs typeface="Century Gothic"/>
                <a:sym typeface="Century Gothic"/>
              </a:rPr>
              <a:t>often do transactions, there is a range of interval around 60 days/2 months each payment transactions</a:t>
            </a:r>
            <a:endParaRPr sz="1500" b="0" dirty="0">
              <a:solidFill>
                <a:srgbClr val="000000"/>
              </a:solidFill>
              <a:latin typeface="Century Gothic"/>
              <a:ea typeface="Century Gothic"/>
              <a:cs typeface="Century Gothic"/>
              <a:sym typeface="Century Gothic"/>
            </a:endParaRPr>
          </a:p>
          <a:p>
            <a:pPr marL="342900" marR="0" lvl="0" indent="-342900" algn="l" rtl="0">
              <a:spcBef>
                <a:spcPts val="0"/>
              </a:spcBef>
              <a:spcAft>
                <a:spcPts val="0"/>
              </a:spcAft>
              <a:buClr>
                <a:srgbClr val="000000"/>
              </a:buClr>
              <a:buSzPts val="1500"/>
              <a:buFont typeface="Century Gothic"/>
              <a:buAutoNum type="arabicPeriod"/>
            </a:pPr>
            <a:r>
              <a:rPr lang="en-US" sz="1500" b="0" dirty="0">
                <a:solidFill>
                  <a:srgbClr val="000000"/>
                </a:solidFill>
                <a:latin typeface="Century Gothic"/>
                <a:ea typeface="Century Gothic"/>
                <a:cs typeface="Century Gothic"/>
                <a:sym typeface="Century Gothic"/>
              </a:rPr>
              <a:t>Churn Recommendation should be changed into 60 days/ 2 month, so the treatment (observation starts after customer success issued until periods of time) should be done on 60 days/ 2month range </a:t>
            </a:r>
            <a:r>
              <a:rPr lang="en-US" sz="1500" dirty="0">
                <a:solidFill>
                  <a:srgbClr val="000000"/>
                </a:solidFill>
                <a:latin typeface="Century Gothic"/>
                <a:ea typeface="Century Gothic"/>
                <a:cs typeface="Century Gothic"/>
                <a:sym typeface="Century Gothic"/>
              </a:rPr>
              <a:t>of interval at customer journey transactions, </a:t>
            </a:r>
            <a:r>
              <a:rPr lang="en-US" sz="1500" b="1" dirty="0">
                <a:solidFill>
                  <a:srgbClr val="000000"/>
                </a:solidFill>
                <a:latin typeface="Century Gothic"/>
                <a:ea typeface="Century Gothic"/>
                <a:cs typeface="Century Gothic"/>
                <a:sym typeface="Century Gothic"/>
              </a:rPr>
              <a:t>the rest is more loyal</a:t>
            </a:r>
            <a:endParaRPr dirty="0"/>
          </a:p>
          <a:p>
            <a:pPr marL="342900" marR="0" lvl="0" indent="-342900" algn="l" rtl="0">
              <a:spcBef>
                <a:spcPts val="0"/>
              </a:spcBef>
              <a:spcAft>
                <a:spcPts val="0"/>
              </a:spcAft>
              <a:buClr>
                <a:srgbClr val="000000"/>
              </a:buClr>
              <a:buSzPts val="1500"/>
              <a:buFont typeface="Century Gothic"/>
              <a:buAutoNum type="arabicPeriod"/>
            </a:pPr>
            <a:r>
              <a:rPr lang="en-US" sz="1500" b="0" dirty="0">
                <a:solidFill>
                  <a:srgbClr val="000000"/>
                </a:solidFill>
                <a:latin typeface="Century Gothic"/>
                <a:ea typeface="Century Gothic"/>
                <a:cs typeface="Century Gothic"/>
                <a:sym typeface="Century Gothic"/>
              </a:rPr>
              <a:t>IV = </a:t>
            </a:r>
            <a:r>
              <a:rPr lang="en-US" sz="1500" b="1" dirty="0">
                <a:solidFill>
                  <a:srgbClr val="000000"/>
                </a:solidFill>
                <a:latin typeface="Century Gothic"/>
                <a:ea typeface="Century Gothic"/>
                <a:cs typeface="Century Gothic"/>
                <a:sym typeface="Century Gothic"/>
              </a:rPr>
              <a:t>0.52</a:t>
            </a:r>
            <a:r>
              <a:rPr lang="en-US" sz="1500" dirty="0">
                <a:solidFill>
                  <a:srgbClr val="000000"/>
                </a:solidFill>
                <a:latin typeface="Century Gothic"/>
                <a:ea typeface="Century Gothic"/>
                <a:cs typeface="Century Gothic"/>
                <a:sym typeface="Century Gothic"/>
              </a:rPr>
              <a:t>, Potential features as </a:t>
            </a:r>
            <a:r>
              <a:rPr lang="en-US" sz="1500" b="1" dirty="0">
                <a:solidFill>
                  <a:srgbClr val="000000"/>
                </a:solidFill>
                <a:latin typeface="Century Gothic"/>
                <a:ea typeface="Century Gothic"/>
                <a:cs typeface="Century Gothic"/>
                <a:sym typeface="Century Gothic"/>
              </a:rPr>
              <a:t>strong predictor </a:t>
            </a:r>
            <a:r>
              <a:rPr lang="en-US" sz="1500" dirty="0">
                <a:solidFill>
                  <a:srgbClr val="000000"/>
                </a:solidFill>
                <a:latin typeface="Century Gothic"/>
                <a:ea typeface="Century Gothic"/>
                <a:cs typeface="Century Gothic"/>
                <a:sym typeface="Century Gothic"/>
              </a:rPr>
              <a:t>and </a:t>
            </a:r>
            <a:r>
              <a:rPr lang="en-US" sz="1500" b="1" dirty="0">
                <a:solidFill>
                  <a:srgbClr val="000000"/>
                </a:solidFill>
                <a:latin typeface="Century Gothic"/>
                <a:ea typeface="Century Gothic"/>
                <a:cs typeface="Century Gothic"/>
                <a:sym typeface="Century Gothic"/>
              </a:rPr>
              <a:t>Monotonic Ranking</a:t>
            </a:r>
            <a:endParaRPr sz="1500" b="1" dirty="0">
              <a:solidFill>
                <a:srgbClr val="000000"/>
              </a:solidFill>
              <a:latin typeface="Century Gothic"/>
              <a:ea typeface="Century Gothic"/>
              <a:cs typeface="Century Gothic"/>
              <a:sym typeface="Century Gothic"/>
            </a:endParaRPr>
          </a:p>
        </p:txBody>
      </p:sp>
      <p:sp>
        <p:nvSpPr>
          <p:cNvPr id="1182" name="Google Shape;1182;p25"/>
          <p:cNvSpPr/>
          <p:nvPr/>
        </p:nvSpPr>
        <p:spPr>
          <a:xfrm>
            <a:off x="1083245" y="1194293"/>
            <a:ext cx="5398903" cy="222126"/>
          </a:xfrm>
          <a:prstGeom prst="rect">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p26"/>
          <p:cNvSpPr txBox="1"/>
          <p:nvPr/>
        </p:nvSpPr>
        <p:spPr>
          <a:xfrm>
            <a:off x="175325" y="233538"/>
            <a:ext cx="9710140" cy="307777"/>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Advanced Analysis and Feature Building – Count Issued Features - Frequency</a:t>
            </a:r>
            <a:endParaRPr sz="2000" b="1" i="0" u="none" strike="noStrike" cap="none" dirty="0">
              <a:solidFill>
                <a:srgbClr val="FF0000"/>
              </a:solidFill>
              <a:latin typeface="Century Gothic"/>
              <a:ea typeface="Century Gothic"/>
              <a:cs typeface="Century Gothic"/>
              <a:sym typeface="Century Gothic"/>
            </a:endParaRPr>
          </a:p>
        </p:txBody>
      </p:sp>
      <p:sp>
        <p:nvSpPr>
          <p:cNvPr id="1191" name="Google Shape;1191;p26"/>
          <p:cNvSpPr txBox="1"/>
          <p:nvPr/>
        </p:nvSpPr>
        <p:spPr>
          <a:xfrm>
            <a:off x="581774" y="4389582"/>
            <a:ext cx="6913369" cy="124645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000000"/>
              </a:buClr>
              <a:buSzPts val="1500"/>
              <a:buFont typeface="Century Gothic"/>
              <a:buAutoNum type="arabicPeriod"/>
            </a:pPr>
            <a:r>
              <a:rPr lang="en-US" sz="1500" b="0" dirty="0">
                <a:solidFill>
                  <a:srgbClr val="000000"/>
                </a:solidFill>
                <a:latin typeface="Century Gothic"/>
                <a:ea typeface="Century Gothic"/>
                <a:cs typeface="Century Gothic"/>
                <a:sym typeface="Century Gothic"/>
              </a:rPr>
              <a:t>The less transactions until issued, the </a:t>
            </a:r>
            <a:r>
              <a:rPr lang="en-US" sz="1500" dirty="0">
                <a:solidFill>
                  <a:srgbClr val="000000"/>
                </a:solidFill>
                <a:latin typeface="Century Gothic"/>
                <a:ea typeface="Century Gothic"/>
                <a:cs typeface="Century Gothic"/>
                <a:sym typeface="Century Gothic"/>
              </a:rPr>
              <a:t>more highly people to </a:t>
            </a:r>
            <a:r>
              <a:rPr lang="en-US" sz="1500" b="1" dirty="0">
                <a:solidFill>
                  <a:srgbClr val="000000"/>
                </a:solidFill>
                <a:latin typeface="Century Gothic"/>
                <a:ea typeface="Century Gothic"/>
                <a:cs typeface="Century Gothic"/>
                <a:sym typeface="Century Gothic"/>
              </a:rPr>
              <a:t>Churn</a:t>
            </a:r>
            <a:r>
              <a:rPr lang="en-US" sz="1500" dirty="0">
                <a:solidFill>
                  <a:srgbClr val="000000"/>
                </a:solidFill>
                <a:latin typeface="Century Gothic"/>
                <a:ea typeface="Century Gothic"/>
                <a:cs typeface="Century Gothic"/>
                <a:sym typeface="Century Gothic"/>
              </a:rPr>
              <a:t> because these people probably new comer that try to use an app for transactions</a:t>
            </a:r>
            <a:endParaRPr sz="1500" b="1" dirty="0">
              <a:solidFill>
                <a:srgbClr val="000000"/>
              </a:solidFill>
              <a:latin typeface="Century Gothic"/>
              <a:ea typeface="Century Gothic"/>
              <a:cs typeface="Century Gothic"/>
              <a:sym typeface="Century Gothic"/>
            </a:endParaRPr>
          </a:p>
          <a:p>
            <a:pPr marL="342900" marR="0" lvl="0" indent="-342900" algn="l" rtl="0">
              <a:spcBef>
                <a:spcPts val="0"/>
              </a:spcBef>
              <a:spcAft>
                <a:spcPts val="0"/>
              </a:spcAft>
              <a:buClr>
                <a:srgbClr val="000000"/>
              </a:buClr>
              <a:buSzPts val="1500"/>
              <a:buFont typeface="Century Gothic"/>
              <a:buAutoNum type="arabicPeriod"/>
            </a:pPr>
            <a:r>
              <a:rPr lang="en-US" sz="1500" b="0" dirty="0">
                <a:solidFill>
                  <a:srgbClr val="000000"/>
                </a:solidFill>
                <a:latin typeface="Century Gothic"/>
                <a:ea typeface="Century Gothic"/>
                <a:cs typeface="Century Gothic"/>
                <a:sym typeface="Century Gothic"/>
              </a:rPr>
              <a:t>IV = </a:t>
            </a:r>
            <a:r>
              <a:rPr lang="en-US" sz="1500" b="1" dirty="0">
                <a:solidFill>
                  <a:srgbClr val="000000"/>
                </a:solidFill>
                <a:latin typeface="Century Gothic"/>
                <a:ea typeface="Century Gothic"/>
                <a:cs typeface="Century Gothic"/>
                <a:sym typeface="Century Gothic"/>
              </a:rPr>
              <a:t>0.41</a:t>
            </a:r>
            <a:r>
              <a:rPr lang="en-US" sz="1500" dirty="0">
                <a:solidFill>
                  <a:srgbClr val="000000"/>
                </a:solidFill>
                <a:latin typeface="Century Gothic"/>
                <a:ea typeface="Century Gothic"/>
                <a:cs typeface="Century Gothic"/>
                <a:sym typeface="Century Gothic"/>
              </a:rPr>
              <a:t>, Potential features as </a:t>
            </a:r>
            <a:r>
              <a:rPr lang="en-US" sz="1500" b="1" dirty="0">
                <a:solidFill>
                  <a:srgbClr val="000000"/>
                </a:solidFill>
                <a:latin typeface="Century Gothic"/>
                <a:ea typeface="Century Gothic"/>
                <a:cs typeface="Century Gothic"/>
                <a:sym typeface="Century Gothic"/>
              </a:rPr>
              <a:t>strong predictor </a:t>
            </a:r>
            <a:r>
              <a:rPr lang="en-US" sz="1500" dirty="0">
                <a:solidFill>
                  <a:srgbClr val="000000"/>
                </a:solidFill>
                <a:latin typeface="Century Gothic"/>
                <a:ea typeface="Century Gothic"/>
                <a:cs typeface="Century Gothic"/>
                <a:sym typeface="Century Gothic"/>
              </a:rPr>
              <a:t>and </a:t>
            </a:r>
            <a:r>
              <a:rPr lang="en-US" sz="1500" b="1" dirty="0">
                <a:solidFill>
                  <a:srgbClr val="000000"/>
                </a:solidFill>
                <a:latin typeface="Century Gothic"/>
                <a:ea typeface="Century Gothic"/>
                <a:cs typeface="Century Gothic"/>
                <a:sym typeface="Century Gothic"/>
              </a:rPr>
              <a:t>Monotonic Ranking</a:t>
            </a:r>
            <a:endParaRPr sz="1500" b="1" dirty="0">
              <a:solidFill>
                <a:srgbClr val="000000"/>
              </a:solidFill>
              <a:latin typeface="Century Gothic"/>
              <a:ea typeface="Century Gothic"/>
              <a:cs typeface="Century Gothic"/>
              <a:sym typeface="Century Gothic"/>
            </a:endParaRPr>
          </a:p>
        </p:txBody>
      </p:sp>
      <p:pic>
        <p:nvPicPr>
          <p:cNvPr id="3" name="Picture 2">
            <a:extLst>
              <a:ext uri="{FF2B5EF4-FFF2-40B4-BE49-F238E27FC236}">
                <a16:creationId xmlns:a16="http://schemas.microsoft.com/office/drawing/2014/main" id="{9642D8BB-3390-4757-8590-8DF95D67DBA8}"/>
              </a:ext>
            </a:extLst>
          </p:cNvPr>
          <p:cNvPicPr>
            <a:picLocks noChangeAspect="1"/>
          </p:cNvPicPr>
          <p:nvPr/>
        </p:nvPicPr>
        <p:blipFill>
          <a:blip r:embed="rId3"/>
          <a:stretch>
            <a:fillRect/>
          </a:stretch>
        </p:blipFill>
        <p:spPr>
          <a:xfrm>
            <a:off x="407555" y="889307"/>
            <a:ext cx="6342518" cy="2693865"/>
          </a:xfrm>
          <a:prstGeom prst="rect">
            <a:avLst/>
          </a:prstGeom>
        </p:spPr>
      </p:pic>
      <p:pic>
        <p:nvPicPr>
          <p:cNvPr id="5" name="Picture 4">
            <a:extLst>
              <a:ext uri="{FF2B5EF4-FFF2-40B4-BE49-F238E27FC236}">
                <a16:creationId xmlns:a16="http://schemas.microsoft.com/office/drawing/2014/main" id="{3FDB8971-9677-40EE-A9F9-1E20EF89259D}"/>
              </a:ext>
            </a:extLst>
          </p:cNvPr>
          <p:cNvPicPr>
            <a:picLocks noChangeAspect="1"/>
          </p:cNvPicPr>
          <p:nvPr/>
        </p:nvPicPr>
        <p:blipFill>
          <a:blip r:embed="rId4"/>
          <a:stretch>
            <a:fillRect/>
          </a:stretch>
        </p:blipFill>
        <p:spPr>
          <a:xfrm>
            <a:off x="7154111" y="746603"/>
            <a:ext cx="4353684" cy="3272504"/>
          </a:xfrm>
          <a:prstGeom prst="rect">
            <a:avLst/>
          </a:prstGeom>
        </p:spPr>
      </p:pic>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p26"/>
          <p:cNvSpPr txBox="1"/>
          <p:nvPr/>
        </p:nvSpPr>
        <p:spPr>
          <a:xfrm>
            <a:off x="175324" y="233538"/>
            <a:ext cx="11148349" cy="307777"/>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Advanced Analysis and Feature Building – Invoice per Count Issued Features - Monetary</a:t>
            </a:r>
            <a:endParaRPr sz="2000" b="1" i="0" u="none" strike="noStrike" cap="none" dirty="0">
              <a:solidFill>
                <a:srgbClr val="FF0000"/>
              </a:solidFill>
              <a:latin typeface="Century Gothic"/>
              <a:ea typeface="Century Gothic"/>
              <a:cs typeface="Century Gothic"/>
              <a:sym typeface="Century Gothic"/>
            </a:endParaRPr>
          </a:p>
        </p:txBody>
      </p:sp>
      <p:sp>
        <p:nvSpPr>
          <p:cNvPr id="1191" name="Google Shape;1191;p26"/>
          <p:cNvSpPr txBox="1"/>
          <p:nvPr/>
        </p:nvSpPr>
        <p:spPr>
          <a:xfrm>
            <a:off x="581774" y="4389582"/>
            <a:ext cx="6913369" cy="1477287"/>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000000"/>
              </a:buClr>
              <a:buSzPts val="1500"/>
              <a:buFont typeface="Century Gothic"/>
              <a:buAutoNum type="arabicPeriod"/>
            </a:pPr>
            <a:r>
              <a:rPr lang="en-US" sz="1500" b="0" dirty="0">
                <a:solidFill>
                  <a:srgbClr val="000000"/>
                </a:solidFill>
                <a:latin typeface="Century Gothic"/>
                <a:ea typeface="Century Gothic"/>
                <a:cs typeface="Century Gothic"/>
                <a:sym typeface="Century Gothic"/>
              </a:rPr>
              <a:t>The more expensive invoice per count issued, the </a:t>
            </a:r>
            <a:r>
              <a:rPr lang="en-US" sz="1500" dirty="0">
                <a:solidFill>
                  <a:srgbClr val="000000"/>
                </a:solidFill>
                <a:latin typeface="Century Gothic"/>
                <a:ea typeface="Century Gothic"/>
                <a:cs typeface="Century Gothic"/>
                <a:sym typeface="Century Gothic"/>
              </a:rPr>
              <a:t>more highly people to churn because the natural business </a:t>
            </a:r>
            <a:r>
              <a:rPr lang="en-US" sz="1500" dirty="0" err="1">
                <a:solidFill>
                  <a:srgbClr val="000000"/>
                </a:solidFill>
                <a:latin typeface="Century Gothic"/>
                <a:ea typeface="Century Gothic"/>
                <a:cs typeface="Century Gothic"/>
                <a:sym typeface="Century Gothic"/>
              </a:rPr>
              <a:t>behaviour</a:t>
            </a:r>
            <a:r>
              <a:rPr lang="en-US" sz="1500" dirty="0">
                <a:solidFill>
                  <a:srgbClr val="000000"/>
                </a:solidFill>
                <a:latin typeface="Century Gothic"/>
                <a:ea typeface="Century Gothic"/>
                <a:cs typeface="Century Gothic"/>
                <a:sym typeface="Century Gothic"/>
              </a:rPr>
              <a:t> such as Travelok</a:t>
            </a:r>
            <a:r>
              <a:rPr lang="en-US" sz="1500" dirty="0">
                <a:latin typeface="Century Gothic"/>
                <a:ea typeface="Century Gothic"/>
                <a:cs typeface="Century Gothic"/>
                <a:sym typeface="Century Gothic"/>
              </a:rPr>
              <a:t>a or OTA, the customer go to holiday maximum twice in a year</a:t>
            </a:r>
            <a:endParaRPr sz="1500" b="1" dirty="0">
              <a:solidFill>
                <a:srgbClr val="000000"/>
              </a:solidFill>
              <a:latin typeface="Century Gothic"/>
              <a:ea typeface="Century Gothic"/>
              <a:cs typeface="Century Gothic"/>
              <a:sym typeface="Century Gothic"/>
            </a:endParaRPr>
          </a:p>
          <a:p>
            <a:pPr marL="342900" marR="0" lvl="0" indent="-342900" algn="l" rtl="0">
              <a:spcBef>
                <a:spcPts val="0"/>
              </a:spcBef>
              <a:spcAft>
                <a:spcPts val="0"/>
              </a:spcAft>
              <a:buClr>
                <a:srgbClr val="000000"/>
              </a:buClr>
              <a:buSzPts val="1500"/>
              <a:buFont typeface="Century Gothic"/>
              <a:buAutoNum type="arabicPeriod"/>
            </a:pPr>
            <a:r>
              <a:rPr lang="en-US" sz="1500" b="0" dirty="0">
                <a:solidFill>
                  <a:srgbClr val="000000"/>
                </a:solidFill>
                <a:latin typeface="Century Gothic"/>
                <a:ea typeface="Century Gothic"/>
                <a:cs typeface="Century Gothic"/>
                <a:sym typeface="Century Gothic"/>
              </a:rPr>
              <a:t>IV = </a:t>
            </a:r>
            <a:r>
              <a:rPr lang="en-US" sz="1500" b="1" dirty="0">
                <a:solidFill>
                  <a:srgbClr val="000000"/>
                </a:solidFill>
                <a:latin typeface="Century Gothic"/>
                <a:ea typeface="Century Gothic"/>
                <a:cs typeface="Century Gothic"/>
                <a:sym typeface="Century Gothic"/>
              </a:rPr>
              <a:t>0.36</a:t>
            </a:r>
            <a:r>
              <a:rPr lang="en-US" sz="1500" dirty="0">
                <a:solidFill>
                  <a:srgbClr val="000000"/>
                </a:solidFill>
                <a:latin typeface="Century Gothic"/>
                <a:ea typeface="Century Gothic"/>
                <a:cs typeface="Century Gothic"/>
                <a:sym typeface="Century Gothic"/>
              </a:rPr>
              <a:t>, Potential features as </a:t>
            </a:r>
            <a:r>
              <a:rPr lang="en-US" sz="1500" b="1" dirty="0">
                <a:solidFill>
                  <a:srgbClr val="000000"/>
                </a:solidFill>
                <a:latin typeface="Century Gothic"/>
                <a:ea typeface="Century Gothic"/>
                <a:cs typeface="Century Gothic"/>
                <a:sym typeface="Century Gothic"/>
              </a:rPr>
              <a:t>strong predictor </a:t>
            </a:r>
            <a:r>
              <a:rPr lang="en-US" sz="1500" dirty="0">
                <a:solidFill>
                  <a:srgbClr val="000000"/>
                </a:solidFill>
                <a:latin typeface="Century Gothic"/>
                <a:ea typeface="Century Gothic"/>
                <a:cs typeface="Century Gothic"/>
                <a:sym typeface="Century Gothic"/>
              </a:rPr>
              <a:t>and </a:t>
            </a:r>
            <a:r>
              <a:rPr lang="en-US" sz="1500" b="1" dirty="0">
                <a:solidFill>
                  <a:srgbClr val="000000"/>
                </a:solidFill>
                <a:latin typeface="Century Gothic"/>
                <a:ea typeface="Century Gothic"/>
                <a:cs typeface="Century Gothic"/>
                <a:sym typeface="Century Gothic"/>
              </a:rPr>
              <a:t>Monotonic </a:t>
            </a:r>
            <a:r>
              <a:rPr lang="en-US" sz="1500" b="1" dirty="0">
                <a:latin typeface="Century Gothic"/>
                <a:ea typeface="Century Gothic"/>
                <a:cs typeface="Century Gothic"/>
                <a:sym typeface="Century Gothic"/>
              </a:rPr>
              <a:t>Decaying</a:t>
            </a:r>
            <a:endParaRPr sz="1500" b="1" dirty="0">
              <a:solidFill>
                <a:srgbClr val="000000"/>
              </a:solidFill>
              <a:latin typeface="Century Gothic"/>
              <a:ea typeface="Century Gothic"/>
              <a:cs typeface="Century Gothic"/>
              <a:sym typeface="Century Gothic"/>
            </a:endParaRPr>
          </a:p>
        </p:txBody>
      </p:sp>
      <p:pic>
        <p:nvPicPr>
          <p:cNvPr id="4" name="Picture 3">
            <a:extLst>
              <a:ext uri="{FF2B5EF4-FFF2-40B4-BE49-F238E27FC236}">
                <a16:creationId xmlns:a16="http://schemas.microsoft.com/office/drawing/2014/main" id="{ACBDCD19-05C5-4614-A76A-6922D8B46CA9}"/>
              </a:ext>
            </a:extLst>
          </p:cNvPr>
          <p:cNvPicPr>
            <a:picLocks noChangeAspect="1"/>
          </p:cNvPicPr>
          <p:nvPr/>
        </p:nvPicPr>
        <p:blipFill>
          <a:blip r:embed="rId3"/>
          <a:stretch>
            <a:fillRect/>
          </a:stretch>
        </p:blipFill>
        <p:spPr>
          <a:xfrm>
            <a:off x="175323" y="746603"/>
            <a:ext cx="6597319" cy="3357564"/>
          </a:xfrm>
          <a:prstGeom prst="rect">
            <a:avLst/>
          </a:prstGeom>
        </p:spPr>
      </p:pic>
      <p:pic>
        <p:nvPicPr>
          <p:cNvPr id="7" name="Picture 6">
            <a:extLst>
              <a:ext uri="{FF2B5EF4-FFF2-40B4-BE49-F238E27FC236}">
                <a16:creationId xmlns:a16="http://schemas.microsoft.com/office/drawing/2014/main" id="{ECB1A8B1-D1FF-43AF-8921-71D484783259}"/>
              </a:ext>
            </a:extLst>
          </p:cNvPr>
          <p:cNvPicPr>
            <a:picLocks noChangeAspect="1"/>
          </p:cNvPicPr>
          <p:nvPr/>
        </p:nvPicPr>
        <p:blipFill>
          <a:blip r:embed="rId4"/>
          <a:stretch>
            <a:fillRect/>
          </a:stretch>
        </p:blipFill>
        <p:spPr>
          <a:xfrm>
            <a:off x="6960634" y="646928"/>
            <a:ext cx="4832304" cy="3642979"/>
          </a:xfrm>
          <a:prstGeom prst="rect">
            <a:avLst/>
          </a:prstGeom>
        </p:spPr>
      </p:pic>
    </p:spTree>
    <p:extLst>
      <p:ext uri="{BB962C8B-B14F-4D97-AF65-F5344CB8AC3E}">
        <p14:creationId xmlns:p14="http://schemas.microsoft.com/office/powerpoint/2010/main" val="104343797"/>
      </p:ext>
    </p:extLst>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15"/>
        <p:cNvGrpSpPr/>
        <p:nvPr/>
      </p:nvGrpSpPr>
      <p:grpSpPr>
        <a:xfrm>
          <a:off x="0" y="0"/>
          <a:ext cx="0" cy="0"/>
          <a:chOff x="0" y="0"/>
          <a:chExt cx="0" cy="0"/>
        </a:xfrm>
      </p:grpSpPr>
      <p:sp>
        <p:nvSpPr>
          <p:cNvPr id="1216" name="Google Shape;1216;p29"/>
          <p:cNvSpPr/>
          <p:nvPr/>
        </p:nvSpPr>
        <p:spPr>
          <a:xfrm>
            <a:off x="0" y="0"/>
            <a:ext cx="4383314" cy="6858000"/>
          </a:xfrm>
          <a:prstGeom prst="rect">
            <a:avLst/>
          </a:prstGeom>
          <a:solidFill>
            <a:srgbClr val="222A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0000"/>
              </a:solidFill>
              <a:latin typeface="Calibri"/>
              <a:ea typeface="Calibri"/>
              <a:cs typeface="Calibri"/>
              <a:sym typeface="Calibri"/>
            </a:endParaRPr>
          </a:p>
        </p:txBody>
      </p:sp>
      <p:sp>
        <p:nvSpPr>
          <p:cNvPr id="1217" name="Google Shape;1217;p29"/>
          <p:cNvSpPr txBox="1"/>
          <p:nvPr/>
        </p:nvSpPr>
        <p:spPr>
          <a:xfrm>
            <a:off x="-83054" y="2537450"/>
            <a:ext cx="4368800"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a:solidFill>
                  <a:schemeClr val="lt1"/>
                </a:solidFill>
                <a:latin typeface="Century Gothic"/>
                <a:ea typeface="Century Gothic"/>
                <a:cs typeface="Century Gothic"/>
                <a:sym typeface="Century Gothic"/>
              </a:rPr>
              <a:t>Modelling</a:t>
            </a:r>
            <a:endParaRPr/>
          </a:p>
        </p:txBody>
      </p:sp>
      <p:sp>
        <p:nvSpPr>
          <p:cNvPr id="1218" name="Google Shape;1218;p29"/>
          <p:cNvSpPr/>
          <p:nvPr/>
        </p:nvSpPr>
        <p:spPr>
          <a:xfrm>
            <a:off x="4383314" y="-9713"/>
            <a:ext cx="7808686"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219" name="Google Shape;1219;p29"/>
          <p:cNvSpPr/>
          <p:nvPr/>
        </p:nvSpPr>
        <p:spPr>
          <a:xfrm rot="10800000" flipH="1">
            <a:off x="4905291" y="1993955"/>
            <a:ext cx="2351313" cy="2568338"/>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D7141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220" name="Google Shape;1220;p29"/>
          <p:cNvSpPr/>
          <p:nvPr/>
        </p:nvSpPr>
        <p:spPr>
          <a:xfrm rot="10800000" flipH="1">
            <a:off x="9578894" y="1980720"/>
            <a:ext cx="2351313" cy="2568338"/>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1221" name="Google Shape;1221;p29"/>
          <p:cNvGrpSpPr/>
          <p:nvPr/>
        </p:nvGrpSpPr>
        <p:grpSpPr>
          <a:xfrm>
            <a:off x="6042476" y="309601"/>
            <a:ext cx="2315938" cy="5312578"/>
            <a:chOff x="6042476" y="309601"/>
            <a:chExt cx="2315938" cy="5312578"/>
          </a:xfrm>
        </p:grpSpPr>
        <p:sp>
          <p:nvSpPr>
            <p:cNvPr id="1222" name="Google Shape;1222;p29"/>
            <p:cNvSpPr/>
            <p:nvPr/>
          </p:nvSpPr>
          <p:spPr>
            <a:xfrm rot="10800000" flipH="1">
              <a:off x="7952014" y="309601"/>
              <a:ext cx="406400" cy="435777"/>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87AE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223" name="Google Shape;1223;p29"/>
            <p:cNvSpPr/>
            <p:nvPr/>
          </p:nvSpPr>
          <p:spPr>
            <a:xfrm rot="10800000" flipH="1">
              <a:off x="6042476" y="5186753"/>
              <a:ext cx="385538" cy="435426"/>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4DABC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grpSp>
        <p:nvGrpSpPr>
          <p:cNvPr id="1224" name="Google Shape;1224;p29"/>
          <p:cNvGrpSpPr/>
          <p:nvPr/>
        </p:nvGrpSpPr>
        <p:grpSpPr>
          <a:xfrm>
            <a:off x="5056952" y="1064692"/>
            <a:ext cx="6546350" cy="4350905"/>
            <a:chOff x="5191376" y="1882501"/>
            <a:chExt cx="6546350" cy="4350905"/>
          </a:xfrm>
        </p:grpSpPr>
        <p:grpSp>
          <p:nvGrpSpPr>
            <p:cNvPr id="1225" name="Google Shape;1225;p29"/>
            <p:cNvGrpSpPr/>
            <p:nvPr/>
          </p:nvGrpSpPr>
          <p:grpSpPr>
            <a:xfrm>
              <a:off x="5272885" y="1980720"/>
              <a:ext cx="6464841" cy="4252686"/>
              <a:chOff x="4667618" y="827314"/>
              <a:chExt cx="6464841" cy="4252686"/>
            </a:xfrm>
          </p:grpSpPr>
          <p:sp>
            <p:nvSpPr>
              <p:cNvPr id="1226" name="Google Shape;1226;p29"/>
              <p:cNvSpPr/>
              <p:nvPr/>
            </p:nvSpPr>
            <p:spPr>
              <a:xfrm rot="10800000" flipH="1">
                <a:off x="4667618" y="1207246"/>
                <a:ext cx="2604039" cy="3466353"/>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227" name="Google Shape;1227;p29"/>
              <p:cNvSpPr/>
              <p:nvPr/>
            </p:nvSpPr>
            <p:spPr>
              <a:xfrm rot="10800000" flipH="1">
                <a:off x="6373049" y="1030514"/>
                <a:ext cx="2770952" cy="3831772"/>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228" name="Google Shape;1228;p29"/>
              <p:cNvSpPr/>
              <p:nvPr/>
            </p:nvSpPr>
            <p:spPr>
              <a:xfrm rot="10800000" flipH="1">
                <a:off x="8165565" y="827314"/>
                <a:ext cx="2966894" cy="4252686"/>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sp>
          <p:nvSpPr>
            <p:cNvPr id="1229" name="Google Shape;1229;p29"/>
            <p:cNvSpPr/>
            <p:nvPr/>
          </p:nvSpPr>
          <p:spPr>
            <a:xfrm rot="10800000" flipH="1">
              <a:off x="5191376" y="1882501"/>
              <a:ext cx="6464841" cy="4252686"/>
            </a:xfrm>
            <a:custGeom>
              <a:avLst/>
              <a:gdLst/>
              <a:ahLst/>
              <a:cxnLst/>
              <a:rect l="l" t="t" r="r" b="b"/>
              <a:pathLst>
                <a:path w="6464841" h="4252686" extrusionOk="0">
                  <a:moveTo>
                    <a:pt x="0" y="3872754"/>
                  </a:moveTo>
                  <a:lnTo>
                    <a:pt x="1738482" y="3872754"/>
                  </a:lnTo>
                  <a:lnTo>
                    <a:pt x="2604039" y="2139578"/>
                  </a:lnTo>
                  <a:lnTo>
                    <a:pt x="1738482" y="406401"/>
                  </a:lnTo>
                  <a:lnTo>
                    <a:pt x="0" y="406401"/>
                  </a:lnTo>
                  <a:lnTo>
                    <a:pt x="865558" y="2139578"/>
                  </a:lnTo>
                  <a:close/>
                  <a:moveTo>
                    <a:pt x="1705431" y="4049486"/>
                  </a:moveTo>
                  <a:lnTo>
                    <a:pt x="3555345" y="4049486"/>
                  </a:lnTo>
                  <a:lnTo>
                    <a:pt x="4476383" y="2133600"/>
                  </a:lnTo>
                  <a:lnTo>
                    <a:pt x="3555345" y="217714"/>
                  </a:lnTo>
                  <a:lnTo>
                    <a:pt x="1705431" y="217714"/>
                  </a:lnTo>
                  <a:lnTo>
                    <a:pt x="2626469" y="2133600"/>
                  </a:lnTo>
                  <a:close/>
                  <a:moveTo>
                    <a:pt x="3497947" y="4252686"/>
                  </a:moveTo>
                  <a:lnTo>
                    <a:pt x="5478674" y="4252686"/>
                  </a:lnTo>
                  <a:lnTo>
                    <a:pt x="6464841" y="2126343"/>
                  </a:lnTo>
                  <a:lnTo>
                    <a:pt x="5478674" y="0"/>
                  </a:lnTo>
                  <a:lnTo>
                    <a:pt x="3497947" y="0"/>
                  </a:lnTo>
                  <a:lnTo>
                    <a:pt x="4484114" y="2126343"/>
                  </a:lnTo>
                  <a:close/>
                </a:path>
              </a:pathLst>
            </a:custGeom>
            <a:blipFill rotWithShape="1">
              <a:blip r:embed="rId5">
                <a:alphaModFix amt="25000"/>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17"/>
                                        </p:tgtEl>
                                        <p:attrNameLst>
                                          <p:attrName>style.visibility</p:attrName>
                                        </p:attrNameLst>
                                      </p:cBhvr>
                                      <p:to>
                                        <p:strVal val="visible"/>
                                      </p:to>
                                    </p:set>
                                    <p:animEffect transition="in" filter="fade">
                                      <p:cBhvr>
                                        <p:cTn id="7" dur="500"/>
                                        <p:tgtEl>
                                          <p:spTgt spid="1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pic>
        <p:nvPicPr>
          <p:cNvPr id="4" name="Picture 3">
            <a:extLst>
              <a:ext uri="{FF2B5EF4-FFF2-40B4-BE49-F238E27FC236}">
                <a16:creationId xmlns:a16="http://schemas.microsoft.com/office/drawing/2014/main" id="{3C6BD30F-927C-41BF-97C3-E82614A17BDF}"/>
              </a:ext>
            </a:extLst>
          </p:cNvPr>
          <p:cNvPicPr>
            <a:picLocks noChangeAspect="1"/>
          </p:cNvPicPr>
          <p:nvPr/>
        </p:nvPicPr>
        <p:blipFill>
          <a:blip r:embed="rId3"/>
          <a:stretch>
            <a:fillRect/>
          </a:stretch>
        </p:blipFill>
        <p:spPr>
          <a:xfrm>
            <a:off x="137709" y="1432719"/>
            <a:ext cx="5855192" cy="4400961"/>
          </a:xfrm>
          <a:prstGeom prst="rect">
            <a:avLst/>
          </a:prstGeom>
        </p:spPr>
      </p:pic>
      <p:sp>
        <p:nvSpPr>
          <p:cNvPr id="1235" name="Google Shape;1235;p30"/>
          <p:cNvSpPr txBox="1">
            <a:spLocks noGrp="1"/>
          </p:cNvSpPr>
          <p:nvPr>
            <p:ph type="title"/>
          </p:nvPr>
        </p:nvSpPr>
        <p:spPr>
          <a:xfrm>
            <a:off x="415600" y="73367"/>
            <a:ext cx="6768800" cy="763600"/>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Clr>
                <a:srgbClr val="00B0F0"/>
              </a:buClr>
              <a:buSzPts val="2800"/>
              <a:buFont typeface="Century Gothic"/>
              <a:buNone/>
            </a:pPr>
            <a:r>
              <a:rPr lang="en-US" sz="2000" dirty="0">
                <a:solidFill>
                  <a:srgbClr val="FF0000"/>
                </a:solidFill>
                <a:latin typeface="Century Gothic"/>
                <a:ea typeface="Century Gothic"/>
                <a:cs typeface="Century Gothic"/>
                <a:sym typeface="Century Gothic"/>
              </a:rPr>
              <a:t>Logit Analysis - Sanity Check</a:t>
            </a:r>
            <a:endParaRPr sz="2000" dirty="0">
              <a:solidFill>
                <a:srgbClr val="FF0000"/>
              </a:solidFill>
              <a:latin typeface="Century Gothic"/>
              <a:ea typeface="Century Gothic"/>
              <a:cs typeface="Century Gothic"/>
              <a:sym typeface="Century Gothic"/>
            </a:endParaRPr>
          </a:p>
        </p:txBody>
      </p:sp>
      <p:sp>
        <p:nvSpPr>
          <p:cNvPr id="1236" name="Google Shape;1236;p30"/>
          <p:cNvSpPr txBox="1"/>
          <p:nvPr/>
        </p:nvSpPr>
        <p:spPr>
          <a:xfrm>
            <a:off x="6417100" y="3794409"/>
            <a:ext cx="2782400" cy="863200"/>
          </a:xfrm>
          <a:prstGeom prst="rect">
            <a:avLst/>
          </a:prstGeom>
          <a:noFill/>
          <a:ln w="19050" cap="flat" cmpd="sng">
            <a:solidFill>
              <a:srgbClr val="F1C232"/>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333" b="1" dirty="0">
                <a:solidFill>
                  <a:srgbClr val="6AA84F"/>
                </a:solidFill>
                <a:latin typeface="Maven Pro"/>
                <a:ea typeface="Maven Pro"/>
                <a:cs typeface="Maven Pro"/>
                <a:sym typeface="Maven Pro"/>
              </a:rPr>
              <a:t>Positive Sign</a:t>
            </a:r>
            <a:r>
              <a:rPr lang="en-US" sz="1333" b="1" dirty="0">
                <a:solidFill>
                  <a:schemeClr val="dk1"/>
                </a:solidFill>
                <a:latin typeface="Maven Pro"/>
                <a:ea typeface="Maven Pro"/>
                <a:cs typeface="Maven Pro"/>
                <a:sym typeface="Maven Pro"/>
              </a:rPr>
              <a:t>, indicating the higher invoice amount toward churn on the next cohort.</a:t>
            </a:r>
            <a:endParaRPr sz="1333" b="1" dirty="0">
              <a:solidFill>
                <a:schemeClr val="dk1"/>
              </a:solidFill>
              <a:latin typeface="Maven Pro"/>
              <a:ea typeface="Maven Pro"/>
              <a:cs typeface="Maven Pro"/>
              <a:sym typeface="Maven Pro"/>
            </a:endParaRPr>
          </a:p>
        </p:txBody>
      </p:sp>
      <p:cxnSp>
        <p:nvCxnSpPr>
          <p:cNvPr id="1238" name="Google Shape;1238;p30"/>
          <p:cNvCxnSpPr>
            <a:cxnSpLocks/>
            <a:endCxn id="1239" idx="1"/>
          </p:cNvCxnSpPr>
          <p:nvPr/>
        </p:nvCxnSpPr>
        <p:spPr>
          <a:xfrm>
            <a:off x="3228230" y="5425281"/>
            <a:ext cx="3045298" cy="300861"/>
          </a:xfrm>
          <a:prstGeom prst="curvedConnector3">
            <a:avLst>
              <a:gd name="adj1" fmla="val 50000"/>
            </a:avLst>
          </a:prstGeom>
          <a:noFill/>
          <a:ln w="19050" cap="flat" cmpd="sng">
            <a:solidFill>
              <a:srgbClr val="9900FF"/>
            </a:solidFill>
            <a:prstDash val="solid"/>
            <a:round/>
            <a:headEnd type="none" w="sm" len="sm"/>
            <a:tailEnd type="triangle" w="med" len="med"/>
          </a:ln>
        </p:spPr>
      </p:cxnSp>
      <p:sp>
        <p:nvSpPr>
          <p:cNvPr id="1239" name="Google Shape;1239;p30"/>
          <p:cNvSpPr txBox="1"/>
          <p:nvPr/>
        </p:nvSpPr>
        <p:spPr>
          <a:xfrm>
            <a:off x="6273528" y="5089209"/>
            <a:ext cx="3776000" cy="1273866"/>
          </a:xfrm>
          <a:prstGeom prst="rect">
            <a:avLst/>
          </a:prstGeom>
          <a:noFill/>
          <a:ln w="19050" cap="flat" cmpd="sng">
            <a:solidFill>
              <a:srgbClr val="F1C232"/>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333" b="1" dirty="0">
                <a:solidFill>
                  <a:srgbClr val="FF0000"/>
                </a:solidFill>
                <a:latin typeface="Maven Pro"/>
                <a:ea typeface="Maven Pro"/>
                <a:cs typeface="Maven Pro"/>
                <a:sym typeface="Maven Pro"/>
              </a:rPr>
              <a:t>Negative Sign</a:t>
            </a:r>
            <a:r>
              <a:rPr lang="en-US" sz="1333" b="1" dirty="0">
                <a:solidFill>
                  <a:schemeClr val="dk1"/>
                </a:solidFill>
                <a:latin typeface="Maven Pro"/>
                <a:ea typeface="Maven Pro"/>
                <a:cs typeface="Maven Pro"/>
                <a:sym typeface="Maven Pro"/>
              </a:rPr>
              <a:t>, Indicating the longer the </a:t>
            </a:r>
            <a:r>
              <a:rPr lang="en-US" sz="1333" b="1" dirty="0" err="1">
                <a:solidFill>
                  <a:schemeClr val="dk1"/>
                </a:solidFill>
                <a:latin typeface="Maven Pro"/>
                <a:ea typeface="Maven Pro"/>
                <a:cs typeface="Maven Pro"/>
                <a:sym typeface="Maven Pro"/>
              </a:rPr>
              <a:t>the</a:t>
            </a:r>
            <a:r>
              <a:rPr lang="en-US" sz="1333" b="1" dirty="0">
                <a:solidFill>
                  <a:schemeClr val="dk1"/>
                </a:solidFill>
                <a:latin typeface="Maven Pro"/>
                <a:ea typeface="Maven Pro"/>
                <a:cs typeface="Maven Pro"/>
                <a:sym typeface="Maven Pro"/>
              </a:rPr>
              <a:t> more longer difference between first booking time to last booking time tend to more loyal customer and have more recent/frequent Traveloka Purchase</a:t>
            </a:r>
            <a:endParaRPr sz="1333" b="1" dirty="0">
              <a:solidFill>
                <a:schemeClr val="dk1"/>
              </a:solidFill>
              <a:latin typeface="Maven Pro"/>
              <a:ea typeface="Maven Pro"/>
              <a:cs typeface="Maven Pro"/>
              <a:sym typeface="Maven Pro"/>
            </a:endParaRPr>
          </a:p>
        </p:txBody>
      </p:sp>
      <p:sp>
        <p:nvSpPr>
          <p:cNvPr id="1241" name="Google Shape;1241;p30"/>
          <p:cNvSpPr txBox="1"/>
          <p:nvPr/>
        </p:nvSpPr>
        <p:spPr>
          <a:xfrm>
            <a:off x="6199100" y="1881751"/>
            <a:ext cx="3000400" cy="1149600"/>
          </a:xfrm>
          <a:prstGeom prst="rect">
            <a:avLst/>
          </a:prstGeom>
          <a:noFill/>
          <a:ln w="19050" cap="flat" cmpd="sng">
            <a:solidFill>
              <a:srgbClr val="F1C232"/>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600" b="1">
                <a:solidFill>
                  <a:schemeClr val="dk1"/>
                </a:solidFill>
                <a:latin typeface="Maven Pro"/>
                <a:ea typeface="Maven Pro"/>
                <a:cs typeface="Maven Pro"/>
                <a:sym typeface="Maven Pro"/>
              </a:rPr>
              <a:t>All Signal is </a:t>
            </a:r>
            <a:r>
              <a:rPr lang="en-US" sz="1600" b="1">
                <a:solidFill>
                  <a:srgbClr val="93C47D"/>
                </a:solidFill>
                <a:latin typeface="Maven Pro"/>
                <a:ea typeface="Maven Pro"/>
                <a:cs typeface="Maven Pro"/>
                <a:sym typeface="Maven Pro"/>
              </a:rPr>
              <a:t>OK</a:t>
            </a:r>
            <a:r>
              <a:rPr lang="en-US" sz="1600" b="1">
                <a:solidFill>
                  <a:schemeClr val="dk1"/>
                </a:solidFill>
                <a:latin typeface="Maven Pro"/>
                <a:ea typeface="Maven Pro"/>
                <a:cs typeface="Maven Pro"/>
                <a:sym typeface="Maven Pro"/>
              </a:rPr>
              <a:t> after sanity checking per each definition (</a:t>
            </a:r>
            <a:r>
              <a:rPr lang="en-US" sz="1600" b="1">
                <a:solidFill>
                  <a:srgbClr val="93C47D"/>
                </a:solidFill>
                <a:latin typeface="Maven Pro"/>
                <a:ea typeface="Maven Pro"/>
                <a:cs typeface="Maven Pro"/>
                <a:sym typeface="Maven Pro"/>
              </a:rPr>
              <a:t>Positive</a:t>
            </a:r>
            <a:r>
              <a:rPr lang="en-US" sz="1600" b="1">
                <a:solidFill>
                  <a:schemeClr val="dk1"/>
                </a:solidFill>
                <a:latin typeface="Maven Pro"/>
                <a:ea typeface="Maven Pro"/>
                <a:cs typeface="Maven Pro"/>
                <a:sym typeface="Maven Pro"/>
              </a:rPr>
              <a:t> or </a:t>
            </a:r>
            <a:r>
              <a:rPr lang="en-US" sz="1600" b="1">
                <a:solidFill>
                  <a:srgbClr val="FF0000"/>
                </a:solidFill>
                <a:latin typeface="Maven Pro"/>
                <a:ea typeface="Maven Pro"/>
                <a:cs typeface="Maven Pro"/>
                <a:sym typeface="Maven Pro"/>
              </a:rPr>
              <a:t>Negative</a:t>
            </a:r>
            <a:r>
              <a:rPr lang="en-US" sz="1600" b="1">
                <a:solidFill>
                  <a:schemeClr val="dk1"/>
                </a:solidFill>
                <a:latin typeface="Maven Pro"/>
                <a:ea typeface="Maven Pro"/>
                <a:cs typeface="Maven Pro"/>
                <a:sym typeface="Maven Pro"/>
              </a:rPr>
              <a:t>) Direction</a:t>
            </a:r>
            <a:endParaRPr sz="1600" b="1">
              <a:solidFill>
                <a:schemeClr val="dk1"/>
              </a:solidFill>
              <a:latin typeface="Maven Pro"/>
              <a:ea typeface="Maven Pro"/>
              <a:cs typeface="Maven Pro"/>
              <a:sym typeface="Maven Pro"/>
            </a:endParaRPr>
          </a:p>
        </p:txBody>
      </p:sp>
      <p:cxnSp>
        <p:nvCxnSpPr>
          <p:cNvPr id="1242" name="Google Shape;1242;p30"/>
          <p:cNvCxnSpPr>
            <a:cxnSpLocks/>
            <a:endCxn id="1236" idx="1"/>
          </p:cNvCxnSpPr>
          <p:nvPr/>
        </p:nvCxnSpPr>
        <p:spPr>
          <a:xfrm flipV="1">
            <a:off x="3228230" y="4226009"/>
            <a:ext cx="3188870" cy="687593"/>
          </a:xfrm>
          <a:prstGeom prst="curvedConnector3">
            <a:avLst>
              <a:gd name="adj1" fmla="val 50000"/>
            </a:avLst>
          </a:prstGeom>
          <a:noFill/>
          <a:ln w="19050" cap="flat" cmpd="sng">
            <a:solidFill>
              <a:srgbClr val="9900FF"/>
            </a:solidFill>
            <a:prstDash val="solid"/>
            <a:round/>
            <a:headEnd type="none" w="sm" len="sm"/>
            <a:tailEnd type="triangl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18"/>
        <p:cNvGrpSpPr/>
        <p:nvPr/>
      </p:nvGrpSpPr>
      <p:grpSpPr>
        <a:xfrm>
          <a:off x="0" y="0"/>
          <a:ext cx="0" cy="0"/>
          <a:chOff x="0" y="0"/>
          <a:chExt cx="0" cy="0"/>
        </a:xfrm>
      </p:grpSpPr>
      <p:sp>
        <p:nvSpPr>
          <p:cNvPr id="1319" name="Google Shape;1319;p35"/>
          <p:cNvSpPr txBox="1">
            <a:spLocks noGrp="1"/>
          </p:cNvSpPr>
          <p:nvPr>
            <p:ph type="title"/>
          </p:nvPr>
        </p:nvSpPr>
        <p:spPr>
          <a:xfrm>
            <a:off x="313567" y="593367"/>
            <a:ext cx="11360800" cy="763600"/>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Clr>
                <a:srgbClr val="00B0F0"/>
              </a:buClr>
              <a:buSzPts val="2800"/>
              <a:buFont typeface="Century Gothic"/>
              <a:buNone/>
            </a:pPr>
            <a:r>
              <a:rPr lang="en-US" sz="2000" dirty="0">
                <a:solidFill>
                  <a:srgbClr val="FF0000"/>
                </a:solidFill>
                <a:latin typeface="Century Gothic"/>
                <a:ea typeface="Century Gothic"/>
                <a:cs typeface="Century Gothic"/>
                <a:sym typeface="Century Gothic"/>
              </a:rPr>
              <a:t>Churn model Coefficient Attributes</a:t>
            </a:r>
            <a:endParaRPr sz="2000" dirty="0">
              <a:solidFill>
                <a:srgbClr val="FF0000"/>
              </a:solidFill>
              <a:latin typeface="Century Gothic"/>
              <a:ea typeface="Century Gothic"/>
              <a:cs typeface="Century Gothic"/>
              <a:sym typeface="Century Gothic"/>
            </a:endParaRPr>
          </a:p>
        </p:txBody>
      </p:sp>
      <p:sp>
        <p:nvSpPr>
          <p:cNvPr id="1321" name="Google Shape;1321;p35"/>
          <p:cNvSpPr txBox="1"/>
          <p:nvPr/>
        </p:nvSpPr>
        <p:spPr>
          <a:xfrm>
            <a:off x="1445379" y="5336436"/>
            <a:ext cx="3776000" cy="1054000"/>
          </a:xfrm>
          <a:prstGeom prst="rect">
            <a:avLst/>
          </a:prstGeom>
          <a:noFill/>
          <a:ln w="19050" cap="flat" cmpd="sng">
            <a:solidFill>
              <a:srgbClr val="F1C232"/>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US" sz="1333" b="1" dirty="0">
                <a:solidFill>
                  <a:srgbClr val="FF0000"/>
                </a:solidFill>
                <a:latin typeface="Maven Pro"/>
                <a:ea typeface="Maven Pro"/>
                <a:cs typeface="Maven Pro"/>
                <a:sym typeface="Maven Pro"/>
              </a:rPr>
              <a:t>Negative Sign</a:t>
            </a:r>
            <a:r>
              <a:rPr lang="en-US" sz="1333" b="1" dirty="0">
                <a:solidFill>
                  <a:schemeClr val="dk1"/>
                </a:solidFill>
                <a:latin typeface="Maven Pro"/>
                <a:ea typeface="Maven Pro"/>
                <a:cs typeface="Maven Pro"/>
                <a:sym typeface="Maven Pro"/>
              </a:rPr>
              <a:t>, Indicating the longer the distance of first issued to last issued tend to more loyal customer and have more recent/frequent Traveloka Purchase</a:t>
            </a:r>
            <a:endParaRPr sz="1333" b="1" dirty="0">
              <a:solidFill>
                <a:schemeClr val="dk1"/>
              </a:solidFill>
              <a:latin typeface="Maven Pro"/>
              <a:ea typeface="Maven Pro"/>
              <a:cs typeface="Maven Pro"/>
              <a:sym typeface="Maven Pro"/>
            </a:endParaRPr>
          </a:p>
        </p:txBody>
      </p:sp>
      <p:sp>
        <p:nvSpPr>
          <p:cNvPr id="1323" name="Google Shape;1323;p35"/>
          <p:cNvSpPr txBox="1"/>
          <p:nvPr/>
        </p:nvSpPr>
        <p:spPr>
          <a:xfrm>
            <a:off x="7412070" y="5304113"/>
            <a:ext cx="3621600" cy="875014"/>
          </a:xfrm>
          <a:prstGeom prst="rect">
            <a:avLst/>
          </a:prstGeom>
          <a:noFill/>
          <a:ln w="19050" cap="flat" cmpd="sng">
            <a:solidFill>
              <a:srgbClr val="F1C232"/>
            </a:solidFill>
            <a:prstDash val="solid"/>
            <a:round/>
            <a:headEnd type="none" w="sm" len="sm"/>
            <a:tailEnd type="none" w="sm" len="sm"/>
          </a:ln>
        </p:spPr>
        <p:txBody>
          <a:bodyPr spcFirstLastPara="1" wrap="square" lIns="121900" tIns="121900" rIns="121900" bIns="121900" anchor="t" anchorCtr="0">
            <a:noAutofit/>
          </a:bodyPr>
          <a:lstStyle/>
          <a:p>
            <a:r>
              <a:rPr lang="en-US" sz="1333" b="1" dirty="0">
                <a:solidFill>
                  <a:srgbClr val="6AA84F"/>
                </a:solidFill>
                <a:latin typeface="Maven Pro"/>
                <a:ea typeface="Maven Pro"/>
                <a:cs typeface="Maven Pro"/>
                <a:sym typeface="Maven Pro"/>
              </a:rPr>
              <a:t>Positive Sign</a:t>
            </a:r>
            <a:r>
              <a:rPr lang="en-US" sz="1333" b="1" dirty="0">
                <a:solidFill>
                  <a:schemeClr val="dk1"/>
                </a:solidFill>
                <a:latin typeface="Maven Pro"/>
                <a:ea typeface="Maven Pro"/>
                <a:cs typeface="Maven Pro"/>
                <a:sym typeface="Maven Pro"/>
              </a:rPr>
              <a:t>, indicating the higher invoice amount toward churn on the next cohort.</a:t>
            </a:r>
          </a:p>
          <a:p>
            <a:pPr marL="0" marR="0" lvl="0" indent="0" algn="l" rtl="0">
              <a:spcBef>
                <a:spcPts val="0"/>
              </a:spcBef>
              <a:spcAft>
                <a:spcPts val="0"/>
              </a:spcAft>
              <a:buNone/>
            </a:pPr>
            <a:endParaRPr sz="1333" b="1" dirty="0">
              <a:solidFill>
                <a:schemeClr val="dk1"/>
              </a:solidFill>
              <a:latin typeface="Maven Pro"/>
              <a:ea typeface="Maven Pro"/>
              <a:cs typeface="Maven Pro"/>
              <a:sym typeface="Maven Pro"/>
            </a:endParaRPr>
          </a:p>
        </p:txBody>
      </p:sp>
      <p:pic>
        <p:nvPicPr>
          <p:cNvPr id="3" name="Picture 2">
            <a:extLst>
              <a:ext uri="{FF2B5EF4-FFF2-40B4-BE49-F238E27FC236}">
                <a16:creationId xmlns:a16="http://schemas.microsoft.com/office/drawing/2014/main" id="{A2387195-31DE-49A8-81AF-54CD25928B3D}"/>
              </a:ext>
            </a:extLst>
          </p:cNvPr>
          <p:cNvPicPr>
            <a:picLocks noChangeAspect="1"/>
          </p:cNvPicPr>
          <p:nvPr/>
        </p:nvPicPr>
        <p:blipFill>
          <a:blip r:embed="rId3"/>
          <a:stretch>
            <a:fillRect/>
          </a:stretch>
        </p:blipFill>
        <p:spPr>
          <a:xfrm>
            <a:off x="120035" y="1218084"/>
            <a:ext cx="9734378" cy="3812232"/>
          </a:xfrm>
          <a:prstGeom prst="rect">
            <a:avLst/>
          </a:prstGeom>
        </p:spPr>
      </p:pic>
      <p:cxnSp>
        <p:nvCxnSpPr>
          <p:cNvPr id="9" name="Google Shape;1237;p30">
            <a:extLst>
              <a:ext uri="{FF2B5EF4-FFF2-40B4-BE49-F238E27FC236}">
                <a16:creationId xmlns:a16="http://schemas.microsoft.com/office/drawing/2014/main" id="{5AC50237-61D5-49B5-97A6-A1FCFBCF4436}"/>
              </a:ext>
            </a:extLst>
          </p:cNvPr>
          <p:cNvCxnSpPr>
            <a:cxnSpLocks/>
            <a:endCxn id="1323" idx="0"/>
          </p:cNvCxnSpPr>
          <p:nvPr/>
        </p:nvCxnSpPr>
        <p:spPr>
          <a:xfrm>
            <a:off x="7879158" y="3997859"/>
            <a:ext cx="1343712" cy="1306254"/>
          </a:xfrm>
          <a:prstGeom prst="curvedConnector2">
            <a:avLst/>
          </a:prstGeom>
          <a:noFill/>
          <a:ln w="19050" cap="flat" cmpd="sng">
            <a:solidFill>
              <a:srgbClr val="9900FF"/>
            </a:solidFill>
            <a:prstDash val="solid"/>
            <a:round/>
            <a:headEnd type="none" w="sm" len="sm"/>
            <a:tailEnd type="triangle" w="med" len="med"/>
          </a:ln>
        </p:spPr>
      </p:cxnSp>
      <p:cxnSp>
        <p:nvCxnSpPr>
          <p:cNvPr id="12" name="Google Shape;1242;p30">
            <a:extLst>
              <a:ext uri="{FF2B5EF4-FFF2-40B4-BE49-F238E27FC236}">
                <a16:creationId xmlns:a16="http://schemas.microsoft.com/office/drawing/2014/main" id="{5F1CF89B-36C1-4E75-A508-0322A6D4878F}"/>
              </a:ext>
            </a:extLst>
          </p:cNvPr>
          <p:cNvCxnSpPr>
            <a:cxnSpLocks/>
            <a:endCxn id="1321" idx="0"/>
          </p:cNvCxnSpPr>
          <p:nvPr/>
        </p:nvCxnSpPr>
        <p:spPr>
          <a:xfrm rot="5400000">
            <a:off x="2245056" y="3923891"/>
            <a:ext cx="2500869" cy="324221"/>
          </a:xfrm>
          <a:prstGeom prst="curvedConnector3">
            <a:avLst>
              <a:gd name="adj1" fmla="val 50000"/>
            </a:avLst>
          </a:prstGeom>
          <a:noFill/>
          <a:ln w="19050" cap="flat" cmpd="sng">
            <a:solidFill>
              <a:srgbClr val="9900FF"/>
            </a:solidFill>
            <a:prstDash val="solid"/>
            <a:round/>
            <a:headEnd type="none" w="sm" len="sm"/>
            <a:tailEnd type="triangle"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00"/>
        <p:cNvGrpSpPr/>
        <p:nvPr/>
      </p:nvGrpSpPr>
      <p:grpSpPr>
        <a:xfrm>
          <a:off x="0" y="0"/>
          <a:ext cx="0" cy="0"/>
          <a:chOff x="0" y="0"/>
          <a:chExt cx="0" cy="0"/>
        </a:xfrm>
      </p:grpSpPr>
      <p:sp>
        <p:nvSpPr>
          <p:cNvPr id="1301" name="Google Shape;1301;p33"/>
          <p:cNvSpPr txBox="1">
            <a:spLocks noGrp="1"/>
          </p:cNvSpPr>
          <p:nvPr>
            <p:ph type="title"/>
          </p:nvPr>
        </p:nvSpPr>
        <p:spPr>
          <a:xfrm>
            <a:off x="313567" y="593367"/>
            <a:ext cx="11360800" cy="763600"/>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Clr>
                <a:srgbClr val="00B0F0"/>
              </a:buClr>
              <a:buSzPts val="2800"/>
              <a:buFont typeface="Century Gothic"/>
              <a:buNone/>
            </a:pPr>
            <a:r>
              <a:rPr lang="en-US" sz="2000" dirty="0">
                <a:solidFill>
                  <a:srgbClr val="FF0000"/>
                </a:solidFill>
                <a:latin typeface="Century Gothic"/>
                <a:ea typeface="Century Gothic"/>
                <a:cs typeface="Century Gothic"/>
                <a:sym typeface="Century Gothic"/>
              </a:rPr>
              <a:t>Retention Class Modelling</a:t>
            </a:r>
            <a:endParaRPr sz="2000" dirty="0">
              <a:solidFill>
                <a:srgbClr val="FF0000"/>
              </a:solidFill>
              <a:latin typeface="Century Gothic"/>
              <a:ea typeface="Century Gothic"/>
              <a:cs typeface="Century Gothic"/>
              <a:sym typeface="Century Gothic"/>
            </a:endParaRPr>
          </a:p>
        </p:txBody>
      </p:sp>
      <p:graphicFrame>
        <p:nvGraphicFramePr>
          <p:cNvPr id="7" name="Table 6">
            <a:extLst>
              <a:ext uri="{FF2B5EF4-FFF2-40B4-BE49-F238E27FC236}">
                <a16:creationId xmlns:a16="http://schemas.microsoft.com/office/drawing/2014/main" id="{310C6A19-3C69-4A2A-BC93-9A70710B8554}"/>
              </a:ext>
            </a:extLst>
          </p:cNvPr>
          <p:cNvGraphicFramePr>
            <a:graphicFrameLocks noGrp="1"/>
          </p:cNvGraphicFramePr>
          <p:nvPr>
            <p:extLst>
              <p:ext uri="{D42A27DB-BD31-4B8C-83A1-F6EECF244321}">
                <p14:modId xmlns:p14="http://schemas.microsoft.com/office/powerpoint/2010/main" val="2510697001"/>
              </p:ext>
            </p:extLst>
          </p:nvPr>
        </p:nvGraphicFramePr>
        <p:xfrm>
          <a:off x="567363" y="1747635"/>
          <a:ext cx="10852003" cy="3717498"/>
        </p:xfrm>
        <a:graphic>
          <a:graphicData uri="http://schemas.openxmlformats.org/drawingml/2006/table">
            <a:tbl>
              <a:tblPr/>
              <a:tblGrid>
                <a:gridCol w="1286408">
                  <a:extLst>
                    <a:ext uri="{9D8B030D-6E8A-4147-A177-3AD203B41FA5}">
                      <a16:colId xmlns:a16="http://schemas.microsoft.com/office/drawing/2014/main" val="75103708"/>
                    </a:ext>
                  </a:extLst>
                </a:gridCol>
                <a:gridCol w="791636">
                  <a:extLst>
                    <a:ext uri="{9D8B030D-6E8A-4147-A177-3AD203B41FA5}">
                      <a16:colId xmlns:a16="http://schemas.microsoft.com/office/drawing/2014/main" val="1519401545"/>
                    </a:ext>
                  </a:extLst>
                </a:gridCol>
                <a:gridCol w="758650">
                  <a:extLst>
                    <a:ext uri="{9D8B030D-6E8A-4147-A177-3AD203B41FA5}">
                      <a16:colId xmlns:a16="http://schemas.microsoft.com/office/drawing/2014/main" val="384293513"/>
                    </a:ext>
                  </a:extLst>
                </a:gridCol>
                <a:gridCol w="1187453">
                  <a:extLst>
                    <a:ext uri="{9D8B030D-6E8A-4147-A177-3AD203B41FA5}">
                      <a16:colId xmlns:a16="http://schemas.microsoft.com/office/drawing/2014/main" val="2341742679"/>
                    </a:ext>
                  </a:extLst>
                </a:gridCol>
                <a:gridCol w="1121484">
                  <a:extLst>
                    <a:ext uri="{9D8B030D-6E8A-4147-A177-3AD203B41FA5}">
                      <a16:colId xmlns:a16="http://schemas.microsoft.com/office/drawing/2014/main" val="1001847953"/>
                    </a:ext>
                  </a:extLst>
                </a:gridCol>
                <a:gridCol w="1220439">
                  <a:extLst>
                    <a:ext uri="{9D8B030D-6E8A-4147-A177-3AD203B41FA5}">
                      <a16:colId xmlns:a16="http://schemas.microsoft.com/office/drawing/2014/main" val="336821176"/>
                    </a:ext>
                  </a:extLst>
                </a:gridCol>
                <a:gridCol w="1154468">
                  <a:extLst>
                    <a:ext uri="{9D8B030D-6E8A-4147-A177-3AD203B41FA5}">
                      <a16:colId xmlns:a16="http://schemas.microsoft.com/office/drawing/2014/main" val="2688833373"/>
                    </a:ext>
                  </a:extLst>
                </a:gridCol>
                <a:gridCol w="940067">
                  <a:extLst>
                    <a:ext uri="{9D8B030D-6E8A-4147-A177-3AD203B41FA5}">
                      <a16:colId xmlns:a16="http://schemas.microsoft.com/office/drawing/2014/main" val="1738080912"/>
                    </a:ext>
                  </a:extLst>
                </a:gridCol>
                <a:gridCol w="874098">
                  <a:extLst>
                    <a:ext uri="{9D8B030D-6E8A-4147-A177-3AD203B41FA5}">
                      <a16:colId xmlns:a16="http://schemas.microsoft.com/office/drawing/2014/main" val="2036008"/>
                    </a:ext>
                  </a:extLst>
                </a:gridCol>
                <a:gridCol w="758650">
                  <a:extLst>
                    <a:ext uri="{9D8B030D-6E8A-4147-A177-3AD203B41FA5}">
                      <a16:colId xmlns:a16="http://schemas.microsoft.com/office/drawing/2014/main" val="3549195793"/>
                    </a:ext>
                  </a:extLst>
                </a:gridCol>
                <a:gridCol w="758650">
                  <a:extLst>
                    <a:ext uri="{9D8B030D-6E8A-4147-A177-3AD203B41FA5}">
                      <a16:colId xmlns:a16="http://schemas.microsoft.com/office/drawing/2014/main" val="1137220128"/>
                    </a:ext>
                  </a:extLst>
                </a:gridCol>
              </a:tblGrid>
              <a:tr h="619583">
                <a:tc>
                  <a:txBody>
                    <a:bodyPr/>
                    <a:lstStyle/>
                    <a:p>
                      <a:pPr algn="ctr" fontAlgn="ctr"/>
                      <a:r>
                        <a:rPr lang="en-ID" sz="1400" b="1" i="0" u="none" strike="noStrike">
                          <a:solidFill>
                            <a:srgbClr val="FFFFFF"/>
                          </a:solidFill>
                          <a:effectLst/>
                          <a:latin typeface="Calibri" panose="020F0502020204030204" pitchFamily="34" charset="0"/>
                        </a:rPr>
                        <a:t>model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ID" sz="1400" b="1" i="0" u="none" strike="noStrike">
                          <a:solidFill>
                            <a:srgbClr val="FFFFFF"/>
                          </a:solidFill>
                          <a:effectLst/>
                          <a:latin typeface="Calibri" panose="020F0502020204030204" pitchFamily="34" charset="0"/>
                        </a:rPr>
                        <a:t>auc_train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ID" sz="1400" b="1" i="0" u="none" strike="noStrike">
                          <a:solidFill>
                            <a:srgbClr val="FFFFFF"/>
                          </a:solidFill>
                          <a:effectLst/>
                          <a:latin typeface="Calibri" panose="020F0502020204030204" pitchFamily="34" charset="0"/>
                        </a:rPr>
                        <a:t>auc_test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ID" sz="1400" b="1" i="0" u="none" strike="noStrike">
                          <a:solidFill>
                            <a:srgbClr val="FFFFFF"/>
                          </a:solidFill>
                          <a:effectLst/>
                          <a:latin typeface="Calibri" panose="020F0502020204030204" pitchFamily="34" charset="0"/>
                        </a:rPr>
                        <a:t>accuracy_train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ID" sz="1400" b="1" i="0" u="none" strike="noStrike">
                          <a:solidFill>
                            <a:srgbClr val="FFFFFF"/>
                          </a:solidFill>
                          <a:effectLst/>
                          <a:latin typeface="Calibri" panose="020F0502020204030204" pitchFamily="34" charset="0"/>
                        </a:rPr>
                        <a:t>accuracy_test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ID" sz="1400" b="1" i="0" u="none" strike="noStrike">
                          <a:solidFill>
                            <a:srgbClr val="FFFFFF"/>
                          </a:solidFill>
                          <a:effectLst/>
                          <a:latin typeface="Calibri" panose="020F0502020204030204" pitchFamily="34" charset="0"/>
                        </a:rPr>
                        <a:t>precision_train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ID" sz="1400" b="1" i="0" u="none" strike="noStrike">
                          <a:solidFill>
                            <a:srgbClr val="FFFFFF"/>
                          </a:solidFill>
                          <a:effectLst/>
                          <a:latin typeface="Calibri" panose="020F0502020204030204" pitchFamily="34" charset="0"/>
                        </a:rPr>
                        <a:t>precision_test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ID" sz="1400" b="1" i="0" u="none" strike="noStrike">
                          <a:solidFill>
                            <a:srgbClr val="FFFFFF"/>
                          </a:solidFill>
                          <a:effectLst/>
                          <a:latin typeface="Calibri" panose="020F0502020204030204" pitchFamily="34" charset="0"/>
                        </a:rPr>
                        <a:t>recall_train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ID" sz="1400" b="1" i="0" u="none" strike="noStrike">
                          <a:solidFill>
                            <a:srgbClr val="FFFFFF"/>
                          </a:solidFill>
                          <a:effectLst/>
                          <a:latin typeface="Calibri" panose="020F0502020204030204" pitchFamily="34" charset="0"/>
                        </a:rPr>
                        <a:t>recall_test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ID" sz="1400" b="1" i="0" u="none" strike="noStrike">
                          <a:solidFill>
                            <a:srgbClr val="FFFFFF"/>
                          </a:solidFill>
                          <a:effectLst/>
                          <a:latin typeface="Calibri" panose="020F0502020204030204" pitchFamily="34" charset="0"/>
                        </a:rPr>
                        <a:t>f1_train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r>
                        <a:rPr lang="en-ID" sz="1400" b="1" i="0" u="none" strike="noStrike">
                          <a:solidFill>
                            <a:srgbClr val="FFFFFF"/>
                          </a:solidFill>
                          <a:effectLst/>
                          <a:latin typeface="Calibri" panose="020F0502020204030204" pitchFamily="34" charset="0"/>
                        </a:rPr>
                        <a:t>f1_test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366377343"/>
                  </a:ext>
                </a:extLst>
              </a:tr>
              <a:tr h="619583">
                <a:tc>
                  <a:txBody>
                    <a:bodyPr/>
                    <a:lstStyle/>
                    <a:p>
                      <a:pPr algn="l" fontAlgn="ctr"/>
                      <a:r>
                        <a:rPr lang="en-ID" sz="1400" b="0" i="0" u="none" strike="noStrike">
                          <a:solidFill>
                            <a:srgbClr val="000000"/>
                          </a:solidFill>
                          <a:effectLst/>
                          <a:latin typeface="Calibri" panose="020F0502020204030204" pitchFamily="34" charset="0"/>
                        </a:rPr>
                        <a:t>Decision Tree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dirty="0">
                          <a:solidFill>
                            <a:srgbClr val="000000"/>
                          </a:solidFill>
                          <a:effectLst/>
                          <a:latin typeface="Calibri" panose="020F0502020204030204" pitchFamily="34" charset="0"/>
                        </a:rPr>
                        <a:t>0.73793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0.737924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0.676691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0.678195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0.641381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0.645797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0.420396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0.423954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0.420396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0.423954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1510623"/>
                  </a:ext>
                </a:extLst>
              </a:tr>
              <a:tr h="619583">
                <a:tc>
                  <a:txBody>
                    <a:bodyPr/>
                    <a:lstStyle/>
                    <a:p>
                      <a:pPr algn="l" fontAlgn="ctr"/>
                      <a:r>
                        <a:rPr lang="en-ID" sz="1400" b="0" i="0" u="none" strike="noStrike">
                          <a:solidFill>
                            <a:srgbClr val="000000"/>
                          </a:solidFill>
                          <a:effectLst/>
                          <a:latin typeface="Calibri" panose="020F0502020204030204" pitchFamily="34" charset="0"/>
                        </a:rPr>
                        <a:t>catboost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en-ID" sz="1400" b="0" i="0" u="none" strike="noStrike" dirty="0">
                          <a:solidFill>
                            <a:srgbClr val="000000"/>
                          </a:solidFill>
                          <a:effectLst/>
                          <a:latin typeface="Calibri" panose="020F0502020204030204" pitchFamily="34" charset="0"/>
                        </a:rPr>
                        <a:t>0.761648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en-ID" sz="1400" b="0" i="0" u="none" strike="noStrike">
                          <a:solidFill>
                            <a:srgbClr val="000000"/>
                          </a:solidFill>
                          <a:effectLst/>
                          <a:latin typeface="Calibri" panose="020F0502020204030204" pitchFamily="34" charset="0"/>
                        </a:rPr>
                        <a:t>0.759032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en-ID" sz="1400" b="0" i="0" u="none" strike="noStrike">
                          <a:solidFill>
                            <a:srgbClr val="000000"/>
                          </a:solidFill>
                          <a:effectLst/>
                          <a:latin typeface="Calibri" panose="020F0502020204030204" pitchFamily="34" charset="0"/>
                        </a:rPr>
                        <a:t>0.6924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en-ID" sz="1400" b="0" i="0" u="none" strike="noStrike">
                          <a:solidFill>
                            <a:srgbClr val="000000"/>
                          </a:solidFill>
                          <a:effectLst/>
                          <a:latin typeface="Calibri" panose="020F0502020204030204" pitchFamily="34" charset="0"/>
                        </a:rPr>
                        <a:t>0.692685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en-ID" sz="1400" b="0" i="0" u="none" strike="noStrike">
                          <a:solidFill>
                            <a:srgbClr val="000000"/>
                          </a:solidFill>
                          <a:effectLst/>
                          <a:latin typeface="Calibri" panose="020F0502020204030204" pitchFamily="34" charset="0"/>
                        </a:rPr>
                        <a:t>0.624875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en-ID" sz="1400" b="0" i="0" u="none" strike="noStrike">
                          <a:solidFill>
                            <a:srgbClr val="000000"/>
                          </a:solidFill>
                          <a:effectLst/>
                          <a:latin typeface="Calibri" panose="020F0502020204030204" pitchFamily="34" charset="0"/>
                        </a:rPr>
                        <a:t>0.627387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en-ID" sz="1400" b="0" i="0" u="none" strike="noStrike">
                          <a:solidFill>
                            <a:srgbClr val="000000"/>
                          </a:solidFill>
                          <a:effectLst/>
                          <a:latin typeface="Calibri" panose="020F0502020204030204" pitchFamily="34" charset="0"/>
                        </a:rPr>
                        <a:t>0.562755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en-ID" sz="1400" b="0" i="0" u="none" strike="noStrike">
                          <a:solidFill>
                            <a:srgbClr val="000000"/>
                          </a:solidFill>
                          <a:effectLst/>
                          <a:latin typeface="Calibri" panose="020F0502020204030204" pitchFamily="34" charset="0"/>
                        </a:rPr>
                        <a:t>0.561044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en-ID" sz="1400" b="0" i="0" u="none" strike="noStrike">
                          <a:solidFill>
                            <a:srgbClr val="000000"/>
                          </a:solidFill>
                          <a:effectLst/>
                          <a:latin typeface="Calibri" panose="020F0502020204030204" pitchFamily="34" charset="0"/>
                        </a:rPr>
                        <a:t>0.562755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en-ID" sz="1400" b="0" i="0" u="none" strike="noStrike" dirty="0">
                          <a:solidFill>
                            <a:srgbClr val="000000"/>
                          </a:solidFill>
                          <a:effectLst/>
                          <a:latin typeface="Calibri" panose="020F0502020204030204" pitchFamily="34" charset="0"/>
                        </a:rPr>
                        <a:t>0.561044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148179001"/>
                  </a:ext>
                </a:extLst>
              </a:tr>
              <a:tr h="619583">
                <a:tc>
                  <a:txBody>
                    <a:bodyPr/>
                    <a:lstStyle/>
                    <a:p>
                      <a:pPr algn="l" fontAlgn="ctr"/>
                      <a:r>
                        <a:rPr lang="en-ID" sz="1400" b="0" i="0" u="none" strike="noStrike">
                          <a:solidFill>
                            <a:srgbClr val="000000"/>
                          </a:solidFill>
                          <a:effectLst/>
                          <a:latin typeface="Calibri" panose="020F0502020204030204" pitchFamily="34" charset="0"/>
                        </a:rPr>
                        <a:t>bagging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0.763112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0.75805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0.694057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0.691884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0.629146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0.628265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0.558031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0.553055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0.558031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0.553055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4556712"/>
                  </a:ext>
                </a:extLst>
              </a:tr>
              <a:tr h="619583">
                <a:tc>
                  <a:txBody>
                    <a:bodyPr/>
                    <a:lstStyle/>
                    <a:p>
                      <a:pPr algn="l" fontAlgn="ctr"/>
                      <a:r>
                        <a:rPr lang="en-ID" sz="1400" b="0" i="0" u="none" strike="noStrike">
                          <a:solidFill>
                            <a:srgbClr val="000000"/>
                          </a:solidFill>
                          <a:effectLst/>
                          <a:latin typeface="Calibri" panose="020F0502020204030204" pitchFamily="34" charset="0"/>
                        </a:rPr>
                        <a:t>Random_Forest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0.844819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0.756391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0.761312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0.688462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0.733358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0.629245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0.626267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0.528784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0.626267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0.528784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257735"/>
                  </a:ext>
                </a:extLst>
              </a:tr>
              <a:tr h="619583">
                <a:tc>
                  <a:txBody>
                    <a:bodyPr/>
                    <a:lstStyle/>
                    <a:p>
                      <a:pPr algn="l" fontAlgn="ctr"/>
                      <a:r>
                        <a:rPr lang="en-ID" sz="1400" b="0" i="0" u="none" strike="noStrike">
                          <a:solidFill>
                            <a:srgbClr val="000000"/>
                          </a:solidFill>
                          <a:effectLst/>
                          <a:latin typeface="Calibri" panose="020F0502020204030204" pitchFamily="34" charset="0"/>
                        </a:rPr>
                        <a:t>adaboost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0.735445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0.672953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0.60678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0.506464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a:solidFill>
                            <a:srgbClr val="000000"/>
                          </a:solidFill>
                          <a:effectLst/>
                          <a:latin typeface="Calibri" panose="020F0502020204030204" pitchFamily="34" charset="0"/>
                        </a:rPr>
                        <a:t>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D" sz="1400" b="0" i="0" u="none" strike="noStrike" dirty="0">
                          <a:solidFill>
                            <a:srgbClr val="000000"/>
                          </a:solidFill>
                          <a:effectLst/>
                          <a:latin typeface="Calibri" panose="020F0502020204030204" pitchFamily="34" charset="0"/>
                        </a:rPr>
                        <a:t>0.506464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7475073"/>
                  </a:ext>
                </a:extLst>
              </a:tr>
            </a:tbl>
          </a:graphicData>
        </a:graphic>
      </p:graphicFrame>
    </p:spTree>
    <p:extLst>
      <p:ext uri="{BB962C8B-B14F-4D97-AF65-F5344CB8AC3E}">
        <p14:creationId xmlns:p14="http://schemas.microsoft.com/office/powerpoint/2010/main" val="12692587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00"/>
        <p:cNvGrpSpPr/>
        <p:nvPr/>
      </p:nvGrpSpPr>
      <p:grpSpPr>
        <a:xfrm>
          <a:off x="0" y="0"/>
          <a:ext cx="0" cy="0"/>
          <a:chOff x="0" y="0"/>
          <a:chExt cx="0" cy="0"/>
        </a:xfrm>
      </p:grpSpPr>
      <p:sp>
        <p:nvSpPr>
          <p:cNvPr id="1301" name="Google Shape;1301;p33"/>
          <p:cNvSpPr txBox="1">
            <a:spLocks noGrp="1"/>
          </p:cNvSpPr>
          <p:nvPr>
            <p:ph type="title"/>
          </p:nvPr>
        </p:nvSpPr>
        <p:spPr>
          <a:xfrm>
            <a:off x="313567" y="593367"/>
            <a:ext cx="11360800" cy="763600"/>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Clr>
                <a:srgbClr val="00B0F0"/>
              </a:buClr>
              <a:buSzPts val="2800"/>
              <a:buFont typeface="Century Gothic"/>
              <a:buNone/>
            </a:pPr>
            <a:r>
              <a:rPr lang="en-US" sz="2000" dirty="0">
                <a:solidFill>
                  <a:srgbClr val="FF0000"/>
                </a:solidFill>
                <a:latin typeface="Century Gothic"/>
                <a:ea typeface="Century Gothic"/>
                <a:cs typeface="Century Gothic"/>
                <a:sym typeface="Century Gothic"/>
              </a:rPr>
              <a:t>Retention Class Modelling</a:t>
            </a:r>
            <a:endParaRPr sz="2000" dirty="0">
              <a:solidFill>
                <a:srgbClr val="FF0000"/>
              </a:solidFill>
              <a:latin typeface="Century Gothic"/>
              <a:ea typeface="Century Gothic"/>
              <a:cs typeface="Century Gothic"/>
              <a:sym typeface="Century Gothic"/>
            </a:endParaRPr>
          </a:p>
        </p:txBody>
      </p:sp>
      <p:sp>
        <p:nvSpPr>
          <p:cNvPr id="1305" name="Google Shape;1305;p33"/>
          <p:cNvSpPr txBox="1"/>
          <p:nvPr/>
        </p:nvSpPr>
        <p:spPr>
          <a:xfrm>
            <a:off x="5752751" y="4772931"/>
            <a:ext cx="3236053"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dirty="0">
                <a:solidFill>
                  <a:srgbClr val="000000"/>
                </a:solidFill>
                <a:latin typeface="Century Gothic"/>
                <a:ea typeface="Century Gothic"/>
                <a:cs typeface="Century Gothic"/>
                <a:sym typeface="Century Gothic"/>
              </a:rPr>
              <a:t>Our model able to distinct probability churn/no quite good as the higher </a:t>
            </a:r>
            <a:r>
              <a:rPr lang="en-US" sz="1200" b="1" i="0" u="none" strike="noStrike" dirty="0" err="1">
                <a:solidFill>
                  <a:srgbClr val="000000"/>
                </a:solidFill>
                <a:latin typeface="Century Gothic"/>
                <a:ea typeface="Century Gothic"/>
                <a:cs typeface="Century Gothic"/>
                <a:sym typeface="Century Gothic"/>
              </a:rPr>
              <a:t>proba</a:t>
            </a:r>
            <a:r>
              <a:rPr lang="en-US" sz="1200" b="1" i="0" u="none" strike="noStrike" dirty="0">
                <a:solidFill>
                  <a:srgbClr val="000000"/>
                </a:solidFill>
                <a:latin typeface="Century Gothic"/>
                <a:ea typeface="Century Gothic"/>
                <a:cs typeface="Century Gothic"/>
                <a:sym typeface="Century Gothic"/>
              </a:rPr>
              <a:t> indicating higher composition of churned customers, vice versa. </a:t>
            </a:r>
            <a:endParaRPr sz="1200" b="0" dirty="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br>
              <a:rPr lang="en-US" sz="1200" dirty="0">
                <a:solidFill>
                  <a:schemeClr val="dk1"/>
                </a:solidFill>
                <a:latin typeface="Century Gothic"/>
                <a:ea typeface="Century Gothic"/>
                <a:cs typeface="Century Gothic"/>
                <a:sym typeface="Century Gothic"/>
              </a:rPr>
            </a:br>
            <a:endParaRPr sz="1200" dirty="0">
              <a:solidFill>
                <a:schemeClr val="dk1"/>
              </a:solidFill>
              <a:latin typeface="Century Gothic"/>
              <a:ea typeface="Century Gothic"/>
              <a:cs typeface="Century Gothic"/>
              <a:sym typeface="Century Gothic"/>
            </a:endParaRPr>
          </a:p>
        </p:txBody>
      </p:sp>
      <p:pic>
        <p:nvPicPr>
          <p:cNvPr id="3" name="Picture 2">
            <a:extLst>
              <a:ext uri="{FF2B5EF4-FFF2-40B4-BE49-F238E27FC236}">
                <a16:creationId xmlns:a16="http://schemas.microsoft.com/office/drawing/2014/main" id="{96981ADB-C7F3-4560-8E15-9ED8FC9D2D4E}"/>
              </a:ext>
            </a:extLst>
          </p:cNvPr>
          <p:cNvPicPr>
            <a:picLocks noChangeAspect="1"/>
          </p:cNvPicPr>
          <p:nvPr/>
        </p:nvPicPr>
        <p:blipFill>
          <a:blip r:embed="rId3"/>
          <a:stretch>
            <a:fillRect/>
          </a:stretch>
        </p:blipFill>
        <p:spPr>
          <a:xfrm>
            <a:off x="466987" y="2930592"/>
            <a:ext cx="5125402" cy="3684679"/>
          </a:xfrm>
          <a:prstGeom prst="rect">
            <a:avLst/>
          </a:prstGeom>
        </p:spPr>
      </p:pic>
      <p:pic>
        <p:nvPicPr>
          <p:cNvPr id="5" name="Picture 4">
            <a:extLst>
              <a:ext uri="{FF2B5EF4-FFF2-40B4-BE49-F238E27FC236}">
                <a16:creationId xmlns:a16="http://schemas.microsoft.com/office/drawing/2014/main" id="{AC6D39E5-5511-466F-BFB8-14E9CB74B4D4}"/>
              </a:ext>
            </a:extLst>
          </p:cNvPr>
          <p:cNvPicPr>
            <a:picLocks noChangeAspect="1"/>
          </p:cNvPicPr>
          <p:nvPr/>
        </p:nvPicPr>
        <p:blipFill>
          <a:blip r:embed="rId4"/>
          <a:stretch>
            <a:fillRect/>
          </a:stretch>
        </p:blipFill>
        <p:spPr>
          <a:xfrm>
            <a:off x="5439885" y="611813"/>
            <a:ext cx="6438548" cy="306393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09"/>
        <p:cNvGrpSpPr/>
        <p:nvPr/>
      </p:nvGrpSpPr>
      <p:grpSpPr>
        <a:xfrm>
          <a:off x="0" y="0"/>
          <a:ext cx="0" cy="0"/>
          <a:chOff x="0" y="0"/>
          <a:chExt cx="0" cy="0"/>
        </a:xfrm>
      </p:grpSpPr>
      <p:sp>
        <p:nvSpPr>
          <p:cNvPr id="1310" name="Google Shape;1310;p34"/>
          <p:cNvSpPr txBox="1">
            <a:spLocks noGrp="1"/>
          </p:cNvSpPr>
          <p:nvPr>
            <p:ph type="title"/>
          </p:nvPr>
        </p:nvSpPr>
        <p:spPr>
          <a:xfrm>
            <a:off x="313567" y="593367"/>
            <a:ext cx="11360800" cy="763600"/>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0"/>
              </a:spcAft>
              <a:buClr>
                <a:srgbClr val="00B0F0"/>
              </a:buClr>
              <a:buSzPts val="2800"/>
              <a:buFont typeface="Century Gothic"/>
              <a:buNone/>
            </a:pPr>
            <a:r>
              <a:rPr lang="en-US" sz="2000" dirty="0">
                <a:solidFill>
                  <a:srgbClr val="FF0000"/>
                </a:solidFill>
                <a:latin typeface="Century Gothic"/>
                <a:ea typeface="Century Gothic"/>
                <a:cs typeface="Century Gothic"/>
                <a:sym typeface="Century Gothic"/>
              </a:rPr>
              <a:t>Retention Class Modelling Metrics</a:t>
            </a:r>
            <a:endParaRPr sz="2000" dirty="0">
              <a:solidFill>
                <a:srgbClr val="FF0000"/>
              </a:solidFill>
              <a:latin typeface="Century Gothic"/>
              <a:ea typeface="Century Gothic"/>
              <a:cs typeface="Century Gothic"/>
              <a:sym typeface="Century Gothic"/>
            </a:endParaRPr>
          </a:p>
        </p:txBody>
      </p:sp>
      <p:sp>
        <p:nvSpPr>
          <p:cNvPr id="1312" name="Google Shape;1312;p34"/>
          <p:cNvSpPr txBox="1"/>
          <p:nvPr/>
        </p:nvSpPr>
        <p:spPr>
          <a:xfrm>
            <a:off x="3365213" y="1616923"/>
            <a:ext cx="3227664"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dirty="0">
                <a:solidFill>
                  <a:srgbClr val="6AA84F"/>
                </a:solidFill>
                <a:latin typeface="Century Gothic"/>
                <a:ea typeface="Century Gothic"/>
                <a:cs typeface="Century Gothic"/>
                <a:sym typeface="Century Gothic"/>
              </a:rPr>
              <a:t>AUC : 0.76, quite good toward distinct churn yes/no class. Moreover, stability is immerse as no delta found between randomized Train and Test Population.</a:t>
            </a:r>
            <a:endParaRPr sz="1200" b="0" dirty="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br>
              <a:rPr lang="en-US" sz="1200" dirty="0">
                <a:solidFill>
                  <a:schemeClr val="dk1"/>
                </a:solidFill>
                <a:latin typeface="Century Gothic"/>
                <a:ea typeface="Century Gothic"/>
                <a:cs typeface="Century Gothic"/>
                <a:sym typeface="Century Gothic"/>
              </a:rPr>
            </a:br>
            <a:endParaRPr sz="1200" dirty="0">
              <a:solidFill>
                <a:schemeClr val="dk1"/>
              </a:solidFill>
              <a:latin typeface="Century Gothic"/>
              <a:ea typeface="Century Gothic"/>
              <a:cs typeface="Century Gothic"/>
              <a:sym typeface="Century Gothic"/>
            </a:endParaRPr>
          </a:p>
        </p:txBody>
      </p:sp>
      <p:sp>
        <p:nvSpPr>
          <p:cNvPr id="1314" name="Google Shape;1314;p34"/>
          <p:cNvSpPr txBox="1"/>
          <p:nvPr/>
        </p:nvSpPr>
        <p:spPr>
          <a:xfrm>
            <a:off x="686532" y="3772657"/>
            <a:ext cx="2724325"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dirty="0">
                <a:solidFill>
                  <a:srgbClr val="6AA84F"/>
                </a:solidFill>
                <a:latin typeface="Century Gothic"/>
                <a:ea typeface="Century Gothic"/>
                <a:cs typeface="Century Gothic"/>
                <a:sym typeface="Century Gothic"/>
              </a:rPr>
              <a:t>KS of 0.3752 indicating model is quite better in terms of distancing between class churn/no in Population</a:t>
            </a:r>
            <a:endParaRPr sz="1200" b="0" dirty="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br>
              <a:rPr lang="en-US" sz="1200" dirty="0">
                <a:solidFill>
                  <a:schemeClr val="dk1"/>
                </a:solidFill>
                <a:latin typeface="Century Gothic"/>
                <a:ea typeface="Century Gothic"/>
                <a:cs typeface="Century Gothic"/>
                <a:sym typeface="Century Gothic"/>
              </a:rPr>
            </a:br>
            <a:endParaRPr sz="1200" dirty="0">
              <a:solidFill>
                <a:schemeClr val="dk1"/>
              </a:solidFill>
              <a:latin typeface="Century Gothic"/>
              <a:ea typeface="Century Gothic"/>
              <a:cs typeface="Century Gothic"/>
              <a:sym typeface="Century Gothic"/>
            </a:endParaRPr>
          </a:p>
        </p:txBody>
      </p:sp>
      <p:pic>
        <p:nvPicPr>
          <p:cNvPr id="3" name="Picture 2">
            <a:extLst>
              <a:ext uri="{FF2B5EF4-FFF2-40B4-BE49-F238E27FC236}">
                <a16:creationId xmlns:a16="http://schemas.microsoft.com/office/drawing/2014/main" id="{275C70F4-0DC7-4A32-ACF2-BCC6B4B017C3}"/>
              </a:ext>
            </a:extLst>
          </p:cNvPr>
          <p:cNvPicPr>
            <a:picLocks noChangeAspect="1"/>
          </p:cNvPicPr>
          <p:nvPr/>
        </p:nvPicPr>
        <p:blipFill>
          <a:blip r:embed="rId3"/>
          <a:stretch>
            <a:fillRect/>
          </a:stretch>
        </p:blipFill>
        <p:spPr>
          <a:xfrm>
            <a:off x="272323" y="4667474"/>
            <a:ext cx="5721644" cy="2025754"/>
          </a:xfrm>
          <a:prstGeom prst="rect">
            <a:avLst/>
          </a:prstGeom>
        </p:spPr>
      </p:pic>
      <p:pic>
        <p:nvPicPr>
          <p:cNvPr id="5" name="Picture 4">
            <a:extLst>
              <a:ext uri="{FF2B5EF4-FFF2-40B4-BE49-F238E27FC236}">
                <a16:creationId xmlns:a16="http://schemas.microsoft.com/office/drawing/2014/main" id="{F4C585FE-3E33-432A-B339-6A6215C2BDAF}"/>
              </a:ext>
            </a:extLst>
          </p:cNvPr>
          <p:cNvPicPr>
            <a:picLocks noChangeAspect="1"/>
          </p:cNvPicPr>
          <p:nvPr/>
        </p:nvPicPr>
        <p:blipFill>
          <a:blip r:embed="rId4"/>
          <a:stretch>
            <a:fillRect/>
          </a:stretch>
        </p:blipFill>
        <p:spPr>
          <a:xfrm>
            <a:off x="313567" y="1177649"/>
            <a:ext cx="2501552" cy="2479283"/>
          </a:xfrm>
          <a:prstGeom prst="rect">
            <a:avLst/>
          </a:prstGeom>
        </p:spPr>
      </p:pic>
      <p:pic>
        <p:nvPicPr>
          <p:cNvPr id="7" name="Picture 6">
            <a:extLst>
              <a:ext uri="{FF2B5EF4-FFF2-40B4-BE49-F238E27FC236}">
                <a16:creationId xmlns:a16="http://schemas.microsoft.com/office/drawing/2014/main" id="{9338DD44-D4A3-49A4-A5C4-202447A001A6}"/>
              </a:ext>
            </a:extLst>
          </p:cNvPr>
          <p:cNvPicPr>
            <a:picLocks noChangeAspect="1"/>
          </p:cNvPicPr>
          <p:nvPr/>
        </p:nvPicPr>
        <p:blipFill>
          <a:blip r:embed="rId5"/>
          <a:stretch>
            <a:fillRect/>
          </a:stretch>
        </p:blipFill>
        <p:spPr>
          <a:xfrm>
            <a:off x="6479013" y="3772657"/>
            <a:ext cx="5644786" cy="2578749"/>
          </a:xfrm>
          <a:prstGeom prst="rect">
            <a:avLst/>
          </a:prstGeom>
        </p:spPr>
      </p:pic>
      <p:sp>
        <p:nvSpPr>
          <p:cNvPr id="8" name="Google Shape;1312;p34">
            <a:extLst>
              <a:ext uri="{FF2B5EF4-FFF2-40B4-BE49-F238E27FC236}">
                <a16:creationId xmlns:a16="http://schemas.microsoft.com/office/drawing/2014/main" id="{7CC7D51C-B12D-4569-98EC-74CE3DF8D4B9}"/>
              </a:ext>
            </a:extLst>
          </p:cNvPr>
          <p:cNvSpPr txBox="1"/>
          <p:nvPr/>
        </p:nvSpPr>
        <p:spPr>
          <a:xfrm>
            <a:off x="7142971" y="3018348"/>
            <a:ext cx="3227664"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dirty="0">
                <a:solidFill>
                  <a:schemeClr val="dk1"/>
                </a:solidFill>
                <a:latin typeface="Century Gothic"/>
                <a:ea typeface="Century Gothic"/>
                <a:cs typeface="Century Gothic"/>
                <a:sym typeface="Century Gothic"/>
              </a:rPr>
              <a:t>Precision-Recall on class 0 is already good, meanwhile on class 1 (churns) can be improved for next cycle</a:t>
            </a:r>
            <a:endParaRPr sz="1200" dirty="0">
              <a:solidFill>
                <a:schemeClr val="dk1"/>
              </a:solidFill>
              <a:latin typeface="Century Gothic"/>
              <a:ea typeface="Century Gothic"/>
              <a:cs typeface="Century Gothic"/>
              <a:sym typeface="Century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17"/>
          <p:cNvSpPr txBox="1"/>
          <p:nvPr/>
        </p:nvSpPr>
        <p:spPr>
          <a:xfrm>
            <a:off x="175325" y="185913"/>
            <a:ext cx="9710140" cy="307777"/>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Strategy Analyst Results – Benefit of using model</a:t>
            </a:r>
            <a:endParaRPr sz="2000" b="1" i="0" u="none" strike="noStrike" cap="none" dirty="0">
              <a:solidFill>
                <a:srgbClr val="FF0000"/>
              </a:solidFill>
              <a:latin typeface="Century Gothic"/>
              <a:ea typeface="Century Gothic"/>
              <a:cs typeface="Century Gothic"/>
              <a:sym typeface="Century Gothic"/>
            </a:endParaRPr>
          </a:p>
        </p:txBody>
      </p:sp>
      <p:sp>
        <p:nvSpPr>
          <p:cNvPr id="16" name="Rectangle 15">
            <a:extLst>
              <a:ext uri="{FF2B5EF4-FFF2-40B4-BE49-F238E27FC236}">
                <a16:creationId xmlns:a16="http://schemas.microsoft.com/office/drawing/2014/main" id="{470EDE3F-AFC5-4DBF-82BE-81B5C3DF21FD}"/>
              </a:ext>
            </a:extLst>
          </p:cNvPr>
          <p:cNvSpPr/>
          <p:nvPr/>
        </p:nvSpPr>
        <p:spPr>
          <a:xfrm>
            <a:off x="470005" y="926815"/>
            <a:ext cx="11198119" cy="5330337"/>
          </a:xfrm>
          <a:prstGeom prst="rect">
            <a:avLst/>
          </a:prstGeom>
          <a:noFill/>
          <a:ln w="285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D" dirty="0">
              <a:solidFill>
                <a:schemeClr val="tx1"/>
              </a:solidFill>
            </a:endParaRPr>
          </a:p>
        </p:txBody>
      </p:sp>
      <p:sp>
        <p:nvSpPr>
          <p:cNvPr id="18" name="TextBox 17">
            <a:extLst>
              <a:ext uri="{FF2B5EF4-FFF2-40B4-BE49-F238E27FC236}">
                <a16:creationId xmlns:a16="http://schemas.microsoft.com/office/drawing/2014/main" id="{FF6690B7-B07D-4284-B06B-E2D65F529199}"/>
              </a:ext>
            </a:extLst>
          </p:cNvPr>
          <p:cNvSpPr txBox="1"/>
          <p:nvPr/>
        </p:nvSpPr>
        <p:spPr>
          <a:xfrm>
            <a:off x="470005" y="985438"/>
            <a:ext cx="8299282" cy="1384995"/>
          </a:xfrm>
          <a:prstGeom prst="rect">
            <a:avLst/>
          </a:prstGeom>
          <a:noFill/>
        </p:spPr>
        <p:txBody>
          <a:bodyPr wrap="square">
            <a:spAutoFit/>
          </a:bodyPr>
          <a:lstStyle/>
          <a:p>
            <a:pPr marR="0" lvl="0" rtl="0">
              <a:spcBef>
                <a:spcPts val="0"/>
              </a:spcBef>
              <a:spcAft>
                <a:spcPts val="0"/>
              </a:spcAft>
              <a:buClr>
                <a:schemeClr val="dk1"/>
              </a:buClr>
              <a:buSzPts val="1800"/>
            </a:pPr>
            <a:r>
              <a:rPr lang="en-US" sz="1400" b="1" dirty="0">
                <a:solidFill>
                  <a:schemeClr val="dk1"/>
                </a:solidFill>
                <a:latin typeface="Century Gothic"/>
                <a:sym typeface="Century Gothic"/>
              </a:rPr>
              <a:t>Model Scoring</a:t>
            </a:r>
          </a:p>
          <a:p>
            <a:pPr marL="285750" marR="0" lvl="0" indent="-285750" rtl="0">
              <a:spcBef>
                <a:spcPts val="0"/>
              </a:spcBef>
              <a:spcAft>
                <a:spcPts val="0"/>
              </a:spcAft>
              <a:buClr>
                <a:schemeClr val="dk1"/>
              </a:buClr>
              <a:buSzPts val="1800"/>
              <a:buFont typeface="Arial" panose="020B0604020202020204" pitchFamily="34" charset="0"/>
              <a:buChar char="•"/>
            </a:pPr>
            <a:r>
              <a:rPr lang="en-US" sz="1400" dirty="0">
                <a:solidFill>
                  <a:schemeClr val="dk1"/>
                </a:solidFill>
                <a:latin typeface="Century Gothic"/>
                <a:sym typeface="Century Gothic"/>
              </a:rPr>
              <a:t>Apply the model on the existing transaction portfolio data</a:t>
            </a:r>
          </a:p>
          <a:p>
            <a:pPr marL="285750" marR="0" lvl="0" indent="-285750" rtl="0">
              <a:spcBef>
                <a:spcPts val="0"/>
              </a:spcBef>
              <a:spcAft>
                <a:spcPts val="0"/>
              </a:spcAft>
              <a:buClr>
                <a:schemeClr val="dk1"/>
              </a:buClr>
              <a:buSzPts val="1800"/>
              <a:buFont typeface="Arial" panose="020B0604020202020204" pitchFamily="34" charset="0"/>
              <a:buChar char="•"/>
            </a:pPr>
            <a:r>
              <a:rPr lang="en-US" sz="1400" dirty="0">
                <a:solidFill>
                  <a:schemeClr val="dk1"/>
                </a:solidFill>
                <a:latin typeface="Century Gothic"/>
                <a:sym typeface="Century Gothic"/>
              </a:rPr>
              <a:t>Divide the scoring data into 10 deciles based on the high to low score probability</a:t>
            </a:r>
          </a:p>
          <a:p>
            <a:pPr marL="285750" marR="0" lvl="0" indent="-285750" rtl="0">
              <a:spcBef>
                <a:spcPts val="0"/>
              </a:spcBef>
              <a:spcAft>
                <a:spcPts val="0"/>
              </a:spcAft>
              <a:buClr>
                <a:schemeClr val="dk1"/>
              </a:buClr>
              <a:buSzPts val="1800"/>
              <a:buFont typeface="Arial" panose="020B0604020202020204" pitchFamily="34" charset="0"/>
              <a:buChar char="•"/>
            </a:pPr>
            <a:r>
              <a:rPr lang="en-US" sz="1400" dirty="0">
                <a:solidFill>
                  <a:schemeClr val="dk1"/>
                </a:solidFill>
                <a:latin typeface="Century Gothic"/>
                <a:sym typeface="Century Gothic"/>
              </a:rPr>
              <a:t>Classify high, medium, and low default rate of customers based on the decile grouping and average likelihood score for each decile</a:t>
            </a:r>
          </a:p>
          <a:p>
            <a:pPr marR="0" lvl="0" rtl="0">
              <a:spcBef>
                <a:spcPts val="0"/>
              </a:spcBef>
              <a:spcAft>
                <a:spcPts val="0"/>
              </a:spcAft>
              <a:buClr>
                <a:schemeClr val="dk1"/>
              </a:buClr>
              <a:buSzPts val="1800"/>
            </a:pPr>
            <a:r>
              <a:rPr lang="en-US" sz="1400" b="1" dirty="0">
                <a:solidFill>
                  <a:schemeClr val="dk1"/>
                </a:solidFill>
                <a:latin typeface="Century Gothic"/>
                <a:sym typeface="Century Gothic"/>
              </a:rPr>
              <a:t>Example :</a:t>
            </a:r>
          </a:p>
        </p:txBody>
      </p:sp>
      <p:pic>
        <p:nvPicPr>
          <p:cNvPr id="5" name="Picture 4">
            <a:extLst>
              <a:ext uri="{FF2B5EF4-FFF2-40B4-BE49-F238E27FC236}">
                <a16:creationId xmlns:a16="http://schemas.microsoft.com/office/drawing/2014/main" id="{65375985-BD26-4F36-AEAE-73940D27CBF5}"/>
              </a:ext>
            </a:extLst>
          </p:cNvPr>
          <p:cNvPicPr>
            <a:picLocks noChangeAspect="1"/>
          </p:cNvPicPr>
          <p:nvPr/>
        </p:nvPicPr>
        <p:blipFill>
          <a:blip r:embed="rId3"/>
          <a:stretch>
            <a:fillRect/>
          </a:stretch>
        </p:blipFill>
        <p:spPr>
          <a:xfrm>
            <a:off x="9091580" y="1432669"/>
            <a:ext cx="2254250" cy="565150"/>
          </a:xfrm>
          <a:prstGeom prst="rect">
            <a:avLst/>
          </a:prstGeom>
        </p:spPr>
      </p:pic>
      <p:pic>
        <p:nvPicPr>
          <p:cNvPr id="7" name="Picture 6">
            <a:extLst>
              <a:ext uri="{FF2B5EF4-FFF2-40B4-BE49-F238E27FC236}">
                <a16:creationId xmlns:a16="http://schemas.microsoft.com/office/drawing/2014/main" id="{D9296AB1-68DE-43FB-82FD-66375103FE73}"/>
              </a:ext>
            </a:extLst>
          </p:cNvPr>
          <p:cNvPicPr>
            <a:picLocks noChangeAspect="1"/>
          </p:cNvPicPr>
          <p:nvPr/>
        </p:nvPicPr>
        <p:blipFill>
          <a:blip r:embed="rId4"/>
          <a:stretch>
            <a:fillRect/>
          </a:stretch>
        </p:blipFill>
        <p:spPr>
          <a:xfrm>
            <a:off x="665130" y="2548609"/>
            <a:ext cx="10653136" cy="3275418"/>
          </a:xfrm>
          <a:prstGeom prst="rect">
            <a:avLst/>
          </a:prstGeom>
        </p:spPr>
      </p:pic>
    </p:spTree>
    <p:extLst>
      <p:ext uri="{BB962C8B-B14F-4D97-AF65-F5344CB8AC3E}">
        <p14:creationId xmlns:p14="http://schemas.microsoft.com/office/powerpoint/2010/main" val="1596264530"/>
      </p:ext>
    </p:extLst>
  </p:cSld>
  <p:clrMapOvr>
    <a:masterClrMapping/>
  </p:clrMapOvr>
  <p:transition spd="slow">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28"/>
        <p:cNvGrpSpPr/>
        <p:nvPr/>
      </p:nvGrpSpPr>
      <p:grpSpPr>
        <a:xfrm>
          <a:off x="0" y="0"/>
          <a:ext cx="0" cy="0"/>
          <a:chOff x="0" y="0"/>
          <a:chExt cx="0" cy="0"/>
        </a:xfrm>
      </p:grpSpPr>
      <p:sp>
        <p:nvSpPr>
          <p:cNvPr id="1329" name="Google Shape;1329;p36"/>
          <p:cNvSpPr/>
          <p:nvPr/>
        </p:nvSpPr>
        <p:spPr>
          <a:xfrm>
            <a:off x="0" y="0"/>
            <a:ext cx="4383314" cy="6858000"/>
          </a:xfrm>
          <a:prstGeom prst="rect">
            <a:avLst/>
          </a:prstGeom>
          <a:solidFill>
            <a:srgbClr val="222A3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0000"/>
              </a:solidFill>
              <a:latin typeface="Calibri"/>
              <a:ea typeface="Calibri"/>
              <a:cs typeface="Calibri"/>
              <a:sym typeface="Calibri"/>
            </a:endParaRPr>
          </a:p>
        </p:txBody>
      </p:sp>
      <p:sp>
        <p:nvSpPr>
          <p:cNvPr id="1330" name="Google Shape;1330;p36"/>
          <p:cNvSpPr txBox="1"/>
          <p:nvPr/>
        </p:nvSpPr>
        <p:spPr>
          <a:xfrm>
            <a:off x="-83054" y="2537450"/>
            <a:ext cx="4368800"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dirty="0">
                <a:solidFill>
                  <a:schemeClr val="lt1"/>
                </a:solidFill>
                <a:latin typeface="Century Gothic"/>
                <a:ea typeface="Century Gothic"/>
                <a:cs typeface="Century Gothic"/>
                <a:sym typeface="Century Gothic"/>
              </a:rPr>
              <a:t>Conclusion &amp; </a:t>
            </a:r>
            <a:endParaRPr dirty="0"/>
          </a:p>
        </p:txBody>
      </p:sp>
      <p:sp>
        <p:nvSpPr>
          <p:cNvPr id="1331" name="Google Shape;1331;p36"/>
          <p:cNvSpPr/>
          <p:nvPr/>
        </p:nvSpPr>
        <p:spPr>
          <a:xfrm>
            <a:off x="4383314" y="-9713"/>
            <a:ext cx="7808686"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332" name="Google Shape;1332;p36"/>
          <p:cNvSpPr/>
          <p:nvPr/>
        </p:nvSpPr>
        <p:spPr>
          <a:xfrm rot="10800000" flipH="1">
            <a:off x="4905291" y="1993955"/>
            <a:ext cx="2351313" cy="2568338"/>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D7141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333" name="Google Shape;1333;p36"/>
          <p:cNvSpPr/>
          <p:nvPr/>
        </p:nvSpPr>
        <p:spPr>
          <a:xfrm rot="10800000" flipH="1">
            <a:off x="9578894" y="1980720"/>
            <a:ext cx="2351313" cy="2568338"/>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1334" name="Google Shape;1334;p36"/>
          <p:cNvGrpSpPr/>
          <p:nvPr/>
        </p:nvGrpSpPr>
        <p:grpSpPr>
          <a:xfrm>
            <a:off x="6042476" y="309601"/>
            <a:ext cx="2315938" cy="5312578"/>
            <a:chOff x="6042476" y="309601"/>
            <a:chExt cx="2315938" cy="5312578"/>
          </a:xfrm>
        </p:grpSpPr>
        <p:sp>
          <p:nvSpPr>
            <p:cNvPr id="1335" name="Google Shape;1335;p36"/>
            <p:cNvSpPr/>
            <p:nvPr/>
          </p:nvSpPr>
          <p:spPr>
            <a:xfrm rot="10800000" flipH="1">
              <a:off x="7952014" y="309601"/>
              <a:ext cx="406400" cy="435777"/>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87AE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336" name="Google Shape;1336;p36"/>
            <p:cNvSpPr/>
            <p:nvPr/>
          </p:nvSpPr>
          <p:spPr>
            <a:xfrm rot="10800000" flipH="1">
              <a:off x="6042476" y="5186753"/>
              <a:ext cx="385538" cy="435426"/>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solidFill>
              <a:srgbClr val="4DABC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grpSp>
        <p:nvGrpSpPr>
          <p:cNvPr id="1337" name="Google Shape;1337;p36"/>
          <p:cNvGrpSpPr/>
          <p:nvPr/>
        </p:nvGrpSpPr>
        <p:grpSpPr>
          <a:xfrm>
            <a:off x="5056952" y="1064692"/>
            <a:ext cx="6546350" cy="4350905"/>
            <a:chOff x="5191376" y="1882501"/>
            <a:chExt cx="6546350" cy="4350905"/>
          </a:xfrm>
        </p:grpSpPr>
        <p:grpSp>
          <p:nvGrpSpPr>
            <p:cNvPr id="1338" name="Google Shape;1338;p36"/>
            <p:cNvGrpSpPr/>
            <p:nvPr/>
          </p:nvGrpSpPr>
          <p:grpSpPr>
            <a:xfrm>
              <a:off x="5272885" y="1980720"/>
              <a:ext cx="6464841" cy="4252686"/>
              <a:chOff x="4667618" y="827314"/>
              <a:chExt cx="6464841" cy="4252686"/>
            </a:xfrm>
          </p:grpSpPr>
          <p:sp>
            <p:nvSpPr>
              <p:cNvPr id="1339" name="Google Shape;1339;p36"/>
              <p:cNvSpPr/>
              <p:nvPr/>
            </p:nvSpPr>
            <p:spPr>
              <a:xfrm rot="10800000" flipH="1">
                <a:off x="4667618" y="1207246"/>
                <a:ext cx="2604039" cy="3466353"/>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340" name="Google Shape;1340;p36"/>
              <p:cNvSpPr/>
              <p:nvPr/>
            </p:nvSpPr>
            <p:spPr>
              <a:xfrm rot="10800000" flipH="1">
                <a:off x="6373049" y="1030514"/>
                <a:ext cx="2770952" cy="3831772"/>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341" name="Google Shape;1341;p36"/>
              <p:cNvSpPr/>
              <p:nvPr/>
            </p:nvSpPr>
            <p:spPr>
              <a:xfrm rot="10800000" flipH="1">
                <a:off x="8165565" y="827314"/>
                <a:ext cx="2966894" cy="4252686"/>
              </a:xfrm>
              <a:custGeom>
                <a:avLst/>
                <a:gdLst/>
                <a:ahLst/>
                <a:cxnLst/>
                <a:rect l="l" t="t" r="r" b="b"/>
                <a:pathLst>
                  <a:path w="5277230" h="6320118" extrusionOk="0">
                    <a:moveTo>
                      <a:pt x="0" y="6320118"/>
                    </a:moveTo>
                    <a:lnTo>
                      <a:pt x="3523129" y="6320118"/>
                    </a:lnTo>
                    <a:lnTo>
                      <a:pt x="5277230" y="3160059"/>
                    </a:lnTo>
                    <a:lnTo>
                      <a:pt x="3523129" y="0"/>
                    </a:lnTo>
                    <a:lnTo>
                      <a:pt x="0" y="0"/>
                    </a:lnTo>
                    <a:lnTo>
                      <a:pt x="1754101" y="3160059"/>
                    </a:lnTo>
                    <a:close/>
                  </a:path>
                </a:pathLst>
              </a:custGeom>
              <a:blipFill rotWithShape="1">
                <a:blip r:embed="rId4">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sp>
          <p:nvSpPr>
            <p:cNvPr id="1342" name="Google Shape;1342;p36"/>
            <p:cNvSpPr/>
            <p:nvPr/>
          </p:nvSpPr>
          <p:spPr>
            <a:xfrm rot="10800000" flipH="1">
              <a:off x="5191376" y="1882501"/>
              <a:ext cx="6464841" cy="4252686"/>
            </a:xfrm>
            <a:custGeom>
              <a:avLst/>
              <a:gdLst/>
              <a:ahLst/>
              <a:cxnLst/>
              <a:rect l="l" t="t" r="r" b="b"/>
              <a:pathLst>
                <a:path w="6464841" h="4252686" extrusionOk="0">
                  <a:moveTo>
                    <a:pt x="0" y="3872754"/>
                  </a:moveTo>
                  <a:lnTo>
                    <a:pt x="1738482" y="3872754"/>
                  </a:lnTo>
                  <a:lnTo>
                    <a:pt x="2604039" y="2139578"/>
                  </a:lnTo>
                  <a:lnTo>
                    <a:pt x="1738482" y="406401"/>
                  </a:lnTo>
                  <a:lnTo>
                    <a:pt x="0" y="406401"/>
                  </a:lnTo>
                  <a:lnTo>
                    <a:pt x="865558" y="2139578"/>
                  </a:lnTo>
                  <a:close/>
                  <a:moveTo>
                    <a:pt x="1705431" y="4049486"/>
                  </a:moveTo>
                  <a:lnTo>
                    <a:pt x="3555345" y="4049486"/>
                  </a:lnTo>
                  <a:lnTo>
                    <a:pt x="4476383" y="2133600"/>
                  </a:lnTo>
                  <a:lnTo>
                    <a:pt x="3555345" y="217714"/>
                  </a:lnTo>
                  <a:lnTo>
                    <a:pt x="1705431" y="217714"/>
                  </a:lnTo>
                  <a:lnTo>
                    <a:pt x="2626469" y="2133600"/>
                  </a:lnTo>
                  <a:close/>
                  <a:moveTo>
                    <a:pt x="3497947" y="4252686"/>
                  </a:moveTo>
                  <a:lnTo>
                    <a:pt x="5478674" y="4252686"/>
                  </a:lnTo>
                  <a:lnTo>
                    <a:pt x="6464841" y="2126343"/>
                  </a:lnTo>
                  <a:lnTo>
                    <a:pt x="5478674" y="0"/>
                  </a:lnTo>
                  <a:lnTo>
                    <a:pt x="3497947" y="0"/>
                  </a:lnTo>
                  <a:lnTo>
                    <a:pt x="4484114" y="2126343"/>
                  </a:lnTo>
                  <a:close/>
                </a:path>
              </a:pathLst>
            </a:custGeom>
            <a:blipFill rotWithShape="1">
              <a:blip r:embed="rId5">
                <a:alphaModFix amt="25000"/>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30"/>
                                        </p:tgtEl>
                                        <p:attrNameLst>
                                          <p:attrName>style.visibility</p:attrName>
                                        </p:attrNameLst>
                                      </p:cBhvr>
                                      <p:to>
                                        <p:strVal val="visible"/>
                                      </p:to>
                                    </p:set>
                                    <p:animEffect transition="in" filter="fade">
                                      <p:cBhvr>
                                        <p:cTn id="7" dur="500"/>
                                        <p:tgtEl>
                                          <p:spTgt spid="1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47"/>
        <p:cNvGrpSpPr/>
        <p:nvPr/>
      </p:nvGrpSpPr>
      <p:grpSpPr>
        <a:xfrm>
          <a:off x="0" y="0"/>
          <a:ext cx="0" cy="0"/>
          <a:chOff x="0" y="0"/>
          <a:chExt cx="0" cy="0"/>
        </a:xfrm>
      </p:grpSpPr>
      <p:sp>
        <p:nvSpPr>
          <p:cNvPr id="1348" name="Google Shape;1348;p37"/>
          <p:cNvSpPr txBox="1"/>
          <p:nvPr/>
        </p:nvSpPr>
        <p:spPr>
          <a:xfrm>
            <a:off x="175325" y="233538"/>
            <a:ext cx="9710100" cy="307800"/>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Conclusions</a:t>
            </a:r>
            <a:endParaRPr sz="2000" b="1" i="0" u="none" strike="noStrike" cap="none" dirty="0">
              <a:solidFill>
                <a:srgbClr val="FF0000"/>
              </a:solidFill>
              <a:latin typeface="Century Gothic"/>
              <a:ea typeface="Century Gothic"/>
              <a:cs typeface="Century Gothic"/>
              <a:sym typeface="Century Gothic"/>
            </a:endParaRPr>
          </a:p>
        </p:txBody>
      </p:sp>
      <p:sp>
        <p:nvSpPr>
          <p:cNvPr id="1349" name="Google Shape;1349;p37"/>
          <p:cNvSpPr txBox="1"/>
          <p:nvPr/>
        </p:nvSpPr>
        <p:spPr>
          <a:xfrm>
            <a:off x="261256" y="738132"/>
            <a:ext cx="11686800" cy="507827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Century Gothic"/>
              <a:buAutoNum type="arabicPeriod"/>
            </a:pPr>
            <a:r>
              <a:rPr lang="en-US" sz="1800" dirty="0">
                <a:solidFill>
                  <a:schemeClr val="dk1"/>
                </a:solidFill>
                <a:latin typeface="Century Gothic"/>
                <a:ea typeface="Century Gothic"/>
                <a:cs typeface="Century Gothic"/>
                <a:sym typeface="Century Gothic"/>
              </a:rPr>
              <a:t>For customer who have </a:t>
            </a:r>
            <a:r>
              <a:rPr lang="en-US" sz="1800" b="1" dirty="0">
                <a:solidFill>
                  <a:schemeClr val="dk1"/>
                </a:solidFill>
                <a:latin typeface="Century Gothic"/>
                <a:ea typeface="Century Gothic"/>
                <a:cs typeface="Century Gothic"/>
                <a:sym typeface="Century Gothic"/>
              </a:rPr>
              <a:t>diff time between last and first issued &lt;= 2 months</a:t>
            </a:r>
            <a:r>
              <a:rPr lang="en-US" sz="1800" dirty="0">
                <a:solidFill>
                  <a:schemeClr val="dk1"/>
                </a:solidFill>
                <a:latin typeface="Century Gothic"/>
                <a:ea typeface="Century Gothic"/>
                <a:cs typeface="Century Gothic"/>
                <a:sym typeface="Century Gothic"/>
              </a:rPr>
              <a:t>, it probably this customer only looks for </a:t>
            </a:r>
            <a:r>
              <a:rPr lang="en-US" sz="1800" b="1" dirty="0">
                <a:solidFill>
                  <a:schemeClr val="dk1"/>
                </a:solidFill>
                <a:latin typeface="Century Gothic"/>
                <a:ea typeface="Century Gothic"/>
                <a:cs typeface="Century Gothic"/>
                <a:sym typeface="Century Gothic"/>
              </a:rPr>
              <a:t>promo in certain periods of time</a:t>
            </a:r>
            <a:r>
              <a:rPr lang="en-US" sz="1800" dirty="0">
                <a:solidFill>
                  <a:schemeClr val="dk1"/>
                </a:solidFill>
                <a:latin typeface="Century Gothic"/>
                <a:ea typeface="Century Gothic"/>
                <a:cs typeface="Century Gothic"/>
                <a:sym typeface="Century Gothic"/>
              </a:rPr>
              <a:t>, in other hand &gt; 2 months is more loyal customer. In other hand from cohort analysis standpoint It is safe to assume retention label can be done in monthly basis because of healthy retention overall throughout the years.</a:t>
            </a:r>
          </a:p>
          <a:p>
            <a:pPr marL="342900" marR="0" lvl="0" indent="-342900" algn="l" rtl="0">
              <a:spcBef>
                <a:spcPts val="0"/>
              </a:spcBef>
              <a:spcAft>
                <a:spcPts val="0"/>
              </a:spcAft>
              <a:buClr>
                <a:schemeClr val="dk1"/>
              </a:buClr>
              <a:buSzPts val="1800"/>
              <a:buFont typeface="Century Gothic"/>
              <a:buAutoNum type="arabicPeriod"/>
            </a:pPr>
            <a:r>
              <a:rPr lang="en-US" sz="1800" dirty="0">
                <a:solidFill>
                  <a:schemeClr val="dk1"/>
                </a:solidFill>
                <a:latin typeface="Century Gothic"/>
                <a:ea typeface="Century Gothic"/>
                <a:cs typeface="Century Gothic"/>
                <a:sym typeface="Century Gothic"/>
              </a:rPr>
              <a:t>Define churns label not in a year, but in maximum 2 months of periods observation other than that more loyal customer because the natural business </a:t>
            </a:r>
            <a:r>
              <a:rPr lang="en-US" sz="1800" dirty="0" err="1">
                <a:solidFill>
                  <a:schemeClr val="dk1"/>
                </a:solidFill>
                <a:latin typeface="Century Gothic"/>
                <a:ea typeface="Century Gothic"/>
                <a:cs typeface="Century Gothic"/>
                <a:sym typeface="Century Gothic"/>
              </a:rPr>
              <a:t>behaviour</a:t>
            </a:r>
            <a:r>
              <a:rPr lang="en-US" sz="1800" dirty="0">
                <a:solidFill>
                  <a:schemeClr val="dk1"/>
                </a:solidFill>
                <a:latin typeface="Century Gothic"/>
                <a:ea typeface="Century Gothic"/>
                <a:cs typeface="Century Gothic"/>
                <a:sym typeface="Century Gothic"/>
              </a:rPr>
              <a:t> of Traveloka product is rarely transactions in shorter periods or the near future</a:t>
            </a:r>
            <a:endParaRPr lang="en-US" dirty="0"/>
          </a:p>
          <a:p>
            <a:pPr marL="342900" marR="0" lvl="0" indent="-342900" algn="l" rtl="0">
              <a:spcBef>
                <a:spcPts val="0"/>
              </a:spcBef>
              <a:spcAft>
                <a:spcPts val="0"/>
              </a:spcAft>
              <a:buClr>
                <a:schemeClr val="dk1"/>
              </a:buClr>
              <a:buSzPts val="1800"/>
              <a:buFont typeface="Century Gothic"/>
              <a:buAutoNum type="arabicPeriod"/>
            </a:pPr>
            <a:r>
              <a:rPr lang="en-US" sz="1800" dirty="0">
                <a:solidFill>
                  <a:schemeClr val="dk1"/>
                </a:solidFill>
                <a:latin typeface="Century Gothic"/>
                <a:ea typeface="Century Gothic"/>
                <a:cs typeface="Century Gothic"/>
                <a:sym typeface="Century Gothic"/>
              </a:rPr>
              <a:t>Performing</a:t>
            </a:r>
            <a:r>
              <a:rPr lang="en-US" sz="1800" b="1" dirty="0">
                <a:solidFill>
                  <a:schemeClr val="dk1"/>
                </a:solidFill>
                <a:latin typeface="Century Gothic"/>
                <a:ea typeface="Century Gothic"/>
                <a:cs typeface="Century Gothic"/>
                <a:sym typeface="Century Gothic"/>
              </a:rPr>
              <a:t> cluster</a:t>
            </a:r>
            <a:r>
              <a:rPr lang="en-US" sz="1800" dirty="0">
                <a:solidFill>
                  <a:schemeClr val="dk1"/>
                </a:solidFill>
                <a:latin typeface="Century Gothic"/>
                <a:ea typeface="Century Gothic"/>
                <a:cs typeface="Century Gothic"/>
                <a:sym typeface="Century Gothic"/>
              </a:rPr>
              <a:t> </a:t>
            </a:r>
            <a:r>
              <a:rPr lang="en-US" sz="1800" b="1" dirty="0">
                <a:solidFill>
                  <a:schemeClr val="dk1"/>
                </a:solidFill>
                <a:latin typeface="Century Gothic"/>
                <a:ea typeface="Century Gothic"/>
                <a:cs typeface="Century Gothic"/>
                <a:sym typeface="Century Gothic"/>
              </a:rPr>
              <a:t>segment</a:t>
            </a:r>
            <a:r>
              <a:rPr lang="en-US" sz="1800" dirty="0">
                <a:solidFill>
                  <a:schemeClr val="dk1"/>
                </a:solidFill>
                <a:latin typeface="Century Gothic"/>
                <a:ea typeface="Century Gothic"/>
                <a:cs typeface="Century Gothic"/>
                <a:sym typeface="Century Gothic"/>
              </a:rPr>
              <a:t> help to </a:t>
            </a:r>
            <a:r>
              <a:rPr lang="en-US" sz="1800" b="1" dirty="0">
                <a:solidFill>
                  <a:schemeClr val="dk1"/>
                </a:solidFill>
                <a:latin typeface="Century Gothic"/>
                <a:ea typeface="Century Gothic"/>
                <a:cs typeface="Century Gothic"/>
                <a:sym typeface="Century Gothic"/>
              </a:rPr>
              <a:t>determine</a:t>
            </a:r>
            <a:r>
              <a:rPr lang="en-US" sz="1800" dirty="0">
                <a:solidFill>
                  <a:schemeClr val="dk1"/>
                </a:solidFill>
                <a:latin typeface="Century Gothic"/>
                <a:ea typeface="Century Gothic"/>
                <a:cs typeface="Century Gothic"/>
                <a:sym typeface="Century Gothic"/>
              </a:rPr>
              <a:t> which target that receive </a:t>
            </a:r>
            <a:r>
              <a:rPr lang="en-US" sz="1800" b="1" dirty="0">
                <a:solidFill>
                  <a:schemeClr val="dk1"/>
                </a:solidFill>
                <a:latin typeface="Century Gothic"/>
                <a:ea typeface="Century Gothic"/>
                <a:cs typeface="Century Gothic"/>
                <a:sym typeface="Century Gothic"/>
              </a:rPr>
              <a:t>loyalty program</a:t>
            </a:r>
            <a:r>
              <a:rPr lang="en-US" sz="1800" dirty="0">
                <a:solidFill>
                  <a:schemeClr val="dk1"/>
                </a:solidFill>
                <a:latin typeface="Century Gothic"/>
                <a:ea typeface="Century Gothic"/>
                <a:cs typeface="Century Gothic"/>
                <a:sym typeface="Century Gothic"/>
              </a:rPr>
              <a:t> or </a:t>
            </a:r>
            <a:r>
              <a:rPr lang="en-US" sz="1800" b="1" dirty="0">
                <a:solidFill>
                  <a:schemeClr val="dk1"/>
                </a:solidFill>
                <a:latin typeface="Century Gothic"/>
                <a:ea typeface="Century Gothic"/>
                <a:cs typeface="Century Gothic"/>
                <a:sym typeface="Century Gothic"/>
              </a:rPr>
              <a:t>promo program (Mainly segment A product flight and hotel)</a:t>
            </a:r>
            <a:endParaRPr dirty="0"/>
          </a:p>
          <a:p>
            <a:pPr marL="342900" marR="0" lvl="0" indent="-342900" algn="l" rtl="0">
              <a:spcBef>
                <a:spcPts val="0"/>
              </a:spcBef>
              <a:spcAft>
                <a:spcPts val="0"/>
              </a:spcAft>
              <a:buClr>
                <a:schemeClr val="dk1"/>
              </a:buClr>
              <a:buSzPts val="1800"/>
              <a:buFont typeface="Century Gothic"/>
              <a:buAutoNum type="arabicPeriod"/>
            </a:pPr>
            <a:r>
              <a:rPr lang="en-US" sz="1800" dirty="0">
                <a:solidFill>
                  <a:schemeClr val="dk1"/>
                </a:solidFill>
                <a:latin typeface="Century Gothic"/>
                <a:ea typeface="Century Gothic"/>
                <a:cs typeface="Century Gothic"/>
                <a:sym typeface="Century Gothic"/>
              </a:rPr>
              <a:t>There are 10 features have strong predictor to churns , those are </a:t>
            </a:r>
            <a:r>
              <a:rPr lang="en-US" sz="1800" b="1" dirty="0">
                <a:solidFill>
                  <a:schemeClr val="dk1"/>
                </a:solidFill>
                <a:latin typeface="Century Gothic"/>
                <a:ea typeface="Century Gothic"/>
                <a:cs typeface="Century Gothic"/>
                <a:sym typeface="Century Gothic"/>
              </a:rPr>
              <a:t>tenure hours</a:t>
            </a:r>
            <a:r>
              <a:rPr lang="en-US" sz="1800" dirty="0">
                <a:solidFill>
                  <a:schemeClr val="dk1"/>
                </a:solidFill>
                <a:latin typeface="Century Gothic"/>
                <a:ea typeface="Century Gothic"/>
                <a:cs typeface="Century Gothic"/>
                <a:sym typeface="Century Gothic"/>
              </a:rPr>
              <a:t>(0.57), </a:t>
            </a:r>
            <a:r>
              <a:rPr lang="en-US" sz="1800" b="1" dirty="0">
                <a:solidFill>
                  <a:schemeClr val="dk1"/>
                </a:solidFill>
                <a:latin typeface="Century Gothic"/>
                <a:ea typeface="Century Gothic"/>
                <a:cs typeface="Century Gothic"/>
                <a:sym typeface="Century Gothic"/>
              </a:rPr>
              <a:t>difference last booking time with first booking time </a:t>
            </a:r>
            <a:r>
              <a:rPr lang="en-US" sz="1800" dirty="0">
                <a:solidFill>
                  <a:schemeClr val="dk1"/>
                </a:solidFill>
                <a:latin typeface="Century Gothic"/>
                <a:ea typeface="Century Gothic"/>
                <a:cs typeface="Century Gothic"/>
                <a:sym typeface="Century Gothic"/>
              </a:rPr>
              <a:t>(0.57), </a:t>
            </a:r>
            <a:r>
              <a:rPr lang="en-US" sz="1800" b="1" dirty="0">
                <a:solidFill>
                  <a:schemeClr val="dk1"/>
                </a:solidFill>
                <a:latin typeface="Century Gothic"/>
                <a:ea typeface="Century Gothic"/>
                <a:cs typeface="Century Gothic"/>
                <a:sym typeface="Century Gothic"/>
              </a:rPr>
              <a:t>difference last issued time with first issued time </a:t>
            </a:r>
            <a:r>
              <a:rPr lang="en-US" sz="1800" dirty="0">
                <a:solidFill>
                  <a:schemeClr val="dk1"/>
                </a:solidFill>
                <a:latin typeface="Century Gothic"/>
                <a:ea typeface="Century Gothic"/>
                <a:cs typeface="Century Gothic"/>
                <a:sym typeface="Century Gothic"/>
              </a:rPr>
              <a:t>(0.52), </a:t>
            </a:r>
            <a:r>
              <a:rPr lang="en-US" sz="1800" b="1" dirty="0">
                <a:solidFill>
                  <a:schemeClr val="dk1"/>
                </a:solidFill>
                <a:latin typeface="Century Gothic"/>
                <a:ea typeface="Century Gothic"/>
                <a:cs typeface="Century Gothic"/>
                <a:sym typeface="Century Gothic"/>
              </a:rPr>
              <a:t>count issued</a:t>
            </a:r>
            <a:r>
              <a:rPr lang="en-US" sz="1800" dirty="0">
                <a:solidFill>
                  <a:schemeClr val="dk1"/>
                </a:solidFill>
                <a:latin typeface="Century Gothic"/>
                <a:ea typeface="Century Gothic"/>
                <a:cs typeface="Century Gothic"/>
                <a:sym typeface="Century Gothic"/>
              </a:rPr>
              <a:t> (0.45), </a:t>
            </a:r>
            <a:r>
              <a:rPr lang="en-US" sz="1800" b="1" dirty="0">
                <a:solidFill>
                  <a:schemeClr val="dk1"/>
                </a:solidFill>
                <a:latin typeface="Century Gothic"/>
                <a:ea typeface="Century Gothic"/>
                <a:cs typeface="Century Gothic"/>
                <a:sym typeface="Century Gothic"/>
              </a:rPr>
              <a:t>count booking</a:t>
            </a:r>
            <a:r>
              <a:rPr lang="en-US" sz="1800" dirty="0">
                <a:solidFill>
                  <a:schemeClr val="dk1"/>
                </a:solidFill>
                <a:latin typeface="Century Gothic"/>
                <a:ea typeface="Century Gothic"/>
                <a:cs typeface="Century Gothic"/>
                <a:sym typeface="Century Gothic"/>
              </a:rPr>
              <a:t> (0.45), </a:t>
            </a:r>
            <a:r>
              <a:rPr lang="en-US" sz="1800" b="1" dirty="0">
                <a:solidFill>
                  <a:schemeClr val="dk1"/>
                </a:solidFill>
                <a:latin typeface="Century Gothic"/>
                <a:ea typeface="Century Gothic"/>
                <a:cs typeface="Century Gothic"/>
                <a:sym typeface="Century Gothic"/>
              </a:rPr>
              <a:t>cluster segment</a:t>
            </a:r>
            <a:r>
              <a:rPr lang="en-US" sz="1800" dirty="0">
                <a:solidFill>
                  <a:schemeClr val="dk1"/>
                </a:solidFill>
                <a:latin typeface="Century Gothic"/>
                <a:ea typeface="Century Gothic"/>
                <a:cs typeface="Century Gothic"/>
                <a:sym typeface="Century Gothic"/>
              </a:rPr>
              <a:t> (0.45), </a:t>
            </a:r>
            <a:r>
              <a:rPr lang="en-US" sz="1800" b="1" dirty="0">
                <a:solidFill>
                  <a:schemeClr val="dk1"/>
                </a:solidFill>
                <a:latin typeface="Century Gothic"/>
                <a:ea typeface="Century Gothic"/>
                <a:cs typeface="Century Gothic"/>
                <a:sym typeface="Century Gothic"/>
              </a:rPr>
              <a:t>invoice per count issued</a:t>
            </a:r>
            <a:r>
              <a:rPr lang="en-US" sz="1800" dirty="0">
                <a:solidFill>
                  <a:schemeClr val="dk1"/>
                </a:solidFill>
                <a:latin typeface="Century Gothic"/>
                <a:ea typeface="Century Gothic"/>
                <a:cs typeface="Century Gothic"/>
                <a:sym typeface="Century Gothic"/>
              </a:rPr>
              <a:t> (0.42), </a:t>
            </a:r>
            <a:r>
              <a:rPr lang="en-US" sz="1800" b="1" dirty="0">
                <a:solidFill>
                  <a:schemeClr val="dk1"/>
                </a:solidFill>
                <a:latin typeface="Century Gothic"/>
                <a:ea typeface="Century Gothic"/>
                <a:cs typeface="Century Gothic"/>
                <a:sym typeface="Century Gothic"/>
              </a:rPr>
              <a:t>invoice per count booking</a:t>
            </a:r>
            <a:r>
              <a:rPr lang="en-US" sz="1800" dirty="0">
                <a:solidFill>
                  <a:schemeClr val="dk1"/>
                </a:solidFill>
                <a:latin typeface="Century Gothic"/>
                <a:ea typeface="Century Gothic"/>
                <a:cs typeface="Century Gothic"/>
                <a:sym typeface="Century Gothic"/>
              </a:rPr>
              <a:t> (0.36), </a:t>
            </a:r>
            <a:r>
              <a:rPr lang="en-US" sz="1800" b="1" dirty="0">
                <a:solidFill>
                  <a:schemeClr val="dk1"/>
                </a:solidFill>
                <a:latin typeface="Century Gothic"/>
                <a:ea typeface="Century Gothic"/>
                <a:cs typeface="Century Gothic"/>
                <a:sym typeface="Century Gothic"/>
              </a:rPr>
              <a:t>probability success transactions</a:t>
            </a:r>
            <a:r>
              <a:rPr lang="en-US" sz="1800" dirty="0">
                <a:solidFill>
                  <a:schemeClr val="dk1"/>
                </a:solidFill>
                <a:latin typeface="Century Gothic"/>
                <a:ea typeface="Century Gothic"/>
                <a:cs typeface="Century Gothic"/>
                <a:sym typeface="Century Gothic"/>
              </a:rPr>
              <a:t> (0.26), and </a:t>
            </a:r>
            <a:r>
              <a:rPr lang="en-US" sz="1800" b="1" dirty="0">
                <a:solidFill>
                  <a:schemeClr val="dk1"/>
                </a:solidFill>
                <a:latin typeface="Century Gothic"/>
                <a:ea typeface="Century Gothic"/>
                <a:cs typeface="Century Gothic"/>
                <a:sym typeface="Century Gothic"/>
              </a:rPr>
              <a:t>difference last issued time with last booking time</a:t>
            </a:r>
            <a:r>
              <a:rPr lang="en-US" sz="1800" dirty="0">
                <a:solidFill>
                  <a:schemeClr val="dk1"/>
                </a:solidFill>
                <a:latin typeface="Century Gothic"/>
                <a:ea typeface="Century Gothic"/>
                <a:cs typeface="Century Gothic"/>
                <a:sym typeface="Century Gothic"/>
              </a:rPr>
              <a:t> (0.23)</a:t>
            </a:r>
            <a:endParaRPr dirty="0"/>
          </a:p>
          <a:p>
            <a:pPr marL="342900" marR="0" lvl="0" indent="-342900" algn="l" rtl="0">
              <a:spcBef>
                <a:spcPts val="0"/>
              </a:spcBef>
              <a:spcAft>
                <a:spcPts val="0"/>
              </a:spcAft>
              <a:buClr>
                <a:schemeClr val="dk1"/>
              </a:buClr>
              <a:buSzPts val="1800"/>
              <a:buFont typeface="Century Gothic"/>
              <a:buAutoNum type="arabicPeriod"/>
            </a:pPr>
            <a:r>
              <a:rPr lang="en-US" sz="1800" dirty="0">
                <a:solidFill>
                  <a:schemeClr val="dk1"/>
                </a:solidFill>
                <a:latin typeface="Century Gothic"/>
                <a:ea typeface="Century Gothic"/>
                <a:cs typeface="Century Gothic"/>
                <a:sym typeface="Century Gothic"/>
              </a:rPr>
              <a:t>All of these analysis probably could be supported by uncaptured data like payment systems (range of cancelling time, Fee cancellation, using wallet point, profiling data like segment status, </a:t>
            </a:r>
            <a:r>
              <a:rPr lang="en-US" sz="1800" dirty="0" err="1">
                <a:solidFill>
                  <a:schemeClr val="dk1"/>
                </a:solidFill>
                <a:latin typeface="Century Gothic"/>
                <a:ea typeface="Century Gothic"/>
                <a:cs typeface="Century Gothic"/>
                <a:sym typeface="Century Gothic"/>
              </a:rPr>
              <a:t>etc</a:t>
            </a:r>
            <a:r>
              <a:rPr lang="en-US" sz="1800" dirty="0">
                <a:solidFill>
                  <a:schemeClr val="dk1"/>
                </a:solidFill>
                <a:latin typeface="Century Gothic"/>
                <a:ea typeface="Century Gothic"/>
                <a:cs typeface="Century Gothic"/>
                <a:sym typeface="Century Gothic"/>
              </a:rPr>
              <a:t>), UI/UX experiences, and </a:t>
            </a:r>
            <a:r>
              <a:rPr lang="en-US" sz="1800" dirty="0" err="1">
                <a:solidFill>
                  <a:schemeClr val="dk1"/>
                </a:solidFill>
                <a:latin typeface="Century Gothic"/>
                <a:ea typeface="Century Gothic"/>
                <a:cs typeface="Century Gothic"/>
                <a:sym typeface="Century Gothic"/>
              </a:rPr>
              <a:t>etc</a:t>
            </a:r>
            <a:endParaRPr dirty="0"/>
          </a:p>
          <a:p>
            <a:pPr marL="342900" marR="0" lvl="0" indent="-228600" algn="l" rtl="0">
              <a:spcBef>
                <a:spcPts val="0"/>
              </a:spcBef>
              <a:spcAft>
                <a:spcPts val="0"/>
              </a:spcAft>
              <a:buClr>
                <a:schemeClr val="dk1"/>
              </a:buClr>
              <a:buSzPts val="1800"/>
              <a:buFont typeface="Calibri"/>
              <a:buNone/>
            </a:pPr>
            <a:endParaRPr sz="1800" dirty="0">
              <a:solidFill>
                <a:schemeClr val="dk1"/>
              </a:solidFill>
              <a:latin typeface="Century Gothic"/>
              <a:ea typeface="Century Gothic"/>
              <a:cs typeface="Century Gothic"/>
              <a:sym typeface="Century Gothic"/>
            </a:endParaRPr>
          </a:p>
        </p:txBody>
      </p:sp>
    </p:spTree>
  </p:cSld>
  <p:clrMapOvr>
    <a:masterClrMapping/>
  </p:clrMapOvr>
  <p:transition spd="slow">
    <p:push/>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54"/>
        <p:cNvGrpSpPr/>
        <p:nvPr/>
      </p:nvGrpSpPr>
      <p:grpSpPr>
        <a:xfrm>
          <a:off x="0" y="0"/>
          <a:ext cx="0" cy="0"/>
          <a:chOff x="0" y="0"/>
          <a:chExt cx="0" cy="0"/>
        </a:xfrm>
      </p:grpSpPr>
      <p:sp>
        <p:nvSpPr>
          <p:cNvPr id="1355" name="Google Shape;1355;p38"/>
          <p:cNvSpPr txBox="1"/>
          <p:nvPr/>
        </p:nvSpPr>
        <p:spPr>
          <a:xfrm>
            <a:off x="175325" y="233538"/>
            <a:ext cx="9710140" cy="307777"/>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Recommendation of data experiments</a:t>
            </a:r>
            <a:endParaRPr sz="2000" b="1" i="0" u="none" strike="noStrike" cap="none" dirty="0">
              <a:solidFill>
                <a:srgbClr val="FF0000"/>
              </a:solidFill>
              <a:latin typeface="Century Gothic"/>
              <a:ea typeface="Century Gothic"/>
              <a:cs typeface="Century Gothic"/>
              <a:sym typeface="Century Gothic"/>
            </a:endParaRPr>
          </a:p>
        </p:txBody>
      </p:sp>
      <p:sp>
        <p:nvSpPr>
          <p:cNvPr id="1356" name="Google Shape;1356;p38"/>
          <p:cNvSpPr txBox="1"/>
          <p:nvPr/>
        </p:nvSpPr>
        <p:spPr>
          <a:xfrm>
            <a:off x="409575" y="718661"/>
            <a:ext cx="11144400" cy="341700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Century Gothic"/>
              <a:buAutoNum type="arabicPeriod"/>
            </a:pPr>
            <a:r>
              <a:rPr lang="en-US" sz="1800" dirty="0">
                <a:solidFill>
                  <a:schemeClr val="dk1"/>
                </a:solidFill>
                <a:latin typeface="Century Gothic"/>
                <a:ea typeface="Century Gothic"/>
                <a:cs typeface="Century Gothic"/>
                <a:sym typeface="Century Gothic"/>
              </a:rPr>
              <a:t>It turns out that the invoice issued price does affect to churns, but </a:t>
            </a:r>
            <a:r>
              <a:rPr lang="en-US" sz="1800" b="1" dirty="0">
                <a:solidFill>
                  <a:schemeClr val="dk1"/>
                </a:solidFill>
                <a:latin typeface="Century Gothic"/>
                <a:ea typeface="Century Gothic"/>
                <a:cs typeface="Century Gothic"/>
                <a:sym typeface="Century Gothic"/>
              </a:rPr>
              <a:t>not enough strong</a:t>
            </a:r>
            <a:r>
              <a:rPr lang="en-US" sz="1800" dirty="0">
                <a:solidFill>
                  <a:schemeClr val="dk1"/>
                </a:solidFill>
                <a:latin typeface="Century Gothic"/>
                <a:ea typeface="Century Gothic"/>
                <a:cs typeface="Century Gothic"/>
                <a:sym typeface="Century Gothic"/>
              </a:rPr>
              <a:t> because the Coefficient determination of average invoice is not too strong (based on logistic analysis) and </a:t>
            </a:r>
            <a:r>
              <a:rPr lang="en-US" sz="1800" b="1" dirty="0">
                <a:solidFill>
                  <a:schemeClr val="dk1"/>
                </a:solidFill>
                <a:latin typeface="Century Gothic"/>
                <a:ea typeface="Century Gothic"/>
                <a:cs typeface="Century Gothic"/>
                <a:sym typeface="Century Gothic"/>
              </a:rPr>
              <a:t>the prices difference only 10%</a:t>
            </a:r>
            <a:r>
              <a:rPr lang="en-US" sz="1800" dirty="0">
                <a:solidFill>
                  <a:schemeClr val="dk1"/>
                </a:solidFill>
                <a:latin typeface="Century Gothic"/>
                <a:ea typeface="Century Gothic"/>
                <a:cs typeface="Century Gothic"/>
                <a:sym typeface="Century Gothic"/>
              </a:rPr>
              <a:t> based on (advanced analysis)</a:t>
            </a:r>
            <a:endParaRPr dirty="0"/>
          </a:p>
          <a:p>
            <a:pPr marL="342900" marR="0" lvl="0" indent="-342900" algn="l" rtl="0">
              <a:spcBef>
                <a:spcPts val="0"/>
              </a:spcBef>
              <a:spcAft>
                <a:spcPts val="0"/>
              </a:spcAft>
              <a:buClr>
                <a:schemeClr val="dk1"/>
              </a:buClr>
              <a:buSzPts val="1800"/>
              <a:buFont typeface="Century Gothic"/>
              <a:buAutoNum type="arabicPeriod"/>
            </a:pPr>
            <a:r>
              <a:rPr lang="en-US" sz="1800" dirty="0">
                <a:solidFill>
                  <a:schemeClr val="dk1"/>
                </a:solidFill>
                <a:latin typeface="Century Gothic"/>
                <a:ea typeface="Century Gothic"/>
                <a:cs typeface="Century Gothic"/>
                <a:sym typeface="Century Gothic"/>
              </a:rPr>
              <a:t>Based on logistic analysis on data transactions, it turns out tenure hours does affect to the churns characteristics as to why </a:t>
            </a:r>
            <a:r>
              <a:rPr lang="en-US" sz="1800" b="1" dirty="0">
                <a:solidFill>
                  <a:schemeClr val="dk1"/>
                </a:solidFill>
                <a:latin typeface="Century Gothic"/>
                <a:ea typeface="Century Gothic"/>
                <a:cs typeface="Century Gothic"/>
                <a:sym typeface="Century Gothic"/>
              </a:rPr>
              <a:t>increasing interactive program</a:t>
            </a:r>
            <a:r>
              <a:rPr lang="en-US" sz="1800" dirty="0">
                <a:solidFill>
                  <a:schemeClr val="dk1"/>
                </a:solidFill>
                <a:latin typeface="Century Gothic"/>
                <a:ea typeface="Century Gothic"/>
                <a:cs typeface="Century Gothic"/>
                <a:sym typeface="Century Gothic"/>
              </a:rPr>
              <a:t> is important in order to make customer actively used Traveloka apps</a:t>
            </a:r>
            <a:endParaRPr sz="1800" dirty="0">
              <a:solidFill>
                <a:schemeClr val="dk1"/>
              </a:solidFill>
              <a:latin typeface="Century Gothic"/>
              <a:ea typeface="Century Gothic"/>
              <a:cs typeface="Century Gothic"/>
              <a:sym typeface="Century Gothic"/>
            </a:endParaRPr>
          </a:p>
          <a:p>
            <a:pPr marL="342900" marR="0" lvl="0" indent="-342900" algn="l" rtl="0">
              <a:spcBef>
                <a:spcPts val="0"/>
              </a:spcBef>
              <a:spcAft>
                <a:spcPts val="0"/>
              </a:spcAft>
              <a:buClr>
                <a:schemeClr val="dk1"/>
              </a:buClr>
              <a:buSzPts val="1800"/>
              <a:buFont typeface="Century Gothic"/>
              <a:buAutoNum type="arabicPeriod"/>
            </a:pPr>
            <a:r>
              <a:rPr lang="en-US" sz="1800" b="1" dirty="0">
                <a:solidFill>
                  <a:schemeClr val="dk1"/>
                </a:solidFill>
                <a:latin typeface="Century Gothic"/>
                <a:ea typeface="Century Gothic"/>
                <a:cs typeface="Century Gothic"/>
                <a:sym typeface="Century Gothic"/>
              </a:rPr>
              <a:t>Define Loyalty Index / Score</a:t>
            </a:r>
            <a:r>
              <a:rPr lang="en-US" sz="1800" dirty="0">
                <a:solidFill>
                  <a:schemeClr val="dk1"/>
                </a:solidFill>
                <a:latin typeface="Century Gothic"/>
                <a:ea typeface="Century Gothic"/>
                <a:cs typeface="Century Gothic"/>
                <a:sym typeface="Century Gothic"/>
              </a:rPr>
              <a:t> with consideration </a:t>
            </a:r>
            <a:r>
              <a:rPr lang="en-US" sz="1800" b="1" dirty="0">
                <a:solidFill>
                  <a:schemeClr val="dk1"/>
                </a:solidFill>
                <a:latin typeface="Century Gothic"/>
                <a:ea typeface="Century Gothic"/>
                <a:cs typeface="Century Gothic"/>
                <a:sym typeface="Century Gothic"/>
              </a:rPr>
              <a:t>RFM Standpoint</a:t>
            </a:r>
            <a:r>
              <a:rPr lang="en-US" sz="1800" dirty="0">
                <a:solidFill>
                  <a:schemeClr val="dk1"/>
                </a:solidFill>
                <a:latin typeface="Century Gothic"/>
                <a:ea typeface="Century Gothic"/>
                <a:cs typeface="Century Gothic"/>
                <a:sym typeface="Century Gothic"/>
              </a:rPr>
              <a:t>, </a:t>
            </a:r>
            <a:r>
              <a:rPr lang="en-US" sz="1800" b="1" dirty="0">
                <a:solidFill>
                  <a:schemeClr val="dk1"/>
                </a:solidFill>
                <a:latin typeface="Century Gothic"/>
                <a:ea typeface="Century Gothic"/>
                <a:cs typeface="Century Gothic"/>
                <a:sym typeface="Century Gothic"/>
              </a:rPr>
              <a:t>UX Journeys</a:t>
            </a:r>
            <a:r>
              <a:rPr lang="en-US" sz="1800" dirty="0">
                <a:solidFill>
                  <a:schemeClr val="dk1"/>
                </a:solidFill>
                <a:latin typeface="Century Gothic"/>
                <a:ea typeface="Century Gothic"/>
                <a:cs typeface="Century Gothic"/>
                <a:sym typeface="Century Gothic"/>
              </a:rPr>
              <a:t>, </a:t>
            </a:r>
            <a:r>
              <a:rPr lang="en-US" sz="1800" b="1" dirty="0">
                <a:solidFill>
                  <a:schemeClr val="dk1"/>
                </a:solidFill>
                <a:latin typeface="Century Gothic"/>
                <a:ea typeface="Century Gothic"/>
                <a:cs typeface="Century Gothic"/>
                <a:sym typeface="Century Gothic"/>
              </a:rPr>
              <a:t>Income Capacity</a:t>
            </a:r>
            <a:r>
              <a:rPr lang="en-US" sz="1800" dirty="0">
                <a:solidFill>
                  <a:schemeClr val="dk1"/>
                </a:solidFill>
                <a:latin typeface="Century Gothic"/>
                <a:ea typeface="Century Gothic"/>
                <a:cs typeface="Century Gothic"/>
                <a:sym typeface="Century Gothic"/>
              </a:rPr>
              <a:t>, and </a:t>
            </a:r>
            <a:r>
              <a:rPr lang="en-US" sz="1800" b="1" dirty="0">
                <a:solidFill>
                  <a:schemeClr val="dk1"/>
                </a:solidFill>
                <a:latin typeface="Century Gothic"/>
                <a:ea typeface="Century Gothic"/>
                <a:cs typeface="Century Gothic"/>
                <a:sym typeface="Century Gothic"/>
              </a:rPr>
              <a:t>Customer Awareness Index</a:t>
            </a:r>
            <a:r>
              <a:rPr lang="en-US" sz="1800" dirty="0">
                <a:solidFill>
                  <a:schemeClr val="dk1"/>
                </a:solidFill>
                <a:latin typeface="Century Gothic"/>
                <a:ea typeface="Century Gothic"/>
                <a:cs typeface="Century Gothic"/>
                <a:sym typeface="Century Gothic"/>
              </a:rPr>
              <a:t>.</a:t>
            </a:r>
            <a:endParaRPr sz="1800" dirty="0">
              <a:solidFill>
                <a:schemeClr val="dk1"/>
              </a:solidFill>
              <a:latin typeface="Century Gothic"/>
              <a:ea typeface="Century Gothic"/>
              <a:cs typeface="Century Gothic"/>
              <a:sym typeface="Century Gothic"/>
            </a:endParaRPr>
          </a:p>
          <a:p>
            <a:pPr marL="342900" marR="0" lvl="0" indent="-342900" algn="l" rtl="0">
              <a:spcBef>
                <a:spcPts val="0"/>
              </a:spcBef>
              <a:spcAft>
                <a:spcPts val="0"/>
              </a:spcAft>
              <a:buClr>
                <a:schemeClr val="dk1"/>
              </a:buClr>
              <a:buSzPts val="1800"/>
              <a:buFont typeface="Century Gothic"/>
              <a:buAutoNum type="arabicPeriod"/>
            </a:pPr>
            <a:r>
              <a:rPr lang="en-US" sz="1800" dirty="0" err="1">
                <a:solidFill>
                  <a:schemeClr val="dk1"/>
                </a:solidFill>
                <a:latin typeface="Century Gothic"/>
                <a:ea typeface="Century Gothic"/>
                <a:cs typeface="Century Gothic"/>
                <a:sym typeface="Century Gothic"/>
              </a:rPr>
              <a:t>Analysing</a:t>
            </a:r>
            <a:r>
              <a:rPr lang="en-US" sz="1800" dirty="0">
                <a:solidFill>
                  <a:schemeClr val="dk1"/>
                </a:solidFill>
                <a:latin typeface="Century Gothic"/>
                <a:ea typeface="Century Gothic"/>
                <a:cs typeface="Century Gothic"/>
                <a:sym typeface="Century Gothic"/>
              </a:rPr>
              <a:t> most drop conversion funnel before churn, set many callbacks procedures like Promo or One-Pay click, and monitor relevant metrics on that funnel </a:t>
            </a:r>
            <a:r>
              <a:rPr lang="en-US" sz="1800" b="1" dirty="0">
                <a:solidFill>
                  <a:schemeClr val="dk1"/>
                </a:solidFill>
                <a:latin typeface="Century Gothic"/>
                <a:ea typeface="Century Gothic"/>
                <a:cs typeface="Century Gothic"/>
                <a:sym typeface="Century Gothic"/>
              </a:rPr>
              <a:t>(Conversion, Retention Point, </a:t>
            </a:r>
            <a:r>
              <a:rPr lang="en-US" sz="1800" b="1" dirty="0" err="1">
                <a:solidFill>
                  <a:schemeClr val="dk1"/>
                </a:solidFill>
                <a:latin typeface="Century Gothic"/>
                <a:ea typeface="Century Gothic"/>
                <a:cs typeface="Century Gothic"/>
                <a:sym typeface="Century Gothic"/>
              </a:rPr>
              <a:t>LeftOff</a:t>
            </a:r>
            <a:r>
              <a:rPr lang="en-US" sz="1800" b="1" dirty="0">
                <a:solidFill>
                  <a:schemeClr val="dk1"/>
                </a:solidFill>
                <a:latin typeface="Century Gothic"/>
                <a:ea typeface="Century Gothic"/>
                <a:cs typeface="Century Gothic"/>
                <a:sym typeface="Century Gothic"/>
              </a:rPr>
              <a:t> and Churn Per Cohort)</a:t>
            </a:r>
            <a:endParaRPr sz="1800" b="1" dirty="0">
              <a:solidFill>
                <a:schemeClr val="dk1"/>
              </a:solidFill>
              <a:latin typeface="Century Gothic"/>
              <a:ea typeface="Century Gothic"/>
              <a:cs typeface="Century Gothic"/>
              <a:sym typeface="Century Gothic"/>
            </a:endParaRPr>
          </a:p>
          <a:p>
            <a:pPr marL="342900" marR="0" lvl="0" indent="-342900" algn="l" rtl="0">
              <a:spcBef>
                <a:spcPts val="0"/>
              </a:spcBef>
              <a:spcAft>
                <a:spcPts val="0"/>
              </a:spcAft>
              <a:buClr>
                <a:schemeClr val="dk1"/>
              </a:buClr>
              <a:buSzPts val="1800"/>
              <a:buFont typeface="Century Gothic"/>
              <a:buAutoNum type="arabicPeriod"/>
            </a:pPr>
            <a:r>
              <a:rPr lang="en-US" sz="1800" b="1" dirty="0">
                <a:solidFill>
                  <a:schemeClr val="dk1"/>
                </a:solidFill>
                <a:latin typeface="Century Gothic"/>
                <a:ea typeface="Century Gothic"/>
                <a:cs typeface="Century Gothic"/>
                <a:sym typeface="Century Gothic"/>
              </a:rPr>
              <a:t>Re-</a:t>
            </a:r>
            <a:r>
              <a:rPr lang="en-US" sz="1800" b="1" dirty="0" err="1">
                <a:solidFill>
                  <a:schemeClr val="dk1"/>
                </a:solidFill>
                <a:latin typeface="Century Gothic"/>
                <a:ea typeface="Century Gothic"/>
                <a:cs typeface="Century Gothic"/>
                <a:sym typeface="Century Gothic"/>
              </a:rPr>
              <a:t>targerting</a:t>
            </a:r>
            <a:r>
              <a:rPr lang="en-US" sz="1800" b="1" dirty="0">
                <a:solidFill>
                  <a:schemeClr val="dk1"/>
                </a:solidFill>
                <a:latin typeface="Century Gothic"/>
                <a:ea typeface="Century Gothic"/>
                <a:cs typeface="Century Gothic"/>
                <a:sym typeface="Century Gothic"/>
              </a:rPr>
              <a:t> promo</a:t>
            </a:r>
            <a:r>
              <a:rPr lang="en-US" sz="1800" dirty="0">
                <a:solidFill>
                  <a:schemeClr val="dk1"/>
                </a:solidFill>
                <a:latin typeface="Century Gothic"/>
                <a:ea typeface="Century Gothic"/>
                <a:cs typeface="Century Gothic"/>
                <a:sym typeface="Century Gothic"/>
              </a:rPr>
              <a:t> based on </a:t>
            </a:r>
            <a:r>
              <a:rPr lang="en-US" sz="1800" dirty="0" err="1">
                <a:solidFill>
                  <a:schemeClr val="dk1"/>
                </a:solidFill>
                <a:latin typeface="Century Gothic"/>
                <a:ea typeface="Century Gothic"/>
                <a:cs typeface="Century Gothic"/>
                <a:sym typeface="Century Gothic"/>
              </a:rPr>
              <a:t>probabilitly</a:t>
            </a:r>
            <a:r>
              <a:rPr lang="en-US" sz="1800" dirty="0">
                <a:solidFill>
                  <a:schemeClr val="dk1"/>
                </a:solidFill>
                <a:latin typeface="Century Gothic"/>
                <a:ea typeface="Century Gothic"/>
                <a:cs typeface="Century Gothic"/>
                <a:sym typeface="Century Gothic"/>
              </a:rPr>
              <a:t> model above 0.4</a:t>
            </a:r>
            <a:endParaRPr sz="1800" dirty="0">
              <a:solidFill>
                <a:schemeClr val="dk1"/>
              </a:solidFill>
              <a:latin typeface="Century Gothic"/>
              <a:ea typeface="Century Gothic"/>
              <a:cs typeface="Century Gothic"/>
              <a:sym typeface="Century Gothic"/>
            </a:endParaRPr>
          </a:p>
        </p:txBody>
      </p:sp>
      <p:pic>
        <p:nvPicPr>
          <p:cNvPr id="1357" name="Google Shape;1357;p38"/>
          <p:cNvPicPr preferRelativeResize="0"/>
          <p:nvPr/>
        </p:nvPicPr>
        <p:blipFill>
          <a:blip r:embed="rId3">
            <a:alphaModFix/>
          </a:blip>
          <a:stretch>
            <a:fillRect/>
          </a:stretch>
        </p:blipFill>
        <p:spPr>
          <a:xfrm>
            <a:off x="7797725" y="3659396"/>
            <a:ext cx="3756250" cy="2927674"/>
          </a:xfrm>
          <a:prstGeom prst="rect">
            <a:avLst/>
          </a:prstGeom>
          <a:noFill/>
          <a:ln>
            <a:noFill/>
          </a:ln>
        </p:spPr>
      </p:pic>
    </p:spTree>
  </p:cSld>
  <p:clrMapOvr>
    <a:masterClrMapping/>
  </p:clrMapOvr>
  <p:transition spd="slow">
    <p:push/>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62"/>
        <p:cNvGrpSpPr/>
        <p:nvPr/>
      </p:nvGrpSpPr>
      <p:grpSpPr>
        <a:xfrm>
          <a:off x="0" y="0"/>
          <a:ext cx="0" cy="0"/>
          <a:chOff x="0" y="0"/>
          <a:chExt cx="0" cy="0"/>
        </a:xfrm>
      </p:grpSpPr>
      <p:sp>
        <p:nvSpPr>
          <p:cNvPr id="1363" name="Google Shape;1363;p39"/>
          <p:cNvSpPr txBox="1"/>
          <p:nvPr/>
        </p:nvSpPr>
        <p:spPr>
          <a:xfrm>
            <a:off x="175325" y="233538"/>
            <a:ext cx="9710140" cy="307777"/>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Product Level Recommendations</a:t>
            </a:r>
            <a:endParaRPr sz="2000" b="1" i="0" u="none" strike="noStrike" cap="none" dirty="0">
              <a:solidFill>
                <a:srgbClr val="FF0000"/>
              </a:solidFill>
              <a:latin typeface="Century Gothic"/>
              <a:ea typeface="Century Gothic"/>
              <a:cs typeface="Century Gothic"/>
              <a:sym typeface="Century Gothic"/>
            </a:endParaRPr>
          </a:p>
        </p:txBody>
      </p:sp>
      <p:pic>
        <p:nvPicPr>
          <p:cNvPr id="1364" name="Google Shape;1364;p39"/>
          <p:cNvPicPr preferRelativeResize="0"/>
          <p:nvPr/>
        </p:nvPicPr>
        <p:blipFill rotWithShape="1">
          <a:blip r:embed="rId3">
            <a:alphaModFix/>
          </a:blip>
          <a:srcRect/>
          <a:stretch/>
        </p:blipFill>
        <p:spPr>
          <a:xfrm>
            <a:off x="461963" y="2193130"/>
            <a:ext cx="3949172" cy="4338637"/>
          </a:xfrm>
          <a:prstGeom prst="rect">
            <a:avLst/>
          </a:prstGeom>
          <a:noFill/>
          <a:ln>
            <a:noFill/>
          </a:ln>
        </p:spPr>
      </p:pic>
      <p:sp>
        <p:nvSpPr>
          <p:cNvPr id="1365" name="Google Shape;1365;p39"/>
          <p:cNvSpPr txBox="1"/>
          <p:nvPr/>
        </p:nvSpPr>
        <p:spPr>
          <a:xfrm>
            <a:off x="338139" y="724851"/>
            <a:ext cx="4605337" cy="1384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00000"/>
                </a:solidFill>
                <a:latin typeface="Century Gothic"/>
                <a:ea typeface="Century Gothic"/>
                <a:cs typeface="Century Gothic"/>
                <a:sym typeface="Century Gothic"/>
              </a:rPr>
              <a:t>Based on Paper </a:t>
            </a:r>
            <a:r>
              <a:rPr lang="en-US" sz="1200" b="1">
                <a:solidFill>
                  <a:srgbClr val="000000"/>
                </a:solidFill>
                <a:latin typeface="Century Gothic"/>
                <a:ea typeface="Century Gothic"/>
                <a:cs typeface="Century Gothic"/>
                <a:sym typeface="Century Gothic"/>
              </a:rPr>
              <a:t>‘’Tourism Management 32 (2011) 1463-1473’’</a:t>
            </a:r>
            <a:r>
              <a:rPr lang="en-US" sz="1200">
                <a:solidFill>
                  <a:srgbClr val="000000"/>
                </a:solidFill>
                <a:latin typeface="Century Gothic"/>
                <a:ea typeface="Century Gothic"/>
                <a:cs typeface="Century Gothic"/>
                <a:sym typeface="Century Gothic"/>
              </a:rPr>
              <a:t> </a:t>
            </a:r>
            <a:r>
              <a:rPr lang="en-US" sz="1200" b="1">
                <a:solidFill>
                  <a:srgbClr val="000000"/>
                </a:solidFill>
                <a:latin typeface="Century Gothic"/>
                <a:ea typeface="Century Gothic"/>
                <a:cs typeface="Century Gothic"/>
                <a:sym typeface="Century Gothic"/>
              </a:rPr>
              <a:t>for increasing loyalty customer at online travel agency, instead of giving promo, Customized offering</a:t>
            </a:r>
            <a:r>
              <a:rPr lang="en-US" sz="1200">
                <a:solidFill>
                  <a:srgbClr val="000000"/>
                </a:solidFill>
                <a:latin typeface="Century Gothic"/>
                <a:ea typeface="Century Gothic"/>
                <a:cs typeface="Century Gothic"/>
                <a:sym typeface="Century Gothic"/>
              </a:rPr>
              <a:t> are more effective to increase loyal customer, it can be proven by the research, customized offering (0.91) has more powerful than promotion campaign (0.77) and product quality (0.77)</a:t>
            </a:r>
            <a:endParaRPr/>
          </a:p>
        </p:txBody>
      </p:sp>
      <p:pic>
        <p:nvPicPr>
          <p:cNvPr id="1366" name="Google Shape;1366;p39"/>
          <p:cNvPicPr preferRelativeResize="0"/>
          <p:nvPr/>
        </p:nvPicPr>
        <p:blipFill rotWithShape="1">
          <a:blip r:embed="rId4">
            <a:alphaModFix/>
          </a:blip>
          <a:srcRect/>
          <a:stretch/>
        </p:blipFill>
        <p:spPr>
          <a:xfrm>
            <a:off x="4998245" y="2206469"/>
            <a:ext cx="3609975" cy="3933825"/>
          </a:xfrm>
          <a:prstGeom prst="rect">
            <a:avLst/>
          </a:prstGeom>
          <a:noFill/>
          <a:ln>
            <a:noFill/>
          </a:ln>
        </p:spPr>
      </p:pic>
      <p:pic>
        <p:nvPicPr>
          <p:cNvPr id="1367" name="Google Shape;1367;p39"/>
          <p:cNvPicPr preferRelativeResize="0"/>
          <p:nvPr/>
        </p:nvPicPr>
        <p:blipFill rotWithShape="1">
          <a:blip r:embed="rId5">
            <a:alphaModFix/>
          </a:blip>
          <a:srcRect/>
          <a:stretch/>
        </p:blipFill>
        <p:spPr>
          <a:xfrm>
            <a:off x="8662988" y="2407442"/>
            <a:ext cx="3390900" cy="3209925"/>
          </a:xfrm>
          <a:prstGeom prst="rect">
            <a:avLst/>
          </a:prstGeom>
          <a:noFill/>
          <a:ln>
            <a:noFill/>
          </a:ln>
        </p:spPr>
      </p:pic>
      <p:sp>
        <p:nvSpPr>
          <p:cNvPr id="1368" name="Google Shape;1368;p39"/>
          <p:cNvSpPr txBox="1"/>
          <p:nvPr/>
        </p:nvSpPr>
        <p:spPr>
          <a:xfrm>
            <a:off x="5135036" y="1001849"/>
            <a:ext cx="671882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00000"/>
                </a:solidFill>
                <a:latin typeface="Century Gothic"/>
                <a:ea typeface="Century Gothic"/>
                <a:cs typeface="Century Gothic"/>
                <a:sym typeface="Century Gothic"/>
              </a:rPr>
              <a:t>Based on Paper </a:t>
            </a:r>
            <a:r>
              <a:rPr lang="en-US" sz="1200" b="1">
                <a:solidFill>
                  <a:srgbClr val="000000"/>
                </a:solidFill>
                <a:latin typeface="Century Gothic"/>
                <a:ea typeface="Century Gothic"/>
                <a:cs typeface="Century Gothic"/>
                <a:sym typeface="Century Gothic"/>
              </a:rPr>
              <a:t>‘’Advances Intelligence Systems Research, volume 131 ’’ </a:t>
            </a:r>
            <a:r>
              <a:rPr lang="en-US" sz="1200">
                <a:solidFill>
                  <a:srgbClr val="000000"/>
                </a:solidFill>
                <a:latin typeface="Century Gothic"/>
                <a:ea typeface="Century Gothic"/>
                <a:cs typeface="Century Gothic"/>
                <a:sym typeface="Century Gothic"/>
              </a:rPr>
              <a:t>Characteristics Indonesia users to the Online travel agency apps that shows the most customer who made transactions in online travel agency is only </a:t>
            </a:r>
            <a:r>
              <a:rPr lang="en-US" sz="1200" b="1">
                <a:solidFill>
                  <a:srgbClr val="000000"/>
                </a:solidFill>
                <a:latin typeface="Century Gothic"/>
                <a:ea typeface="Century Gothic"/>
                <a:cs typeface="Century Gothic"/>
                <a:sym typeface="Century Gothic"/>
              </a:rPr>
              <a:t>for Holidays, followed by twice a month, and once every 3 months These conditions are same with our data transactions</a:t>
            </a:r>
            <a:r>
              <a:rPr lang="en-US" sz="1200">
                <a:solidFill>
                  <a:srgbClr val="000000"/>
                </a:solidFill>
                <a:latin typeface="Century Gothic"/>
                <a:ea typeface="Century Gothic"/>
                <a:cs typeface="Century Gothic"/>
                <a:sym typeface="Century Gothic"/>
              </a:rPr>
              <a:t>.</a:t>
            </a:r>
            <a:endParaRPr/>
          </a:p>
        </p:txBody>
      </p:sp>
      <p:cxnSp>
        <p:nvCxnSpPr>
          <p:cNvPr id="1369" name="Google Shape;1369;p39"/>
          <p:cNvCxnSpPr/>
          <p:nvPr/>
        </p:nvCxnSpPr>
        <p:spPr>
          <a:xfrm>
            <a:off x="4943476" y="599466"/>
            <a:ext cx="0" cy="5932301"/>
          </a:xfrm>
          <a:prstGeom prst="straightConnector1">
            <a:avLst/>
          </a:prstGeom>
          <a:noFill/>
          <a:ln w="9525" cap="flat" cmpd="sng">
            <a:solidFill>
              <a:schemeClr val="dk1"/>
            </a:solidFill>
            <a:prstDash val="dash"/>
            <a:round/>
            <a:headEnd type="none" w="sm" len="sm"/>
            <a:tailEnd type="none" w="sm" len="sm"/>
          </a:ln>
        </p:spPr>
      </p:cxnSp>
      <p:sp>
        <p:nvSpPr>
          <p:cNvPr id="1370" name="Google Shape;1370;p39"/>
          <p:cNvSpPr/>
          <p:nvPr/>
        </p:nvSpPr>
        <p:spPr>
          <a:xfrm>
            <a:off x="9336024" y="3319272"/>
            <a:ext cx="1545336" cy="1234440"/>
          </a:xfrm>
          <a:prstGeom prst="ellipse">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Oval 1">
            <a:extLst>
              <a:ext uri="{FF2B5EF4-FFF2-40B4-BE49-F238E27FC236}">
                <a16:creationId xmlns:a16="http://schemas.microsoft.com/office/drawing/2014/main" id="{960E5ED2-065B-4829-91CA-2EA82BC33A8E}"/>
              </a:ext>
            </a:extLst>
          </p:cNvPr>
          <p:cNvSpPr/>
          <p:nvPr/>
        </p:nvSpPr>
        <p:spPr>
          <a:xfrm>
            <a:off x="1200647" y="2620159"/>
            <a:ext cx="2973788" cy="54068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cSld>
  <p:clrMapOvr>
    <a:masterClrMapping/>
  </p:clrMapOvr>
  <p:transition spd="slow">
    <p:push/>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75"/>
        <p:cNvGrpSpPr/>
        <p:nvPr/>
      </p:nvGrpSpPr>
      <p:grpSpPr>
        <a:xfrm>
          <a:off x="0" y="0"/>
          <a:ext cx="0" cy="0"/>
          <a:chOff x="0" y="0"/>
          <a:chExt cx="0" cy="0"/>
        </a:xfrm>
      </p:grpSpPr>
      <p:sp>
        <p:nvSpPr>
          <p:cNvPr id="1376" name="Google Shape;1376;gc9aba26680_2_8"/>
          <p:cNvSpPr txBox="1"/>
          <p:nvPr/>
        </p:nvSpPr>
        <p:spPr>
          <a:xfrm>
            <a:off x="175325" y="233538"/>
            <a:ext cx="9710100" cy="307800"/>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B0F0"/>
              </a:buClr>
              <a:buSzPts val="2000"/>
              <a:buFont typeface="Century Gothic"/>
              <a:buNone/>
            </a:pPr>
            <a:r>
              <a:rPr lang="en-US" sz="2000" b="1" dirty="0">
                <a:solidFill>
                  <a:srgbClr val="FF0000"/>
                </a:solidFill>
                <a:latin typeface="Century Gothic"/>
                <a:ea typeface="Century Gothic"/>
                <a:cs typeface="Century Gothic"/>
                <a:sym typeface="Century Gothic"/>
              </a:rPr>
              <a:t>Product Level Recommendations - Glossaries</a:t>
            </a:r>
            <a:endParaRPr sz="2000" b="1" i="0" u="none" strike="noStrike" cap="none" dirty="0">
              <a:solidFill>
                <a:srgbClr val="FF0000"/>
              </a:solidFill>
              <a:latin typeface="Century Gothic"/>
              <a:ea typeface="Century Gothic"/>
              <a:cs typeface="Century Gothic"/>
              <a:sym typeface="Century Gothic"/>
            </a:endParaRPr>
          </a:p>
        </p:txBody>
      </p:sp>
      <p:sp>
        <p:nvSpPr>
          <p:cNvPr id="1377" name="Google Shape;1377;gc9aba26680_2_8"/>
          <p:cNvSpPr txBox="1"/>
          <p:nvPr/>
        </p:nvSpPr>
        <p:spPr>
          <a:xfrm>
            <a:off x="338139" y="724851"/>
            <a:ext cx="4605300" cy="12351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1100">
                <a:solidFill>
                  <a:schemeClr val="dk1"/>
                </a:solidFill>
                <a:latin typeface="Verdana"/>
                <a:ea typeface="Verdana"/>
                <a:cs typeface="Verdana"/>
                <a:sym typeface="Verdana"/>
              </a:rPr>
              <a:t>Phima Ruthia Dwikesumasari. Rizka Miladiah Ervianty. </a:t>
            </a:r>
            <a:r>
              <a:rPr lang="en-US" sz="1100" b="1">
                <a:solidFill>
                  <a:schemeClr val="dk1"/>
                </a:solidFill>
                <a:latin typeface="Verdana"/>
                <a:ea typeface="Verdana"/>
                <a:cs typeface="Verdana"/>
                <a:sym typeface="Verdana"/>
              </a:rPr>
              <a:t>Customer Loyalty Analysis of Online Travel Agency App with Customer Satisfaction As A Mediation Variable.</a:t>
            </a:r>
            <a:r>
              <a:rPr lang="en-US" sz="1100">
                <a:solidFill>
                  <a:schemeClr val="dk1"/>
                </a:solidFill>
                <a:latin typeface="Verdana"/>
                <a:ea typeface="Verdana"/>
                <a:cs typeface="Verdana"/>
                <a:sym typeface="Verdana"/>
              </a:rPr>
              <a:t> Advances in Intelligent Systems Research, volume 131. International Conference of Organizational Innovation (ICOI 2017). January 2017 DOI: </a:t>
            </a:r>
            <a:r>
              <a:rPr lang="en-US" sz="1100" u="sng">
                <a:solidFill>
                  <a:srgbClr val="1155CC"/>
                </a:solidFill>
                <a:latin typeface="Verdana"/>
                <a:ea typeface="Verdana"/>
                <a:cs typeface="Verdana"/>
                <a:sym typeface="Verdana"/>
                <a:hlinkClick r:id="rId3">
                  <a:extLst>
                    <a:ext uri="{A12FA001-AC4F-418D-AE19-62706E023703}">
                      <ahyp:hlinkClr xmlns:ahyp="http://schemas.microsoft.com/office/drawing/2018/hyperlinkcolor" val="tx"/>
                    </a:ext>
                  </a:extLst>
                </a:hlinkClick>
              </a:rPr>
              <a:t>10.2991/icoi-17.2017.18</a:t>
            </a:r>
            <a:endParaRPr sz="1100">
              <a:latin typeface="Verdana"/>
              <a:ea typeface="Verdana"/>
              <a:cs typeface="Verdana"/>
              <a:sym typeface="Verdana"/>
            </a:endParaRPr>
          </a:p>
        </p:txBody>
      </p:sp>
      <p:cxnSp>
        <p:nvCxnSpPr>
          <p:cNvPr id="1378" name="Google Shape;1378;gc9aba26680_2_8"/>
          <p:cNvCxnSpPr/>
          <p:nvPr/>
        </p:nvCxnSpPr>
        <p:spPr>
          <a:xfrm>
            <a:off x="4943476" y="599466"/>
            <a:ext cx="0" cy="5932200"/>
          </a:xfrm>
          <a:prstGeom prst="straightConnector1">
            <a:avLst/>
          </a:prstGeom>
          <a:noFill/>
          <a:ln w="9525" cap="flat" cmpd="sng">
            <a:solidFill>
              <a:schemeClr val="dk1"/>
            </a:solidFill>
            <a:prstDash val="dash"/>
            <a:round/>
            <a:headEnd type="none" w="sm" len="sm"/>
            <a:tailEnd type="none" w="sm" len="sm"/>
          </a:ln>
        </p:spPr>
      </p:cxnSp>
      <p:sp>
        <p:nvSpPr>
          <p:cNvPr id="1379" name="Google Shape;1379;gc9aba26680_2_8"/>
          <p:cNvSpPr txBox="1"/>
          <p:nvPr/>
        </p:nvSpPr>
        <p:spPr>
          <a:xfrm>
            <a:off x="338139" y="2293751"/>
            <a:ext cx="4605300" cy="19941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1100">
                <a:solidFill>
                  <a:schemeClr val="dk1"/>
                </a:solidFill>
                <a:latin typeface="Verdana"/>
                <a:ea typeface="Verdana"/>
                <a:cs typeface="Verdana"/>
                <a:sym typeface="Verdana"/>
              </a:rPr>
              <a:t>Chiou, W.-C., Lin, C.-C., &amp; Perng, C. (2011). </a:t>
            </a:r>
            <a:r>
              <a:rPr lang="en-US" sz="1100" b="1">
                <a:solidFill>
                  <a:schemeClr val="dk1"/>
                </a:solidFill>
                <a:latin typeface="Verdana"/>
                <a:ea typeface="Verdana"/>
                <a:cs typeface="Verdana"/>
                <a:sym typeface="Verdana"/>
              </a:rPr>
              <a:t>A strategic website evaluation of online travel agencies.</a:t>
            </a:r>
            <a:r>
              <a:rPr lang="en-US" sz="1100">
                <a:solidFill>
                  <a:schemeClr val="dk1"/>
                </a:solidFill>
                <a:latin typeface="Verdana"/>
                <a:ea typeface="Verdana"/>
                <a:cs typeface="Verdana"/>
                <a:sym typeface="Verdana"/>
              </a:rPr>
              <a:t> Tourism Management, 32(6), 1463–1473. doi:10.1016/j.tourman.2010.12.007 </a:t>
            </a:r>
            <a:endParaRPr sz="1100">
              <a:solidFill>
                <a:schemeClr val="dk1"/>
              </a:solidFill>
              <a:latin typeface="Verdana"/>
              <a:ea typeface="Verdana"/>
              <a:cs typeface="Verdana"/>
              <a:sym typeface="Verdana"/>
            </a:endParaRPr>
          </a:p>
          <a:p>
            <a:pPr marL="0" marR="0" lvl="0" indent="0" algn="l" rtl="0">
              <a:spcBef>
                <a:spcPts val="0"/>
              </a:spcBef>
              <a:spcAft>
                <a:spcPts val="0"/>
              </a:spcAft>
              <a:buNone/>
            </a:pPr>
            <a:endParaRPr sz="1200">
              <a:latin typeface="Verdana"/>
              <a:ea typeface="Verdana"/>
              <a:cs typeface="Verdana"/>
              <a:sym typeface="Verdana"/>
            </a:endParaRPr>
          </a:p>
          <a:p>
            <a:pPr marL="0" marR="0" lvl="0" indent="0" algn="l" rtl="0">
              <a:spcBef>
                <a:spcPts val="0"/>
              </a:spcBef>
              <a:spcAft>
                <a:spcPts val="0"/>
              </a:spcAft>
              <a:buNone/>
            </a:pPr>
            <a:endParaRPr sz="1200">
              <a:latin typeface="Verdana"/>
              <a:ea typeface="Verdana"/>
              <a:cs typeface="Verdana"/>
              <a:sym typeface="Verdana"/>
            </a:endParaRPr>
          </a:p>
          <a:p>
            <a:pPr marL="0" lvl="0" indent="0" algn="l" rtl="0">
              <a:lnSpc>
                <a:spcPct val="115000"/>
              </a:lnSpc>
              <a:spcBef>
                <a:spcPts val="0"/>
              </a:spcBef>
              <a:spcAft>
                <a:spcPts val="0"/>
              </a:spcAft>
              <a:buClr>
                <a:schemeClr val="dk1"/>
              </a:buClr>
              <a:buSzPts val="1100"/>
              <a:buFont typeface="Arial"/>
              <a:buNone/>
            </a:pPr>
            <a:r>
              <a:rPr lang="en-US" sz="1100">
                <a:solidFill>
                  <a:schemeClr val="dk1"/>
                </a:solidFill>
                <a:latin typeface="Verdana"/>
                <a:ea typeface="Verdana"/>
                <a:cs typeface="Verdana"/>
                <a:sym typeface="Verdana"/>
              </a:rPr>
              <a:t>De Wit, L.S. (2017). </a:t>
            </a:r>
            <a:r>
              <a:rPr lang="en-US" sz="1100" b="1">
                <a:solidFill>
                  <a:schemeClr val="dk1"/>
                </a:solidFill>
                <a:latin typeface="Verdana"/>
                <a:ea typeface="Verdana"/>
                <a:cs typeface="Verdana"/>
                <a:sym typeface="Verdana"/>
              </a:rPr>
              <a:t>An Analysis of Non-Contractual Churn in the B2B Hotel Industry.</a:t>
            </a:r>
            <a:r>
              <a:rPr lang="en-US" sz="1100">
                <a:solidFill>
                  <a:schemeClr val="dk1"/>
                </a:solidFill>
                <a:latin typeface="Verdana"/>
                <a:ea typeface="Verdana"/>
                <a:cs typeface="Verdana"/>
                <a:sym typeface="Verdana"/>
              </a:rPr>
              <a:t> Master thesis: Data Science: Business and Governance 2017. ANR: 837191 U-Number: 1255441.</a:t>
            </a:r>
            <a:endParaRPr sz="1200">
              <a:latin typeface="Verdana"/>
              <a:ea typeface="Verdana"/>
              <a:cs typeface="Verdana"/>
              <a:sym typeface="Verdana"/>
            </a:endParaRPr>
          </a:p>
        </p:txBody>
      </p:sp>
    </p:spTree>
  </p:cSld>
  <p:clrMapOvr>
    <a:masterClrMapping/>
  </p:clrMapOvr>
  <p:transition spd="slow">
    <p:push/>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84"/>
        <p:cNvGrpSpPr/>
        <p:nvPr/>
      </p:nvGrpSpPr>
      <p:grpSpPr>
        <a:xfrm>
          <a:off x="0" y="0"/>
          <a:ext cx="0" cy="0"/>
          <a:chOff x="0" y="0"/>
          <a:chExt cx="0" cy="0"/>
        </a:xfrm>
      </p:grpSpPr>
      <p:pic>
        <p:nvPicPr>
          <p:cNvPr id="1385" name="Google Shape;1385;p40"/>
          <p:cNvPicPr preferRelativeResize="0"/>
          <p:nvPr/>
        </p:nvPicPr>
        <p:blipFill rotWithShape="1">
          <a:blip r:embed="rId3">
            <a:alphaModFix/>
          </a:blip>
          <a:srcRect/>
          <a:stretch/>
        </p:blipFill>
        <p:spPr>
          <a:xfrm>
            <a:off x="-1" y="-1"/>
            <a:ext cx="12192001" cy="6856549"/>
          </a:xfrm>
          <a:prstGeom prst="rect">
            <a:avLst/>
          </a:prstGeom>
          <a:noFill/>
          <a:ln>
            <a:noFill/>
          </a:ln>
        </p:spPr>
      </p:pic>
      <p:sp>
        <p:nvSpPr>
          <p:cNvPr id="1386" name="Google Shape;1386;p40"/>
          <p:cNvSpPr/>
          <p:nvPr/>
        </p:nvSpPr>
        <p:spPr>
          <a:xfrm>
            <a:off x="-2" y="0"/>
            <a:ext cx="5250427" cy="6856548"/>
          </a:xfrm>
          <a:prstGeom prst="rect">
            <a:avLst/>
          </a:prstGeom>
          <a:solidFill>
            <a:srgbClr val="0C0C0C">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387" name="Google Shape;1387;p40"/>
          <p:cNvSpPr txBox="1"/>
          <p:nvPr/>
        </p:nvSpPr>
        <p:spPr>
          <a:xfrm>
            <a:off x="438843" y="2018483"/>
            <a:ext cx="4811583" cy="25545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8000"/>
              <a:buFont typeface="Century Gothic"/>
              <a:buNone/>
            </a:pPr>
            <a:r>
              <a:rPr lang="en-US" sz="8000" b="1" i="0" u="none" strike="noStrike" cap="none">
                <a:solidFill>
                  <a:srgbClr val="FFFFFF"/>
                </a:solidFill>
                <a:latin typeface="Century Gothic"/>
                <a:ea typeface="Century Gothic"/>
                <a:cs typeface="Century Gothic"/>
                <a:sym typeface="Century Gothic"/>
              </a:rPr>
              <a:t>THANK YOU!</a:t>
            </a:r>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87"/>
                                        </p:tgtEl>
                                        <p:attrNameLst>
                                          <p:attrName>style.visibility</p:attrName>
                                        </p:attrNameLst>
                                      </p:cBhvr>
                                      <p:to>
                                        <p:strVal val="visible"/>
                                      </p:to>
                                    </p:set>
                                    <p:animEffect transition="in" filter="fade">
                                      <p:cBhvr>
                                        <p:cTn id="7" dur="750"/>
                                        <p:tgtEl>
                                          <p:spTgt spid="1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3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BizPlan - mlt 1 B">
      <a:dk1>
        <a:srgbClr val="000000"/>
      </a:dk1>
      <a:lt1>
        <a:srgbClr val="FFFFFF"/>
      </a:lt1>
      <a:dk2>
        <a:srgbClr val="7D8287"/>
      </a:dk2>
      <a:lt2>
        <a:srgbClr val="EBEEF0"/>
      </a:lt2>
      <a:accent1>
        <a:srgbClr val="5A004B"/>
      </a:accent1>
      <a:accent2>
        <a:srgbClr val="D71414"/>
      </a:accent2>
      <a:accent3>
        <a:srgbClr val="FFAF00"/>
      </a:accent3>
      <a:accent4>
        <a:srgbClr val="96B900"/>
      </a:accent4>
      <a:accent5>
        <a:srgbClr val="00A082"/>
      </a:accent5>
      <a:accent6>
        <a:srgbClr val="2891D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6168</TotalTime>
  <Words>4031</Words>
  <Application>Microsoft Office PowerPoint</Application>
  <PresentationFormat>Widescreen</PresentationFormat>
  <Paragraphs>739</Paragraphs>
  <Slides>37</Slides>
  <Notes>37</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37</vt:i4>
      </vt:variant>
    </vt:vector>
  </HeadingPairs>
  <TitlesOfParts>
    <vt:vector size="49" baseType="lpstr">
      <vt:lpstr>Maven Pro</vt:lpstr>
      <vt:lpstr>Calibri</vt:lpstr>
      <vt:lpstr>Montserrat Light</vt:lpstr>
      <vt:lpstr>Arial</vt:lpstr>
      <vt:lpstr>Noto Sans Symbols</vt:lpstr>
      <vt:lpstr>Century Gothic</vt:lpstr>
      <vt:lpstr>Verdana</vt:lpstr>
      <vt:lpstr>Quattrocento Sans</vt:lpstr>
      <vt:lpstr>3_Office Theme</vt:lpstr>
      <vt:lpstr>2_Office Theme</vt:lpstr>
      <vt:lpstr>Office Theme</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Logit Analysis - Sanity Check</vt:lpstr>
      <vt:lpstr>Churn model Coefficient Attributes</vt:lpstr>
      <vt:lpstr>Retention Class Modelling</vt:lpstr>
      <vt:lpstr>Retention Class Modelling</vt:lpstr>
      <vt:lpstr>Retention Class Modelling Metrics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Esis Ramadhan</cp:lastModifiedBy>
  <cp:revision>47</cp:revision>
  <dcterms:modified xsi:type="dcterms:W3CDTF">2022-03-08T08:26:20Z</dcterms:modified>
</cp:coreProperties>
</file>